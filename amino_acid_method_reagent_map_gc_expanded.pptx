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四条独立方法泳道替代多对多交叉连线。同一试剂可在多个方法行重复出现，对应关系只在本行内解读。仅列代表性体系，不表示所有试剂组合均已在蛋白质水解液中验证。GC补充四类：酯化/酰化组合、硅烷化、氯甲酸酯衍生化及手性衍生化。前三者按反应类型分类，后一项是功能分类，与前三者可能重叠，不是互斥的大类。BSTFA/MSTFA为一般氨基酸GC标记实例，不意味着任意手性GC柱均能拆分其D/L。非手性衍生物需适当手性固定相等识别；手性醇酯化需配合适当氨基保护并验证非对映异构体分离。氯甲酸酯体系也需醇、催化及其他具体条件，图中文字不是实验SOP。HPLC包括手性固定相路线与手性衍生化路线，非手性衍生化本身不使普通反相柱拆分D/L。CE中的标记试剂并不等同手性选择剂。HPLC-CD仅列附件有直接文献线索的PITC-PTH与NBD-F，不将候选AQC、OPA、常规PITC-PTC标成成熟CD方法。氨基酰化类合并FMOC-Cl和AQC，但两者分别生成氨基甲酸酯与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371600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2900" b="1">
                <a:solidFill>
                  <a:srgbClr val="172F49"/>
                </a:solidFill>
                <a:latin typeface="Noto Sans CJK SC"/>
              </a:defRPr>
            </a:pPr>
            <a:r>
              <a:t>氨基酸手性分析：分析方法与衍生化试剂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69848"/>
            <a:ext cx="34747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分析方法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1069848"/>
            <a:ext cx="950976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800" b="1">
                <a:solidFill>
                  <a:srgbClr val="617389"/>
                </a:solidFill>
                <a:latin typeface="Noto Sans CJK SC"/>
              </a:defRPr>
            </a:pPr>
            <a:r>
              <a:t>对应衍生化试剂（按反应大类归并）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45920"/>
            <a:ext cx="3182112" cy="1737360"/>
          </a:xfrm>
          <a:prstGeom prst="roundRect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211226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 / UHPLC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63347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高效液相色谱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76472" y="2514600"/>
            <a:ext cx="630936" cy="0"/>
          </a:xfrm>
          <a:prstGeom prst="line">
            <a:avLst/>
          </a:prstGeom>
          <a:ln w="38100">
            <a:solidFill>
              <a:srgbClr val="24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4283964" y="2482596"/>
            <a:ext cx="64008" cy="64008"/>
          </a:xfrm>
          <a:prstGeom prst="ellipse">
            <a:avLst/>
          </a:prstGeom>
          <a:solidFill>
            <a:srgbClr val="24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16552" y="1645920"/>
            <a:ext cx="9601200" cy="1737360"/>
          </a:xfrm>
          <a:prstGeom prst="roundRect">
            <a:avLst/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PITC · PITC–PTH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 · GITC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2006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7726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7726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 · DNFB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FDAA · FDLA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32012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12019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7739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7739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Dabsyl-Cl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92025" y="1792224"/>
            <a:ext cx="1761134" cy="144475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137745" y="192024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2474B5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37745" y="2450591"/>
            <a:ext cx="1669694" cy="777239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AQC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566160"/>
            <a:ext cx="3182112" cy="1645920"/>
          </a:xfrm>
          <a:prstGeom prst="roundRect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986783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GC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50799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气相色谱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389120"/>
            <a:ext cx="630936" cy="0"/>
          </a:xfrm>
          <a:prstGeom prst="line">
            <a:avLst/>
          </a:prstGeom>
          <a:ln w="38100">
            <a:solidFill>
              <a:srgbClr val="C1812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4283964" y="4357116"/>
            <a:ext cx="64008" cy="64008"/>
          </a:xfrm>
          <a:prstGeom prst="ellipse">
            <a:avLst/>
          </a:prstGeom>
          <a:solidFill>
            <a:srgbClr val="C181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416552" y="3566160"/>
            <a:ext cx="9601200" cy="1645920"/>
          </a:xfrm>
          <a:prstGeom prst="roundRect">
            <a:avLst/>
          </a:prstGeom>
          <a:solidFill>
            <a:srgbClr val="FB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572000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酯化／酰化组合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异丙醇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三氟乙酸酐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22008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67728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硅烷化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BSTFA · MSTFA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72016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17736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氯甲酸酯衍生化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17736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氯甲酸甲酯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氯甲酸乙酯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622024" y="3712463"/>
            <a:ext cx="2231136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67744" y="3840479"/>
            <a:ext cx="2139696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C18129"/>
                </a:solidFill>
                <a:latin typeface="Noto Sans CJK SC"/>
              </a:defRPr>
            </a:pPr>
            <a:r>
              <a:t>手性衍生化*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667744" y="4370831"/>
            <a:ext cx="2139696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手性醇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＋酰化试剂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4360" y="5394960"/>
            <a:ext cx="3182112" cy="1645920"/>
          </a:xfrm>
          <a:prstGeom prst="roundRect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" y="5815584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" y="6336792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毛细管电泳（CZE / MEKC）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776472" y="6217920"/>
            <a:ext cx="630936" cy="0"/>
          </a:xfrm>
          <a:prstGeom prst="line">
            <a:avLst/>
          </a:prstGeom>
          <a:ln w="38100">
            <a:solidFill>
              <a:srgbClr val="7B61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4283964" y="6185916"/>
            <a:ext cx="64008" cy="64008"/>
          </a:xfrm>
          <a:prstGeom prst="ellipse">
            <a:avLst/>
          </a:prstGeom>
          <a:solidFill>
            <a:srgbClr val="7B6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416552" y="5394960"/>
            <a:ext cx="9601200" cy="1645920"/>
          </a:xfrm>
          <a:prstGeom prst="roundRect">
            <a:avLst/>
          </a:prstGeom>
          <a:solidFill>
            <a:srgbClr val="F0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0" y="5541264"/>
            <a:ext cx="1761134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17720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17720" y="6199632"/>
            <a:ext cx="1669694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FITC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52006" y="5541264"/>
            <a:ext cx="1761134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97726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7726" y="6199632"/>
            <a:ext cx="1669694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332012" y="5541264"/>
            <a:ext cx="1761134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77732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OPA 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77732" y="6199632"/>
            <a:ext cx="1669694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OPA＋非手性硫醇</a:t>
            </a:r>
          </a:p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OPA＋手性硫醇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12019" y="5541264"/>
            <a:ext cx="1761134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257739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磺酰氯类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57739" y="6199632"/>
            <a:ext cx="1669694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Dansyl-Cl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092025" y="5541264"/>
            <a:ext cx="1761134" cy="135331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137745" y="5669280"/>
            <a:ext cx="1669694" cy="43891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7B61A8"/>
                </a:solidFill>
                <a:latin typeface="Noto Sans CJK SC"/>
              </a:defRPr>
            </a:pPr>
            <a:r>
              <a:t>氨基酰化类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37745" y="6199632"/>
            <a:ext cx="1669694" cy="6858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320" b="0">
                <a:solidFill>
                  <a:srgbClr val="233A50"/>
                </a:solidFill>
                <a:latin typeface="Noto Sans CJK SC"/>
              </a:defRPr>
            </a:pPr>
            <a:r>
              <a:t>FMOC-Cl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7223760"/>
            <a:ext cx="3182112" cy="1078992"/>
          </a:xfrm>
          <a:prstGeom prst="roundRect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7360920"/>
            <a:ext cx="2944368" cy="4572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t>HPLC–CD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" y="7882128"/>
            <a:ext cx="3017520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400" b="0">
                <a:solidFill>
                  <a:srgbClr val="FFFFFF"/>
                </a:solidFill>
                <a:latin typeface="Noto Sans CJK SC"/>
              </a:defRPr>
            </a:pPr>
            <a:r>
              <a:t>液相色谱–圆二色检测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776472" y="7763256"/>
            <a:ext cx="630936" cy="0"/>
          </a:xfrm>
          <a:prstGeom prst="line">
            <a:avLst/>
          </a:prstGeom>
          <a:ln w="38100">
            <a:solidFill>
              <a:srgbClr val="1484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4283964" y="7731252"/>
            <a:ext cx="64008" cy="64008"/>
          </a:xfrm>
          <a:prstGeom prst="ellipse">
            <a:avLst/>
          </a:prstGeom>
          <a:solidFill>
            <a:srgbClr val="1484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4416552" y="7223760"/>
            <a:ext cx="9601200" cy="1078992"/>
          </a:xfrm>
          <a:prstGeom prst="roundRect">
            <a:avLst/>
          </a:prstGeom>
          <a:solidFill>
            <a:srgbClr val="E8F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572000" y="7370064"/>
            <a:ext cx="4581144" cy="7863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09160" y="7443216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异硫氰酸酯类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4457" y="7443216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PITC–PTH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72016" y="7370064"/>
            <a:ext cx="4581144" cy="78638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09176" y="7443216"/>
            <a:ext cx="1740834" cy="5029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48477"/>
                </a:solidFill>
                <a:latin typeface="Noto Sans CJK SC"/>
              </a:defRPr>
            </a:pPr>
            <a:r>
              <a:t>芳香亲核取代类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04473" y="7443216"/>
            <a:ext cx="2611252" cy="530352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233A50"/>
                </a:solidFill>
                <a:latin typeface="Noto Sans CJK SC"/>
              </a:defRPr>
            </a:pPr>
            <a:r>
              <a:t>NBD-F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8522208"/>
            <a:ext cx="13533120" cy="27432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65788D"/>
                </a:solidFill>
                <a:latin typeface="Noto Sans CJK SC"/>
              </a:defRPr>
            </a:pPr>
            <a:r>
              <a:t>GC：前三项按反应分类；*手性衍生化按功能分类。GC衍生物用于D/L分析须验证手性识别与分离。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" y="8851392"/>
            <a:ext cx="13533120" cy="22860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5788D"/>
                </a:solidFill>
                <a:latin typeface="Noto Sans CJK SC"/>
              </a:defRPr>
            </a:pPr>
            <a:r>
              <a:t>代表性对应，非穷尽；PITC–PTH 为 PITC 的后续转化路线。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