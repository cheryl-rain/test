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3"/>
  </p:notesMasterIdLst>
  <p:sldIdLst>
    <p:sldId id="363" r:id="rId2"/>
    <p:sldId id="364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4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0F858-5A8C-46F9-9D7B-06ACCACED253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D835F-F6BE-4282-94CE-31CB0B36F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761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独立文献核查版。第1页为主图，方块后的编号与配套文献表一致。不是全部试剂或全部氨基酸的兼容性清单。真实蛋白/肽水解液、游离氨基酸实样和标准品研究分别在配套报告标明。CD中AQC、OPA、PTC不保留。GC中的硅烷化及酸酐酯化未放入主图，见限制性文献27、28。HPLC-CD是HPLC的联用子类，单列仅为突出研究路线。</a:t>
            </a:r>
          </a:p>
          <a:p>
            <a:r>
              <a:t>HPLC/UHPLC｜异硫氰酸酯类｜FITC → [01]</a:t>
            </a:r>
          </a:p>
          <a:p>
            <a:r>
              <a:t>HPLC/UHPLC｜异硫氰酸酯类｜GITC → [02]</a:t>
            </a:r>
          </a:p>
          <a:p>
            <a:r>
              <a:t>HPLC/UHPLC｜芳香亲核取代类｜FDAA → [02],[03]</a:t>
            </a:r>
          </a:p>
          <a:p>
            <a:r>
              <a:t>HPLC/UHPLC｜芳香亲核取代类｜FDLA → [04]</a:t>
            </a:r>
          </a:p>
          <a:p>
            <a:r>
              <a:t>HPLC/UHPLC｜芳香亲核取代类｜NBD-F → [05]</a:t>
            </a:r>
          </a:p>
          <a:p>
            <a:r>
              <a:t>HPLC/UHPLC｜OPA类｜OPA＋NAC → [06]</a:t>
            </a:r>
          </a:p>
          <a:p>
            <a:r>
              <a:t>HPLC/UHPLC｜OPA类｜OPA＋IBLC → [02],[06]</a:t>
            </a:r>
          </a:p>
          <a:p>
            <a:r>
              <a:t>HPLC/UHPLC｜OPA类｜OPA＋DiCys → [07]</a:t>
            </a:r>
          </a:p>
          <a:p>
            <a:r>
              <a:t>HPLC/UHPLC｜磺酰氯类｜Dansyl-Cl → [08]</a:t>
            </a:r>
          </a:p>
          <a:p>
            <a:r>
              <a:t>HPLC/UHPLC｜磺酰氯类｜Dabsyl-Cl → [09]</a:t>
            </a:r>
          </a:p>
          <a:p>
            <a:r>
              <a:t>HPLC/UHPLC｜氨基酰化类｜FMOC-Cl → [10]</a:t>
            </a:r>
          </a:p>
          <a:p>
            <a:r>
              <a:t>HPLC/UHPLC｜氨基酰化类｜AQC → [11]</a:t>
            </a:r>
          </a:p>
          <a:p>
            <a:r>
              <a:t>GC｜氯甲酸酯类｜氯甲酸甲酯（MCF） → [12]</a:t>
            </a:r>
          </a:p>
          <a:p>
            <a:r>
              <a:t>GC｜氯甲酸酯类｜五氟丙基氯甲酸酯（PFPCF） → [13]</a:t>
            </a:r>
          </a:p>
          <a:p>
            <a:r>
              <a:t>GC｜氯甲酸酯类｜七氟丁基氯甲酸酯（HFBCF） → [14]</a:t>
            </a:r>
          </a:p>
          <a:p>
            <a:r>
              <a:t>GC｜氯甲酸酯＋手性醇组合｜氯甲酸乙酯＋(S)-(+)-3-甲基-2-丁醇 → [15]</a:t>
            </a:r>
          </a:p>
          <a:p>
            <a:r>
              <a:t>CE｜异硫氰酸酯类｜FITC → [16]</a:t>
            </a:r>
          </a:p>
          <a:p>
            <a:r>
              <a:t>CE｜异硫氰酸酯类｜(R)-NCS → [17]</a:t>
            </a:r>
          </a:p>
          <a:p>
            <a:r>
              <a:t>CE｜芳香亲核取代类｜NBD-F → [18]</a:t>
            </a:r>
          </a:p>
          <a:p>
            <a:r>
              <a:t>CE｜芳香亲核取代类｜DTAF → [19]</a:t>
            </a:r>
          </a:p>
          <a:p>
            <a:r>
              <a:t>CE｜芳香二醛类｜OPA＋2-巯基乙醇（ME） → [20]</a:t>
            </a:r>
          </a:p>
          <a:p>
            <a:r>
              <a:t>CE｜芳香二醛类｜OPA＋手性硫醇 → [21]</a:t>
            </a:r>
          </a:p>
          <a:p>
            <a:r>
              <a:t>CE｜芳香二醛类｜NDA → [22]</a:t>
            </a:r>
          </a:p>
          <a:p>
            <a:r>
              <a:t>CE｜磺酰氯类｜Dansyl-Cl → [16]</a:t>
            </a:r>
          </a:p>
          <a:p>
            <a:r>
              <a:t>CE｜氨基酰化类｜FMOC-Cl → [23]</a:t>
            </a:r>
          </a:p>
          <a:p>
            <a:r>
              <a:t>CE｜氨基酰化类｜FLEC → [24]</a:t>
            </a:r>
          </a:p>
          <a:p>
            <a:r>
              <a:t>HPLC–CD｜异硫氰酸酯/后续转化路线｜PITC–PTH → [25]</a:t>
            </a:r>
          </a:p>
          <a:p>
            <a:r>
              <a:t>HPLC–CD｜芳香亲核取代类｜NBD-F → [26]</a:t>
            </a:r>
          </a:p>
          <a:p>
            <a:r>
              <a:t>[01] Chiral nano-liquid chromatography-mass spectrometry applied to amino acids analysis for orange juice profiling. (2008). DOI 10.1016/j.foodchem.2007.11.062. HPLC：FITC标记后在万古霉素手性固定相上进行nano-LC–MS分析。 核查层级：公开摘要与书目。证据位置：摘要：FITC、vancomycin-modified silica-diol、orange juice段。</a:t>
            </a:r>
          </a:p>
          <a:p>
            <a:r>
              <a:t>[02] Chirality determination of unusual amino acids using precolumn derivatization and liquid chromatography-electrospray ionization mass spectrometry. (2004). DOI 10.1016/j.chroma.2004.02.068. HPLC：直接比较FDAA、GITC、S-NIFE及OPA–IBLC；经反相HPLC–UV/ESI-MS分析非常见氨基酸立体异构体。 核查层级：公开摘要与书目。证据位置：摘要首句四种试剂及RP-HPLC/UV/MS段。</a:t>
            </a:r>
          </a:p>
          <a:p>
            <a:r>
              <a:t>[03] LC-MS/MS-Based Separation and Quantification of Marfey's Reagent Derivatized Proteinogenic Amino Acid DL-Stereoisomers. (2019). DOI 10.1007/s13361-018-2093-9. HPLC：FDAA/Marfey衍生化结合反相LC–MS/MS，实现19对常见手性氨基酸的分离定量。 核查层级：公开摘要与书目。证据位置：摘要：Marfey derivatization、19 pairs、MRSA extracts段。</a:t>
            </a:r>
          </a:p>
          <a:p>
            <a:r>
              <a:t>[04] Reliable and sensitive analysis of amino acids in the peptidoglycan of actinomycetes using the advanced Marfey's method. (2007). DOI 10.1016/j.mimet.2007.05.003. HPLC：L-/D-FDLA advanced Marfey法，结合LC/MS确定细胞壁氨基酸构型。 核查层级：公开摘要与书目。证据位置：摘要：L-FDLA/D-FDLA、acid hydrolysis、cell wall段。</a:t>
            </a:r>
          </a:p>
          <a:p>
            <a:r>
              <a:t>[05] Simultaneous determination of hydrophilic amino acid enantiomers in mammalian tissues and physiological fluids applying a fully automated micro-two-dimensional high-performance liquid chromatographic concept. (2010). DOI 10.1016/j.chroma.2009.09.002. HPLC：NBD-F标记后，反相一维分离组分，Pirkle型手性二维拆分对映体。 核查层级：公开摘要与书目。证据位置：摘要：NBD-F、Pirkle type enantioselective column、rat plasma/urine段。</a:t>
            </a:r>
          </a:p>
          <a:p>
            <a:r>
              <a:t>[06] High-performance liquid chromatography evaluation of the enantiomeric purity of amino acids by means of automated precolumn derivatization with ortho-phthalaldehyde and chiral thiols. (2016). DOI 10.1002/chir.22660. HPLC：OPA＋NAC或IBLC自动柱前衍生化，普通PFP柱分离非对映衍生物并评价对映体杂质。 核查层级：公开摘要与书目。证据位置：摘要：N-acetyl-L-cysteine、N-isobutyryl-L-cysteine、PFP column段。</a:t>
            </a:r>
          </a:p>
          <a:p>
            <a:r>
              <a:t>[07] Dimethylcysteine (DiCys)/o-Phthalaldehyde Derivatization for Chiral Metabolite Analyses: Cross-Comparison of Six Chiral Thiols. (2021). DOI 10.3390/molecules26247416. HPLC：OPA＋DiCys与其他五种手性硫醇比较；LC-MS分析氨基酸对映体。 核查层级：公开摘要与书目。证据位置：摘要：DiCys/OPA、six chiral thiols、rice extracts段。</a:t>
            </a:r>
          </a:p>
          <a:p>
            <a:r>
              <a:t>[08] Enantioseparation of dansyl amino acids by HPLC on a monolithic column dynamically coated with a vancomycin derivative. (2010). DOI 10.1002/bmc.1430. HPLC：Dansyl氨基酸在万古霉素衍生物动态涂覆的整体柱上实现对映体分离。 核查层级：公开摘要与书目。证据位置：摘要：Dansyl amino acids、All investigated compounds were separated段。</a:t>
            </a:r>
          </a:p>
          <a:p>
            <a:r>
              <a:t>[09] Simultaneous analysis of D- and L-serine in cerebrospinal fluid by use of HPLC. (2007). DOI 10.1373/clinchem.2007.086702. HPLC：Dabsyl-serine经预分离、脱盐，再在Sumichiral柱上拆分D/L并以UV–Vis检测。 核查层级：公开摘要与书目。证据位置：摘要Methods、Results及Conclusion。</a:t>
            </a:r>
          </a:p>
          <a:p>
            <a:r>
              <a:t>[10] Imaging Peptide and Protein Chirality via Amino Acid Analysis by Chiral × Chiral Two-Dimensional Correlation Liquid Chromatography. (2018). DOI 10.1021/acs.analchem.8b00676. HPLC：FMOC氨基酸经奎宁/奎尼丁两维手性色谱分析，给出肽水解物组成与构型图。 核查层级：公开摘要与书目。证据位置：摘要：FMOC-derivatized…peptide hydrolysates；gramicidin and bacitracin段。</a:t>
            </a:r>
          </a:p>
          <a:p>
            <a:r>
              <a:t>[11] Comprehensive Online Reversed-Phase × Chiral Two-Dimensional Liquid Chromatography-Mass Spectrometry with Data-Independent Sequential Window Acquisition of All Theoretical Fragment-Ion Spectra-Acquisition for Untargeted Enantioselective Amino Acid Analysis. (2022). DOI 10.1021/acs.analchem.2c03042. HPLC：AQC标记结合反相×手性二维LC–MS/MS，用于治疗肽水解液的组成和构型指认。 核查层级：公开摘要与书目。证据位置：摘要：AQC、chiral tandem column、two peptide hydrolysate samples及oxytocin段。</a:t>
            </a:r>
          </a:p>
          <a:p>
            <a:r>
              <a:t>[12] Gas chromatography-mass spectrometry analysis of amino acid enantiomers as methyl chloroformate derivatives: application to space analysis. (2007). DOI 10.1016/j.chroma.2006.12.033. GC：氯甲酸甲酯/醇/吡啶衍生化，结合Chirasil-L-Val及SIM-MS，实现多对氨基酸对映体分析。 核查层级：公开摘要与书目。证据位置：摘要：methyl/alkyl chloroformate、Chirasil-L-Val、16 pairs段。</a:t>
            </a:r>
          </a:p>
          <a:p>
            <a:r>
              <a:t>[13] Gas chromatographic analysis of amino acid enantiomers in Carbetocin peptide hydrolysates after fast derivatization with pentafluoropropyl chloroformate. (2008). DOI 10.1007/s00726-007-0577-1. GC：五氟丙基氯甲酸酯快速衍生化，结合手性柱GC/FID分析肽水解液。 核查层级：公开摘要与书目。证据位置：题名；摘要：traditional acid hydrolysis、GC/FID、Carbetocin段。</a:t>
            </a:r>
          </a:p>
          <a:p>
            <a:r>
              <a:t>[14] GC separation of amino acid enantiomers via derivatization with heptafluorobutyl chloroformate and Chirasil-L-Val column. (2009). DOI 10.1002/jssc.200900400. GC：七氟丁基氯甲酸酯（HFBCF）衍生化后，在Chirasil-Val柱评价氨基酸对映体分离。 核查层级：公开摘要与书目。证据位置：摘要：HFBCF、19 AA enantiomers、except proline/arginine/cystine段。</a:t>
            </a:r>
          </a:p>
          <a:p>
            <a:r>
              <a:t>[15] Enantioseparation of chiral amino acids as the N(O,S)-ethoxycarbonylated diastereomeric esters by achiral dual-capillary column gas chromatography. (2001). DOI 10.1039/b106610m. GC：氯甲酸乙酯引入EOC保护，再用(S)-(+)-3-甲基-2-丁醇等手性醇酯化；在非手性DB-5/DB-17柱拆分非对映异构体。 核查层级：公开摘要与书目。证据位置：摘要：ethyl chloroformate、chiral alcohol、achiral columns及Yakult段。</a:t>
            </a:r>
          </a:p>
          <a:p>
            <a:r>
              <a:t>[16] Analysis of amino acid enantiomers derived from antitumor antibiotics using chiral capillary electrophoresis. (1997). DOI 10.1016/s0731-7085(97)00020-4. CE：FITC和Dansyl-Cl。文中分别用于LIF及UV检测，结合金属螯合CE和环糊精MEKC分析抗肿瘤缩肽完全水解液。 核查层级：公开摘要与书目。证据位置：摘要中hydrolysate、dansyl chloride、fluorescein isothiocyanate及应用段。</a:t>
            </a:r>
          </a:p>
          <a:p>
            <a:r>
              <a:t>[17] Cyclodextrin-Modified Capillary Zone Electrophoresis for the Chiral Analysis of Proline and Hydroxyproline Stereoisomers in Chicken Collagen Hydrolysates. (2025). DOI 10.3390/ijms26125832. CZE：(R)-NCS为手性异硫氰酸酯；结合β-CD/DM-β-CD分离Pro及羟脯氨酸异构体。OPA/ME在本法中是预封闭伯胺步骤，不是目标仲胺的主标记试剂。 核查层级：全文＋摘要。证据位置：已读全文：2.1、2.2、2.3；3.1、3.3、3.4；Figures 2、5、6。</a:t>
            </a:r>
          </a:p>
          <a:p>
            <a:r>
              <a:t>[18] Chiral separation and determination of excitatory amino acids in brain samples by CE-LIF using dual cyclodextrin system. (2012). DOI 10.1007/s00216-012-6384-x. CE：NBD-F标记Asp/Glu；双环糊精CE-LIF分离并测定脑样品中的对映体。 核查层级：公开摘要与书目。证据位置：摘要：fluorescent derivatization with 4-fluoro-7-nitro…及brain samples段。</a:t>
            </a:r>
          </a:p>
          <a:p>
            <a:r>
              <a:t>[19] CE-LIF chiral separation of aspartic acid and glutamic acid enantiomers using human serum albumin and sodium cholate as dual selectors. (2009). DOI 10.1002/jssc.200900341. CE：DTAF标记Asp/Glu，HSA/胆酸钠双选择剂辅助对映体分离。DTAF属于芳香亲核取代标记，不是异硫氰酸酯。 核查层级：公开摘要与书目。证据位置：摘要：DTAF全名、HSA and SC、compound amino acids injection段。</a:t>
            </a:r>
          </a:p>
          <a:p>
            <a:r>
              <a:t>[20] Method for on-line derivatization and separation of aspartic acid enantiomer in pharmaceuticals application by the coupling of flow injection with micellar electrokinetic chromatography. (2005). DOI 10.1016/j.chroma.2005.03.019. MEKC：OPA＋2-巯基乙醇（ME）标记，β-CD提供手性识别，SDS提供胶束体系。 核查层级：公开摘要与书目。证据位置：摘要：derivatization reagents、chiral selector、micellar chemical及real sample段。</a:t>
            </a:r>
          </a:p>
          <a:p>
            <a:r>
              <a:t>[21] Separation and enantiomer determination ofOPA-derivatised amino acids by using capillary zone electrophoresis. (1992). DOI 10.1007/bf00806080. CE：OPA＋手性硫醇生成非对映异构体；文中研究自由溶液CE和SDS-MECC。 核查层级：公开摘要与书目。证据位置：摘要首句及MECC/free solution段。</a:t>
            </a:r>
          </a:p>
          <a:p>
            <a:r>
              <a:t>[22] 3-[(3-Dehydroabietamidopropyl)dimethylammonio]-1-propane-sulfonate as a new type of chiral surfactant for enantiomer separation in micellar electrokinetic chromatography. (2007). DOI 10.1016/j.chroma.2007.01.139. MEKC：NDA标记氨基酸，DHAMAP手性表面活性剂提供手性分离。 核查层级：公开摘要与书目。证据位置：摘要：NDA-D/L-amino acids、chiral surfactant及6 pairs段。</a:t>
            </a:r>
          </a:p>
          <a:p>
            <a:r>
              <a:t>[23] Chiral capillary electrophoresis with UV-excited fluorescence detection for the enantioselective analysis of 9-fluorenylmethoxycarbonyl-derivatized amino acids. (2018). DOI 10.1007/s00216-018-1148-x. CE：FMOC-Cl；β-CD辅助手性分离，并用UV激发荧光检测，应用于脑脊液。 核查层级：全文＋摘要。证据位置：已读全文：Introduction、Chemicals、AA derivatization、Results and discussion/CSF application。</a:t>
            </a:r>
          </a:p>
          <a:p>
            <a:r>
              <a:t>[24] Enantiomeric separation of amino acids using micellar electrokinetic chromatography after pre-column derivatization with the chiral reagent 1-(9-fluorenyl)-ethyl chloroformate. (1995). DOI 10.1002/elps.1150160183. MEKC：手性FLEC衍生化后用SDS体系分离非对映异构体；同时比较FMOC＋环糊精的直接分离路线。 核查层级：公开摘要与书目。证据位置：摘要：(+)-/(-)-FLEC、SDS、diastereomers及FMOC比较段。</a:t>
            </a:r>
          </a:p>
          <a:p>
            <a:r>
              <a:t>[25] Determination of sequence and absolute configuration of peptide amino acids by HPLC-MS/CD-based detection of liberated N-terminus phenylthiohydantoin amino acids. (2022). DOI 10.1038/s41598-022-14205-x. HPLC–MS/CD：PITC经Edman路线生成PTH-AA，建立对照并用于合成肽和天然缩肽；另分析合成肽酸水解液。 核查层级：全文＋摘要。证据位置：已读全文：Introduction、Results and discussion、Methods；摘要末句acid hydrolysates。</a:t>
            </a:r>
          </a:p>
          <a:p>
            <a:r>
              <a:t>[26] High-throughput comprehensive analysis of D- and L-amino acids using ultra-high performance liquid chromatography with a circular dichroism (CD) detector and its application to food samples. (2011). DOI 10.1016/j.jchromb.2011.07.025. UHPLC–CD：筛选后选择NBD-F，利用g-factor计算%D，无需在柱上拆分同种氨基酸D/L。 核查层级：公开摘要与书目。证据位置：摘要：NBD-F was selected；does not require separation；food samples段。</a:t>
            </a:r>
          </a:p>
          <a:p>
            <a:r>
              <a:t>[27] Enantioselective separation of amino acids as biomarkers indicating life in extraterrestrial environments. (2013). DOI 10.1007/s00216-013-6915-0. GC删除项审查：综述区分普通GC挥发化和对映体测定；常用MTBSTFA硅烷化被明确指出不适于其讨论的homochirality检测。不能把所有硅烷化剂概括为成熟手性氨基酸方案。 核查层级：公开摘要与书目。证据位置：摘要中silylation reagent…unsuitable for detection of homochirality段。</a:t>
            </a:r>
          </a:p>
          <a:p>
            <a:r>
              <a:t>[28] Comparison of derivatization and chromatographic methods for GC-MS analysis of amino acid enantiomers in physiological samples. (2010). DOI 10.1016/j.jchromb.2010.03.021. GC限制性证据：比较氟化/非氟化酸酐及氯甲酸酯；PFPA/七氟丁醇虽灵敏，但衍生化消旋妨碍准确对映体定量，MCF路线可避免其问题。 核查层级：公开摘要与书目。证据位置：摘要：racemization during derivatization precluded accurate quantification及MCF段。</a:t>
            </a:r>
          </a:p>
          <a:p/>
          <a:p>
            <a:r>
              <a:t>连接线机制标签核查（文献编号沿用上一版按出现顺序排序）：</a:t>
            </a:r>
          </a:p>
          <a:p>
            <a:r>
              <a:t>HPLC：①手性固定相有[01]FITC＋万古霉素固定相支持，DOI 10.1016/j.foodchem.2007.11.062；②手性衍生化有[02]FDAA/GITC/OPA-IBLC＋反相HPLC支持，DOI 10.1016/j.chroma.2004.02.068，也有[03]Marfey证据。两路线为平台层面概括，不表示右侧每种试剂都适配两种路线。</a:t>
            </a:r>
          </a:p>
          <a:p>
            <a:r>
              <a:t>GC：①手性固定相有[12]MCF＋Chirasil-L-Val支持，DOI 10.1016/j.chroma.2006.12.033；②手性衍生化有[15]ECF＋手性醇＋非手性DB-5/DB-17支持，DOI 10.1039/b106610m。</a:t>
            </a:r>
          </a:p>
          <a:p>
            <a:r>
              <a:t>CE：不能将现有CZE/MEKC路线称为手性固定相。①手性选择剂有[16]金属螯合/环糊精CE-MEKC支持，DOI 10.1016/S0731-7085(97)00020-4；②手性衍生化有[21]OPA＋手性硫醇支持，DOI 10.1007/BF00806080；[24]FLEC＋SDS-MEKC支持，DOI 10.1002/elps.1150160183。手性选择剂与手性衍生化可合用，例如[17](R)-NCS＋DM-beta-CD，不是互斥条件。毛细管电色谱等可固定化选择剂的其他模式不由这里的CZE/MEKC文献自动证明。</a:t>
            </a:r>
          </a:p>
          <a:p>
            <a:r>
              <a:t>HPLC-CD：现有[25]PITC-PTH文献（DOI 10.1038/s41598-022-14205-x）和[26]NBD-F文献（DOI 10.1016/j.jchromb.2011.07.025）均支持非手性衍生化/反相分离＋CD手性响应。它们不能证明本图所列方法采用了手性固定相或手性衍生试剂；因此该行线上方标为非手性衍生化，下方标为CD、UV、MS检测，不是两个并列手性分离备选策略。不据此断言其他HPLC-CD组合不存在。</a:t>
            </a:r>
          </a:p>
          <a:p>
            <a:r>
              <a:t>版式：基于用户上传的13.333×7.5英寸版本；原有字号和方块大小保留，新增线上的策略标签18pt、线下检测标签16pt。</a:t>
            </a:r>
          </a:p>
          <a:p>
            <a:r>
              <a:t>检测方式核查：HPLC列UV（原[02]明确UV/ESI-MS）、荧光（补充D1：10.1016/j.jchromb.2006.07.022，题名Determination of d-serine and related neuroactive amino acids in human plasma by high-performance liquid chromatography with fluorimetric detection，摘要明确OPA/IBLC＋HPLC荧光检测）、MS/MS（原[11]AQC/2D-LC-MS/MS）。GC列FID（原[13]卡贝缩宫素水解液论文明确GC/FID）与MS（原[12]GC-MS），不泛列未明确的MS/MS。CE列UV及荧光（原[16]分别对Dansyl和FITC采用UV/LIF；原[17]为LEDIF）与MS（补充D2：10.1002/elps.201600015，Enantioselective analysis of proteinogenic amino acids in cerebrospinal fluid by capillary electrophoresis-mass spectrometry，摘要明确FMOC/β-CD/CE-MS）。HPLC-CD列CD与UV（原[26]NBD-F）以及MS（原[25]PTH/HPLC-MS-CD）。图中荧光是FLD/LIF/LEDIF的上位简称，不意味着各平台共用同一荧光检测器。检测方式为文献中的代表例，不能推定每种试剂均适配所列全部检测器；未因仪器理论兼容性自行补入DAD、CAD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选择原则与实验计划，三条候选沿用本课题PITC、AQC、OPA，不代表三者均已有HPLC-CD方法。左图取自上一页同内容的方法-试剂图，作示意缩略图；上一页保留完整尺寸。01/02是文献与化学合理性的初筛标准，03/04是下一步实验复筛，均不能提前写成已验证结果。</a:t>
            </a:r>
          </a:p>
          <a:p>
            <a:r>
              <a:t>01：非手性试剂不另引固定手性中心，但并不自动保证水解和衍生过程不消旋，构型保持需由实验控制和验证。02：存在UV发色团不保证获得足够CD信号，CD波长、强度、背景及稳定性均需确认。</a:t>
            </a:r>
          </a:p>
          <a:p>
            <a:r>
              <a:t>三候选：PITC指本课题常规PTC衍生化基线；与文献[25]PTH环化/转化路线不同，不套用PTH的CD判据。AQC仅作为稳定定量参照候选，其手性LC文献[11]使用手性分离，不证明其在线CD响应。OPA需明确为非手性硫醇体系；不能援引OPA+手性硫醇的非对映体分离来证明非手性CD路线。</a:t>
            </a:r>
          </a:p>
          <a:p>
            <a:r>
              <a:t>优势1：[26]公开摘要明确：无需在柱上分离光学异构体即可用g-factor求%D，并得到较简单色谱图；5.5min只属于该NBD-F/UHPLC方法，不外推到三候选。优势2：[26]同时研究UV/CD检测；UV含量与净CD响应互补是对此设计的归纳，需校准且排除共洗脱、反应效率差和消旋。优势3：[25]标准PTH衍生物在270nm附近呈相反CD响应，有肽及肽水解液应用；不是D/L与CD正负号的通用对应规则。</a:t>
            </a:r>
          </a:p>
          <a:p>
            <a:r>
              <a:t>03：拟配D/L对照与混合比例，验证镜像、外消旋抵消、ee校准及不同浓度下的响应；这些仍未完成。04：针对Phe/Leu/Lys真实水解液，拟验证回收、基质干扰、稳定性、多位点产物及水解/衍生构型保持；水解后组成与净ee通常不能定位重复残基的具体构型。</a:t>
            </a:r>
          </a:p>
          <a:p>
            <a:r>
              <a:t>[11] Comprehensive Online Reversed-Phase × Chiral Two-Dimensional Liquid Chromatography-Mass Spectrometry with Data-Independent Sequential Window Acquisition of All Theoretical Fragment-Ion Spectra-Acquisition for Untargeted Enantioselective Amino Acid Analysis.. DOI 10.1021/acs.analchem.2c03042. 核查层级：公开摘要与书目。证据位置：摘要：AQC、chiral tandem column、two peptide hydrolysate samples及oxytocin段。</a:t>
            </a:r>
          </a:p>
          <a:p>
            <a:r>
              <a:t>[25] Determination of sequence and absolute configuration of peptide amino acids by HPLC-MS/CD-based detection of liberated N-terminus phenylthiohydantoin amino acids.. DOI 10.1038/s41598-022-14205-x. 核查层级：全文＋摘要。证据位置：已读全文：Introduction、Results and discussion、Methods；摘要末句acid hydrolysates。</a:t>
            </a:r>
          </a:p>
          <a:p>
            <a:r>
              <a:t>[26] High-throughput comprehensive analysis of D- and L-amino acids using ultra-high performance liquid chromatography with a circular dichroism (CD) detector and its application to food samples.. DOI 10.1016/j.jchromb.2011.07.025. 核查层级：公开摘要与书目。证据位置：摘要：NBD-F was selected；does not require separation；food samples段。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426668"/>
            <a:ext cx="6477000" cy="9844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602447"/>
            <a:ext cx="5334000" cy="117365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61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23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24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309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371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43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494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09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72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928" y="2951141"/>
            <a:ext cx="6477000" cy="912132"/>
          </a:xfrm>
        </p:spPr>
        <p:txBody>
          <a:bodyPr anchor="t"/>
          <a:lstStyle>
            <a:lvl1pPr algn="l">
              <a:defRPr sz="267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928" y="1946520"/>
            <a:ext cx="6477000" cy="1004621"/>
          </a:xfrm>
        </p:spPr>
        <p:txBody>
          <a:bodyPr anchor="b"/>
          <a:lstStyle>
            <a:lvl1pPr marL="0" indent="0">
              <a:buNone/>
              <a:defRPr sz="1339">
                <a:solidFill>
                  <a:schemeClr val="tx1">
                    <a:tint val="75000"/>
                  </a:schemeClr>
                </a:solidFill>
              </a:defRPr>
            </a:lvl1pPr>
            <a:lvl2pPr marL="306187" indent="0">
              <a:buNone/>
              <a:defRPr sz="1205">
                <a:solidFill>
                  <a:schemeClr val="tx1">
                    <a:tint val="75000"/>
                  </a:schemeClr>
                </a:solidFill>
              </a:defRPr>
            </a:lvl2pPr>
            <a:lvl3pPr marL="612374" indent="0">
              <a:buNone/>
              <a:defRPr sz="1072">
                <a:solidFill>
                  <a:schemeClr val="tx1">
                    <a:tint val="75000"/>
                  </a:schemeClr>
                </a:solidFill>
              </a:defRPr>
            </a:lvl3pPr>
            <a:lvl4pPr marL="918561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4pPr>
            <a:lvl5pPr marL="1224747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5pPr>
            <a:lvl6pPr marL="1530934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6pPr>
            <a:lvl7pPr marL="1837121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7pPr>
            <a:lvl8pPr marL="2143308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8pPr>
            <a:lvl9pPr marL="2449495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49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071596"/>
            <a:ext cx="3365500" cy="3030873"/>
          </a:xfrm>
        </p:spPr>
        <p:txBody>
          <a:bodyPr/>
          <a:lstStyle>
            <a:lvl1pPr>
              <a:defRPr sz="1875"/>
            </a:lvl1pPr>
            <a:lvl2pPr>
              <a:defRPr sz="1607"/>
            </a:lvl2pPr>
            <a:lvl3pPr>
              <a:defRPr sz="1339"/>
            </a:lvl3pPr>
            <a:lvl4pPr>
              <a:defRPr sz="1205"/>
            </a:lvl4pPr>
            <a:lvl5pPr>
              <a:defRPr sz="1205"/>
            </a:lvl5pPr>
            <a:lvl6pPr>
              <a:defRPr sz="1205"/>
            </a:lvl6pPr>
            <a:lvl7pPr>
              <a:defRPr sz="1205"/>
            </a:lvl7pPr>
            <a:lvl8pPr>
              <a:defRPr sz="1205"/>
            </a:lvl8pPr>
            <a:lvl9pPr>
              <a:defRPr sz="1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3500" y="1071596"/>
            <a:ext cx="3365500" cy="3030873"/>
          </a:xfrm>
        </p:spPr>
        <p:txBody>
          <a:bodyPr/>
          <a:lstStyle>
            <a:lvl1pPr>
              <a:defRPr sz="1875"/>
            </a:lvl1pPr>
            <a:lvl2pPr>
              <a:defRPr sz="1607"/>
            </a:lvl2pPr>
            <a:lvl3pPr>
              <a:defRPr sz="1339"/>
            </a:lvl3pPr>
            <a:lvl4pPr>
              <a:defRPr sz="1205"/>
            </a:lvl4pPr>
            <a:lvl5pPr>
              <a:defRPr sz="1205"/>
            </a:lvl5pPr>
            <a:lvl6pPr>
              <a:defRPr sz="1205"/>
            </a:lvl6pPr>
            <a:lvl7pPr>
              <a:defRPr sz="1205"/>
            </a:lvl7pPr>
            <a:lvl8pPr>
              <a:defRPr sz="1205"/>
            </a:lvl8pPr>
            <a:lvl9pPr>
              <a:defRPr sz="1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0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28009"/>
            <a:ext cx="3366823" cy="428425"/>
          </a:xfrm>
        </p:spPr>
        <p:txBody>
          <a:bodyPr anchor="b"/>
          <a:lstStyle>
            <a:lvl1pPr marL="0" indent="0">
              <a:buNone/>
              <a:defRPr sz="1607" b="1"/>
            </a:lvl1pPr>
            <a:lvl2pPr marL="306187" indent="0">
              <a:buNone/>
              <a:defRPr sz="1339" b="1"/>
            </a:lvl2pPr>
            <a:lvl3pPr marL="612374" indent="0">
              <a:buNone/>
              <a:defRPr sz="1205" b="1"/>
            </a:lvl3pPr>
            <a:lvl4pPr marL="918561" indent="0">
              <a:buNone/>
              <a:defRPr sz="1072" b="1"/>
            </a:lvl4pPr>
            <a:lvl5pPr marL="1224747" indent="0">
              <a:buNone/>
              <a:defRPr sz="1072" b="1"/>
            </a:lvl5pPr>
            <a:lvl6pPr marL="1530934" indent="0">
              <a:buNone/>
              <a:defRPr sz="1072" b="1"/>
            </a:lvl6pPr>
            <a:lvl7pPr marL="1837121" indent="0">
              <a:buNone/>
              <a:defRPr sz="1072" b="1"/>
            </a:lvl7pPr>
            <a:lvl8pPr marL="2143308" indent="0">
              <a:buNone/>
              <a:defRPr sz="1072" b="1"/>
            </a:lvl8pPr>
            <a:lvl9pPr marL="2449495" indent="0">
              <a:buNone/>
              <a:defRPr sz="10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000" y="1456434"/>
            <a:ext cx="3366823" cy="2646034"/>
          </a:xfrm>
        </p:spPr>
        <p:txBody>
          <a:bodyPr/>
          <a:lstStyle>
            <a:lvl1pPr>
              <a:defRPr sz="1607"/>
            </a:lvl1pPr>
            <a:lvl2pPr>
              <a:defRPr sz="1339"/>
            </a:lvl2pPr>
            <a:lvl3pPr>
              <a:defRPr sz="1205"/>
            </a:lvl3pPr>
            <a:lvl4pPr>
              <a:defRPr sz="1072"/>
            </a:lvl4pPr>
            <a:lvl5pPr>
              <a:defRPr sz="1072"/>
            </a:lvl5pPr>
            <a:lvl6pPr>
              <a:defRPr sz="1072"/>
            </a:lvl6pPr>
            <a:lvl7pPr>
              <a:defRPr sz="1072"/>
            </a:lvl7pPr>
            <a:lvl8pPr>
              <a:defRPr sz="1072"/>
            </a:lvl8pPr>
            <a:lvl9pPr>
              <a:defRPr sz="10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70855" y="1028009"/>
            <a:ext cx="3368146" cy="428425"/>
          </a:xfrm>
        </p:spPr>
        <p:txBody>
          <a:bodyPr anchor="b"/>
          <a:lstStyle>
            <a:lvl1pPr marL="0" indent="0">
              <a:buNone/>
              <a:defRPr sz="1607" b="1"/>
            </a:lvl1pPr>
            <a:lvl2pPr marL="306187" indent="0">
              <a:buNone/>
              <a:defRPr sz="1339" b="1"/>
            </a:lvl2pPr>
            <a:lvl3pPr marL="612374" indent="0">
              <a:buNone/>
              <a:defRPr sz="1205" b="1"/>
            </a:lvl3pPr>
            <a:lvl4pPr marL="918561" indent="0">
              <a:buNone/>
              <a:defRPr sz="1072" b="1"/>
            </a:lvl4pPr>
            <a:lvl5pPr marL="1224747" indent="0">
              <a:buNone/>
              <a:defRPr sz="1072" b="1"/>
            </a:lvl5pPr>
            <a:lvl6pPr marL="1530934" indent="0">
              <a:buNone/>
              <a:defRPr sz="1072" b="1"/>
            </a:lvl6pPr>
            <a:lvl7pPr marL="1837121" indent="0">
              <a:buNone/>
              <a:defRPr sz="1072" b="1"/>
            </a:lvl7pPr>
            <a:lvl8pPr marL="2143308" indent="0">
              <a:buNone/>
              <a:defRPr sz="1072" b="1"/>
            </a:lvl8pPr>
            <a:lvl9pPr marL="2449495" indent="0">
              <a:buNone/>
              <a:defRPr sz="10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70855" y="1456434"/>
            <a:ext cx="3368146" cy="2646034"/>
          </a:xfrm>
        </p:spPr>
        <p:txBody>
          <a:bodyPr/>
          <a:lstStyle>
            <a:lvl1pPr>
              <a:defRPr sz="1607"/>
            </a:lvl1pPr>
            <a:lvl2pPr>
              <a:defRPr sz="1339"/>
            </a:lvl2pPr>
            <a:lvl3pPr>
              <a:defRPr sz="1205"/>
            </a:lvl3pPr>
            <a:lvl4pPr>
              <a:defRPr sz="1072"/>
            </a:lvl4pPr>
            <a:lvl5pPr>
              <a:defRPr sz="1072"/>
            </a:lvl5pPr>
            <a:lvl6pPr>
              <a:defRPr sz="1072"/>
            </a:lvl6pPr>
            <a:lvl7pPr>
              <a:defRPr sz="1072"/>
            </a:lvl7pPr>
            <a:lvl8pPr>
              <a:defRPr sz="1072"/>
            </a:lvl8pPr>
            <a:lvl9pPr>
              <a:defRPr sz="10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350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3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28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82851"/>
            <a:ext cx="2506928" cy="778183"/>
          </a:xfrm>
        </p:spPr>
        <p:txBody>
          <a:bodyPr anchor="b"/>
          <a:lstStyle>
            <a:lvl1pPr algn="l">
              <a:defRPr sz="133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9208" y="182852"/>
            <a:ext cx="4259792" cy="3919617"/>
          </a:xfrm>
        </p:spPr>
        <p:txBody>
          <a:bodyPr/>
          <a:lstStyle>
            <a:lvl1pPr>
              <a:defRPr sz="2143"/>
            </a:lvl1pPr>
            <a:lvl2pPr>
              <a:defRPr sz="1875"/>
            </a:lvl2pPr>
            <a:lvl3pPr>
              <a:defRPr sz="1607"/>
            </a:lvl3pPr>
            <a:lvl4pPr>
              <a:defRPr sz="1339"/>
            </a:lvl4pPr>
            <a:lvl5pPr>
              <a:defRPr sz="1339"/>
            </a:lvl5pPr>
            <a:lvl6pPr>
              <a:defRPr sz="1339"/>
            </a:lvl6pPr>
            <a:lvl7pPr>
              <a:defRPr sz="1339"/>
            </a:lvl7pPr>
            <a:lvl8pPr>
              <a:defRPr sz="1339"/>
            </a:lvl8pPr>
            <a:lvl9pPr>
              <a:defRPr sz="13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61035"/>
            <a:ext cx="2506928" cy="3141434"/>
          </a:xfrm>
        </p:spPr>
        <p:txBody>
          <a:bodyPr/>
          <a:lstStyle>
            <a:lvl1pPr marL="0" indent="0">
              <a:buNone/>
              <a:defRPr sz="938"/>
            </a:lvl1pPr>
            <a:lvl2pPr marL="306187" indent="0">
              <a:buNone/>
              <a:defRPr sz="804"/>
            </a:lvl2pPr>
            <a:lvl3pPr marL="612374" indent="0">
              <a:buNone/>
              <a:defRPr sz="670"/>
            </a:lvl3pPr>
            <a:lvl4pPr marL="918561" indent="0">
              <a:buNone/>
              <a:defRPr sz="603"/>
            </a:lvl4pPr>
            <a:lvl5pPr marL="1224747" indent="0">
              <a:buNone/>
              <a:defRPr sz="603"/>
            </a:lvl5pPr>
            <a:lvl6pPr marL="1530934" indent="0">
              <a:buNone/>
              <a:defRPr sz="603"/>
            </a:lvl6pPr>
            <a:lvl7pPr marL="1837121" indent="0">
              <a:buNone/>
              <a:defRPr sz="603"/>
            </a:lvl7pPr>
            <a:lvl8pPr marL="2143308" indent="0">
              <a:buNone/>
              <a:defRPr sz="603"/>
            </a:lvl8pPr>
            <a:lvl9pPr marL="2449495" indent="0">
              <a:buNone/>
              <a:defRPr sz="6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71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3573" y="3214787"/>
            <a:ext cx="4572000" cy="379524"/>
          </a:xfrm>
        </p:spPr>
        <p:txBody>
          <a:bodyPr anchor="b"/>
          <a:lstStyle>
            <a:lvl1pPr algn="l">
              <a:defRPr sz="133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93573" y="410353"/>
            <a:ext cx="4572000" cy="2755532"/>
          </a:xfrm>
        </p:spPr>
        <p:txBody>
          <a:bodyPr/>
          <a:lstStyle>
            <a:lvl1pPr marL="0" indent="0">
              <a:buNone/>
              <a:defRPr sz="2143"/>
            </a:lvl1pPr>
            <a:lvl2pPr marL="306187" indent="0">
              <a:buNone/>
              <a:defRPr sz="1875"/>
            </a:lvl2pPr>
            <a:lvl3pPr marL="612374" indent="0">
              <a:buNone/>
              <a:defRPr sz="1607"/>
            </a:lvl3pPr>
            <a:lvl4pPr marL="918561" indent="0">
              <a:buNone/>
              <a:defRPr sz="1339"/>
            </a:lvl4pPr>
            <a:lvl5pPr marL="1224747" indent="0">
              <a:buNone/>
              <a:defRPr sz="1339"/>
            </a:lvl5pPr>
            <a:lvl6pPr marL="1530934" indent="0">
              <a:buNone/>
              <a:defRPr sz="1339"/>
            </a:lvl6pPr>
            <a:lvl7pPr marL="1837121" indent="0">
              <a:buNone/>
              <a:defRPr sz="1339"/>
            </a:lvl7pPr>
            <a:lvl8pPr marL="2143308" indent="0">
              <a:buNone/>
              <a:defRPr sz="1339"/>
            </a:lvl8pPr>
            <a:lvl9pPr marL="2449495" indent="0">
              <a:buNone/>
              <a:defRPr sz="133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3573" y="3594311"/>
            <a:ext cx="4572000" cy="538987"/>
          </a:xfrm>
        </p:spPr>
        <p:txBody>
          <a:bodyPr/>
          <a:lstStyle>
            <a:lvl1pPr marL="0" indent="0">
              <a:buNone/>
              <a:defRPr sz="938"/>
            </a:lvl1pPr>
            <a:lvl2pPr marL="306187" indent="0">
              <a:buNone/>
              <a:defRPr sz="804"/>
            </a:lvl2pPr>
            <a:lvl3pPr marL="612374" indent="0">
              <a:buNone/>
              <a:defRPr sz="670"/>
            </a:lvl3pPr>
            <a:lvl4pPr marL="918561" indent="0">
              <a:buNone/>
              <a:defRPr sz="603"/>
            </a:lvl4pPr>
            <a:lvl5pPr marL="1224747" indent="0">
              <a:buNone/>
              <a:defRPr sz="603"/>
            </a:lvl5pPr>
            <a:lvl6pPr marL="1530934" indent="0">
              <a:buNone/>
              <a:defRPr sz="603"/>
            </a:lvl6pPr>
            <a:lvl7pPr marL="1837121" indent="0">
              <a:buNone/>
              <a:defRPr sz="603"/>
            </a:lvl7pPr>
            <a:lvl8pPr marL="2143308" indent="0">
              <a:buNone/>
              <a:defRPr sz="603"/>
            </a:lvl8pPr>
            <a:lvl9pPr marL="2449495" indent="0">
              <a:buNone/>
              <a:defRPr sz="6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0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83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24500" y="183916"/>
            <a:ext cx="1714500" cy="39185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83916"/>
            <a:ext cx="5016500" cy="39185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073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183915"/>
            <a:ext cx="6858000" cy="765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71596"/>
            <a:ext cx="6858000" cy="3030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1000" y="4256616"/>
            <a:ext cx="1778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3500" y="4256616"/>
            <a:ext cx="2413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61000" y="4256616"/>
            <a:ext cx="1778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306187" rtl="0" eaLnBrk="1" latinLnBrk="0" hangingPunct="1">
        <a:spcBef>
          <a:spcPct val="0"/>
        </a:spcBef>
        <a:buNone/>
        <a:defRPr sz="29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9640" indent="-229640" algn="l" defTabSz="306187" rtl="0" eaLnBrk="1" latinLnBrk="0" hangingPunct="1">
        <a:spcBef>
          <a:spcPct val="20000"/>
        </a:spcBef>
        <a:buFont typeface="Arial" panose="020B0604020202020204"/>
        <a:buChar char="•"/>
        <a:defRPr sz="2143" kern="1200">
          <a:solidFill>
            <a:schemeClr val="tx1"/>
          </a:solidFill>
          <a:latin typeface="+mn-lt"/>
          <a:ea typeface="+mn-ea"/>
          <a:cs typeface="+mn-cs"/>
        </a:defRPr>
      </a:lvl1pPr>
      <a:lvl2pPr marL="497554" indent="-191367" algn="l" defTabSz="306187" rtl="0" eaLnBrk="1" latinLnBrk="0" hangingPunct="1">
        <a:spcBef>
          <a:spcPct val="20000"/>
        </a:spcBef>
        <a:buFont typeface="Arial" panose="020B0604020202020204"/>
        <a:buChar char="–"/>
        <a:defRPr sz="1875" kern="1200">
          <a:solidFill>
            <a:schemeClr val="tx1"/>
          </a:solidFill>
          <a:latin typeface="+mn-lt"/>
          <a:ea typeface="+mn-ea"/>
          <a:cs typeface="+mn-cs"/>
        </a:defRPr>
      </a:lvl2pPr>
      <a:lvl3pPr marL="765467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607" kern="1200">
          <a:solidFill>
            <a:schemeClr val="tx1"/>
          </a:solidFill>
          <a:latin typeface="+mn-lt"/>
          <a:ea typeface="+mn-ea"/>
          <a:cs typeface="+mn-cs"/>
        </a:defRPr>
      </a:lvl3pPr>
      <a:lvl4pPr marL="1071654" indent="-153093" algn="l" defTabSz="306187" rtl="0" eaLnBrk="1" latinLnBrk="0" hangingPunct="1">
        <a:spcBef>
          <a:spcPct val="20000"/>
        </a:spcBef>
        <a:buFont typeface="Arial" panose="020B0604020202020204"/>
        <a:buChar char="–"/>
        <a:defRPr sz="1339" kern="1200">
          <a:solidFill>
            <a:schemeClr val="tx1"/>
          </a:solidFill>
          <a:latin typeface="+mn-lt"/>
          <a:ea typeface="+mn-ea"/>
          <a:cs typeface="+mn-cs"/>
        </a:defRPr>
      </a:lvl4pPr>
      <a:lvl5pPr marL="1377841" indent="-153093" algn="l" defTabSz="306187" rtl="0" eaLnBrk="1" latinLnBrk="0" hangingPunct="1">
        <a:spcBef>
          <a:spcPct val="20000"/>
        </a:spcBef>
        <a:buFont typeface="Arial" panose="020B0604020202020204"/>
        <a:buChar char="»"/>
        <a:defRPr sz="1339" kern="1200">
          <a:solidFill>
            <a:schemeClr val="tx1"/>
          </a:solidFill>
          <a:latin typeface="+mn-lt"/>
          <a:ea typeface="+mn-ea"/>
          <a:cs typeface="+mn-cs"/>
        </a:defRPr>
      </a:lvl5pPr>
      <a:lvl6pPr marL="1684028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6pPr>
      <a:lvl7pPr marL="1990214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7pPr>
      <a:lvl8pPr marL="2296401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8pPr>
      <a:lvl9pPr marL="2602588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1pPr>
      <a:lvl2pPr marL="306187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2pPr>
      <a:lvl3pPr marL="612374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3pPr>
      <a:lvl4pPr marL="918561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4pPr>
      <a:lvl5pPr marL="1224747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5pPr>
      <a:lvl6pPr marL="1530934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6pPr>
      <a:lvl7pPr marL="1837121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7pPr>
      <a:lvl8pPr marL="2143308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8pPr>
      <a:lvl9pPr marL="2449495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34064" y="183703"/>
            <a:ext cx="9185106" cy="27821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700" b="1">
                <a:solidFill>
                  <a:srgbClr val="172F49"/>
                </a:solidFill>
                <a:latin typeface="Noto Sans CJK SC"/>
              </a:defRPr>
            </a:pPr>
            <a:r>
              <a:rPr kumimoji="0" sz="1808" b="1" i="0" u="none" strike="noStrike" kern="1200" cap="none" spc="0" normalizeH="0" baseline="0" noProof="0">
                <a:ln>
                  <a:noFill/>
                </a:ln>
                <a:solidFill>
                  <a:srgbClr val="172F4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氨基酸手性分析：有文献依据的方法—试剂对应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714" y="673875"/>
            <a:ext cx="1233098" cy="307777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61738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分析方法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61738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78069" y="690930"/>
            <a:ext cx="4053812" cy="307777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61738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衍生化试剂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61738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3738" y="1040979"/>
            <a:ext cx="2130945" cy="1377766"/>
          </a:xfrm>
          <a:prstGeom prst="round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3342" y="1366049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HPLC / UPLC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4355" y="1845602"/>
            <a:ext cx="2020723" cy="246221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高效液相色谱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749241" y="1040979"/>
            <a:ext cx="6429574" cy="1377766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853339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83956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异硫氰酸酯类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2474B5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77832" y="1585962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FITC [0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宋体" panose="02010600030101010101" pitchFamily="2" charset="-122"/>
                <a:cs typeface="+mn-cs"/>
              </a:rPr>
              <a:t>1]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233A50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GITC [02]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2311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42928" y="1224681"/>
            <a:ext cx="1118133" cy="40011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芳香亲核取代类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6804" y="1585962"/>
            <a:ext cx="1130380" cy="65146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FDAA [02,03]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FDLA [04]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NBD-F [05]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1282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01899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 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5776" y="1585962"/>
            <a:ext cx="1130380" cy="619144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OPA＋NAC / IBLC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OPA＋DiCys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[02,06,07]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30254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60871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磺酰氯类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4748" y="1585962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Dansyl-Cl [08]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Dabsyl-Cl [09]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89226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19843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氨基酰化类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3720" y="1585962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FMOC-Cl [10]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AQC [11]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3738" y="2547123"/>
            <a:ext cx="2130945" cy="1114460"/>
          </a:xfrm>
          <a:prstGeom prst="roundRect">
            <a:avLst/>
          </a:prstGeom>
          <a:solidFill>
            <a:srgbClr val="C1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2726" y="2766224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GC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342" y="3231546"/>
            <a:ext cx="2020723" cy="246221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气相色谱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749241" y="2528966"/>
            <a:ext cx="6429574" cy="1114460"/>
          </a:xfrm>
          <a:prstGeom prst="roundRect">
            <a:avLst/>
          </a:prstGeom>
          <a:solidFill>
            <a:srgbClr val="FB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853339" y="2626940"/>
            <a:ext cx="3067825" cy="91851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08265" y="2627882"/>
            <a:ext cx="2920864" cy="2308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500" b="1">
                <a:solidFill>
                  <a:srgbClr val="C18129"/>
                </a:solidFill>
                <a:latin typeface="Noto Sans CJK SC"/>
              </a:defRPr>
            </a:pP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C1812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氯甲酸酯类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C1812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926819" y="2860291"/>
            <a:ext cx="2920864" cy="697627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氯甲酸甲酯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[12]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五氟丙基氯甲酸酯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[13]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七氟丁基氯甲酸酯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[14]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0769" y="2626940"/>
            <a:ext cx="3067825" cy="91851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074249" y="2682051"/>
            <a:ext cx="2920864" cy="2308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500" b="1">
                <a:solidFill>
                  <a:srgbClr val="C18129"/>
                </a:solidFill>
                <a:latin typeface="Noto Sans CJK SC"/>
              </a:defRPr>
            </a:pP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C1812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氯甲酸酯＋手性醇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C1812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74249" y="2963728"/>
            <a:ext cx="2920864" cy="45653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氯甲酸乙酯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＋(S)-(+)-3-甲基-2-丁醇 [15]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3738" y="3753647"/>
            <a:ext cx="2130945" cy="1377766"/>
          </a:xfrm>
          <a:prstGeom prst="roundRect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74355" y="4061588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2504" y="4553388"/>
            <a:ext cx="2161561" cy="492443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600" b="0">
                <a:solidFill>
                  <a:srgbClr val="FFFFFF"/>
                </a:solidFill>
                <a:latin typeface="Noto Sans CJK SC"/>
              </a:defRPr>
            </a:pPr>
            <a:r>
              <a:t>毛细管电泳</a:t>
            </a:r>
            <a:br/>
            <a:r>
              <a:t>（CZE / MEKC）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49241" y="3753647"/>
            <a:ext cx="6429574" cy="1377766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853339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883956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异硫氰酸酯类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77832" y="4298630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FITC [16]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(R)-NCS [17]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12311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142928" y="3937349"/>
            <a:ext cx="1118133" cy="40011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芳香亲核取代类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36804" y="4298630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NBD-F [18]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DTAF [19]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71282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401899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芳香二醛类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95776" y="4216462"/>
            <a:ext cx="1130380" cy="808426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OPA＋ME [20]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OPA＋手性硫醇</a:t>
            </a:r>
            <a:r>
              <a:rPr kumimoji="0" sz="123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[21]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NDA [22]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30254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660871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磺酰氯类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54748" y="4298630"/>
            <a:ext cx="1130380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Dansyl-Cl [16]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89226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919843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氨基酰化类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13720" y="4298630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FMOC-Cl [23]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FLEC [24]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3738" y="5241634"/>
            <a:ext cx="2130945" cy="783796"/>
          </a:xfrm>
          <a:prstGeom prst="roundRect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22118" y="5298668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HPLC–CD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7624" y="5725034"/>
            <a:ext cx="2020723" cy="246221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液相色谱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–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圆二色检测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4749241" y="5241634"/>
            <a:ext cx="6429574" cy="783796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4853339" y="5339608"/>
            <a:ext cx="3067825" cy="58784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945190" y="5400843"/>
            <a:ext cx="1165773" cy="492443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600" b="1">
                <a:solidFill>
                  <a:srgbClr val="148477"/>
                </a:solidFill>
                <a:latin typeface="Noto Sans CJK SC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48477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异硫氰酸酯类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80469" y="5400843"/>
            <a:ext cx="1748660" cy="26161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700" b="0">
                <a:solidFill>
                  <a:srgbClr val="233A50"/>
                </a:solidFill>
                <a:latin typeface="Noto Sans CJK SC"/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PITC–PTH [25]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00769" y="5339608"/>
            <a:ext cx="3067825" cy="58784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092620" y="5400843"/>
            <a:ext cx="1165773" cy="492443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600" b="1">
                <a:solidFill>
                  <a:srgbClr val="148477"/>
                </a:solidFill>
                <a:latin typeface="Noto Sans CJK SC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48477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芳香亲核取代类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27898" y="5400843"/>
            <a:ext cx="1748660" cy="26161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700" b="0">
                <a:solidFill>
                  <a:srgbClr val="233A50"/>
                </a:solidFill>
                <a:latin typeface="Noto Sans CJK SC"/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NBD-F [26]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2688336" y="1728216"/>
            <a:ext cx="2057400" cy="0"/>
          </a:xfrm>
          <a:prstGeom prst="line">
            <a:avLst/>
          </a:prstGeom>
          <a:ln w="2540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2734056" y="1069848"/>
            <a:ext cx="1965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2474B5"/>
                </a:solidFill>
                <a:latin typeface="Noto Sans CJK SC"/>
              </a:defRPr>
            </a:pPr>
            <a:r>
              <a:t>①手性固定相</a:t>
            </a:r>
            <a:br/>
            <a:r>
              <a:t>②手性衍生化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34056" y="1810512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2474B5"/>
                </a:solidFill>
                <a:latin typeface="Noto Sans CJK SC"/>
              </a:defRPr>
            </a:pPr>
            <a:r>
              <a:t>UV · 荧光 · MS/MS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688336" y="3090672"/>
            <a:ext cx="2057400" cy="0"/>
          </a:xfrm>
          <a:prstGeom prst="line">
            <a:avLst/>
          </a:prstGeom>
          <a:ln w="25400">
            <a:solidFill>
              <a:srgbClr val="C181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2734056" y="2432304"/>
            <a:ext cx="1965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C18129"/>
                </a:solidFill>
                <a:latin typeface="Noto Sans CJK SC"/>
              </a:defRPr>
            </a:pPr>
            <a:r>
              <a:t>①手性固定相</a:t>
            </a:r>
            <a:br/>
            <a:r>
              <a:t>②手性衍生化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34056" y="3172968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C18129"/>
                </a:solidFill>
                <a:latin typeface="Noto Sans CJK SC"/>
              </a:defRPr>
            </a:pPr>
            <a:r>
              <a:t>FID · MS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2688336" y="4443984"/>
            <a:ext cx="2057400" cy="0"/>
          </a:xfrm>
          <a:prstGeom prst="line">
            <a:avLst/>
          </a:prstGeom>
          <a:ln w="2540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2734056" y="3785616"/>
            <a:ext cx="1965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7B61A8"/>
                </a:solidFill>
                <a:latin typeface="Noto Sans CJK SC"/>
              </a:defRPr>
            </a:pPr>
            <a:r>
              <a:t>①手性选择剂</a:t>
            </a:r>
            <a:br/>
            <a:r>
              <a:t>②手性衍生化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734056" y="4526280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7B61A8"/>
                </a:solidFill>
                <a:latin typeface="Noto Sans CJK SC"/>
              </a:defRPr>
            </a:pPr>
            <a:r>
              <a:t>UV · 荧光 · MS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2688336" y="5632704"/>
            <a:ext cx="2057400" cy="0"/>
          </a:xfrm>
          <a:prstGeom prst="line">
            <a:avLst/>
          </a:prstGeom>
          <a:ln w="25400">
            <a:solidFill>
              <a:srgbClr val="148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2734056" y="5276088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148477"/>
                </a:solidFill>
                <a:latin typeface="Noto Sans CJK SC"/>
              </a:defRPr>
            </a:pPr>
            <a:r>
              <a:t>非手性衍生化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34056" y="5715000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148477"/>
                </a:solidFill>
                <a:latin typeface="Noto Sans CJK SC"/>
              </a:defRPr>
            </a:pPr>
            <a:r>
              <a:t>CD · UV · 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612880" cy="49377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2600" b="1">
                <a:solidFill>
                  <a:srgbClr val="172F49"/>
                </a:solidFill>
                <a:latin typeface="Noto Sans CJK SC"/>
              </a:defRPr>
            </a:pPr>
            <a:r>
              <a:t>选择原则：文献初筛 → 三条候选路线 → 实验复筛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868680"/>
            <a:ext cx="411480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t>已有分析方法与衍生化试剂</a:t>
            </a:r>
          </a:p>
        </p:txBody>
      </p:sp>
      <p:pic>
        <p:nvPicPr>
          <p:cNvPr id="4" name="Picture 3" descr="selection_overview_in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463040"/>
            <a:ext cx="4242816" cy="3611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2336" y="5321808"/>
            <a:ext cx="3886200" cy="31089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617389"/>
                </a:solidFill>
                <a:latin typeface="Noto Sans CJK SC"/>
              </a:defRPr>
            </a:pPr>
            <a:r>
              <a:t>左图为方法概览，完整细节见上一页</a:t>
            </a:r>
          </a:p>
        </p:txBody>
      </p:sp>
      <p:sp>
        <p:nvSpPr>
          <p:cNvPr id="6" name="Right Brace 5"/>
          <p:cNvSpPr/>
          <p:nvPr/>
        </p:nvSpPr>
        <p:spPr>
          <a:xfrm>
            <a:off x="4562856" y="1463040"/>
            <a:ext cx="256032" cy="3639312"/>
          </a:xfrm>
          <a:prstGeom prst="rightBrace">
            <a:avLst/>
          </a:prstGeom>
          <a:noFill/>
          <a:ln w="25400">
            <a:solidFill>
              <a:srgbClr val="148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65192" y="932688"/>
            <a:ext cx="1572768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800" b="1">
                <a:solidFill>
                  <a:srgbClr val="148477"/>
                </a:solidFill>
                <a:latin typeface="Noto Sans CJK SC"/>
              </a:defRPr>
            </a:pPr>
            <a:r>
              <a:t>文献初筛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01184" y="1399032"/>
            <a:ext cx="1691640" cy="1536192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10912" y="1536192"/>
            <a:ext cx="1472184" cy="29260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8477"/>
                </a:solidFill>
                <a:latin typeface="Noto Sans CJK SC"/>
              </a:defRPr>
            </a:pPr>
            <a:r>
              <a:t>01 构型保持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10912" y="1856231"/>
            <a:ext cx="1472184" cy="46634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非手性标签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控制消旋风险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2350008"/>
            <a:ext cx="1472184" cy="29260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48477"/>
                </a:solidFill>
                <a:latin typeface="Noto Sans CJK SC"/>
              </a:defRPr>
            </a:pPr>
            <a:r>
              <a:t>02 UV/CD可测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0912" y="2688336"/>
            <a:ext cx="1472184" cy="23774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适宜发色团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83480" y="3136392"/>
            <a:ext cx="1207008" cy="310896"/>
          </a:xfrm>
          <a:prstGeom prst="rightArrow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3557016"/>
            <a:ext cx="1600200" cy="5486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500" b="0">
                <a:solidFill>
                  <a:srgbClr val="148477"/>
                </a:solidFill>
                <a:latin typeface="Noto Sans CJK SC"/>
              </a:defRPr>
            </a:pPr>
            <a:r>
              <a:t>依据 01＋02</a:t>
            </a:r>
          </a:p>
          <a:p>
            <a:pPr algn="ctr">
              <a:spcAft>
                <a:spcPts val="300"/>
              </a:spcAft>
              <a:defRPr sz="1500" b="0">
                <a:solidFill>
                  <a:srgbClr val="148477"/>
                </a:solidFill>
                <a:latin typeface="Noto Sans CJK SC"/>
              </a:defRPr>
            </a:pPr>
            <a:r>
              <a:t>形成候选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932688"/>
            <a:ext cx="1984248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800" b="1">
                <a:solidFill>
                  <a:srgbClr val="172F49"/>
                </a:solidFill>
                <a:latin typeface="Noto Sans CJK SC"/>
              </a:defRPr>
            </a:pPr>
            <a:r>
              <a:t>三条候选思路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30568" y="1481328"/>
            <a:ext cx="194767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0296" y="1572768"/>
            <a:ext cx="1728216" cy="32918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2474B5"/>
                </a:solidFill>
                <a:latin typeface="Noto Sans CJK SC"/>
              </a:defRPr>
            </a:pPr>
            <a:r>
              <a:t>PITC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975104"/>
            <a:ext cx="1801368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已有PTC法作基线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30568" y="2551176"/>
            <a:ext cx="194767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81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0296" y="2642616"/>
            <a:ext cx="1728216" cy="32918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C18129"/>
                </a:solidFill>
                <a:latin typeface="Noto Sans CJK SC"/>
              </a:defRPr>
            </a:pPr>
            <a:r>
              <a:t>AQC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044952"/>
            <a:ext cx="1801368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作为稳定定量参照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30568" y="3621024"/>
            <a:ext cx="194767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0296" y="3712463"/>
            <a:ext cx="1728216" cy="32918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7B61A8"/>
                </a:solidFill>
                <a:latin typeface="Noto Sans CJK SC"/>
              </a:defRPr>
            </a:pPr>
            <a:r>
              <a:t>OPA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114800"/>
            <a:ext cx="1801368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非手性硫醇・快反应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8856" y="4626864"/>
            <a:ext cx="192024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100" b="0">
                <a:solidFill>
                  <a:srgbClr val="617389"/>
                </a:solidFill>
                <a:latin typeface="Noto Sans CJK SC"/>
              </a:defRPr>
            </a:pPr>
            <a:r>
              <a:t>均为待实验评价的候选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7112" y="2459736"/>
            <a:ext cx="859536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600" b="1">
                <a:solidFill>
                  <a:srgbClr val="C18129"/>
                </a:solidFill>
                <a:latin typeface="Noto Sans CJK SC"/>
              </a:defRPr>
            </a:pPr>
            <a:r>
              <a:t>03＋04</a:t>
            </a:r>
          </a:p>
          <a:p>
            <a:pPr algn="ctr">
              <a:spcAft>
                <a:spcPts val="300"/>
              </a:spcAft>
              <a:defRPr sz="1600" b="1">
                <a:solidFill>
                  <a:srgbClr val="C18129"/>
                </a:solidFill>
                <a:latin typeface="Noto Sans CJK SC"/>
              </a:defRPr>
            </a:pPr>
            <a:r>
              <a:t>实验复筛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915400" y="3136392"/>
            <a:ext cx="850392" cy="310896"/>
          </a:xfrm>
          <a:prstGeom prst="rightArrow">
            <a:avLst/>
          </a:prstGeom>
          <a:solidFill>
            <a:srgbClr val="C1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8672" y="932688"/>
            <a:ext cx="192024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800" b="1">
                <a:solidFill>
                  <a:srgbClr val="C18129"/>
                </a:solidFill>
                <a:latin typeface="Noto Sans CJK SC"/>
              </a:defRPr>
            </a:pPr>
            <a:r>
              <a:t>接下来验证什么？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66960" y="1481328"/>
            <a:ext cx="1901952" cy="1517904"/>
          </a:xfrm>
          <a:prstGeom prst="roundRect">
            <a:avLst/>
          </a:prstGeom>
          <a:solidFill>
            <a:srgbClr val="FB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76688" y="1609344"/>
            <a:ext cx="1682496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C18129"/>
                </a:solidFill>
                <a:latin typeface="Noto Sans CJK SC"/>
              </a:defRPr>
            </a:pPr>
            <a:r>
              <a:t>03 D/L定量关系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76688" y="2148840"/>
            <a:ext cx="1682496" cy="71323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镜像响应与抵消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CD/UV—ee校准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浓度适用范围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66960" y="3218688"/>
            <a:ext cx="1901952" cy="1737360"/>
          </a:xfrm>
          <a:prstGeom prst="roundRect">
            <a:avLst/>
          </a:prstGeom>
          <a:solidFill>
            <a:srgbClr val="FB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76688" y="3355848"/>
            <a:ext cx="1682496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C18129"/>
                </a:solidFill>
                <a:latin typeface="Noto Sans CJK SC"/>
              </a:defRPr>
            </a:pPr>
            <a:r>
              <a:t>04 实际样品适用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76688" y="3895344"/>
            <a:ext cx="1682496" cy="9144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Phe、Leu、Lys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水解/衍生构型保持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回收、稳定性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Lys多位点反应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10328" y="5120640"/>
            <a:ext cx="6958584" cy="1024128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47488" y="5221224"/>
            <a:ext cx="6647688" cy="28346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8477"/>
                </a:solidFill>
                <a:latin typeface="Noto Sans CJK SC"/>
              </a:defRPr>
            </a:pPr>
            <a:r>
              <a:t>HPLC–CD＋非手性衍生化的优势（已发表体系）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5559552"/>
            <a:ext cx="6647688" cy="49377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无需拆分D/L即可求比例 [26]；UV含量与CD手性信息互补 [26]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可建立D/L衍生物相反CD响应的判据 [25]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364224"/>
            <a:ext cx="11457432" cy="28346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617389"/>
                </a:solidFill>
                <a:latin typeface="Noto Sans CJK SC"/>
              </a:defRPr>
            </a:pPr>
            <a:r>
              <a:t>优势依据：NBD-F体系[26]、PTH体系[25]；不代表AQC、OPA或常规PTC已获得同等CD性能。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2346</Words>
  <Application>Microsoft Office PowerPoint</Application>
  <PresentationFormat>宽屏</PresentationFormat>
  <Paragraphs>111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Noto Sans CJK SC</vt:lpstr>
      <vt:lpstr>等线</vt:lpstr>
      <vt:lpstr>Arial</vt:lpstr>
      <vt:lpstr>Calibri</vt:lpstr>
      <vt:lpstr>1_Office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婧文 徐</cp:lastModifiedBy>
  <cp:revision>5</cp:revision>
  <dcterms:created xsi:type="dcterms:W3CDTF">2023-08-09T12:44:00Z</dcterms:created>
  <dcterms:modified xsi:type="dcterms:W3CDTF">2026-10-27T11:33:40Z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