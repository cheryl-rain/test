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  <p:sldId id="364" r:id="rId8"/>
    <p:sldId id="365" r:id="rId9"/>
    <p:sldId id="36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本图为代表性文献实例，不穷尽所有方法。右侧每种试剂不自动适配同一平台的全部路线或检测器。HPLC-CD不是独立色谱分离机制，而是HPLC与CD检测联用，为展示目的单列。</a:t>
            </a:r>
          </a:p>
          <a:p>
            <a:r>
              <a:t>HPLC：手性固定相[1,5,8–11]；手性衍生化[2–4,6–7]。HPLC荧光支持另见补充文献D1，DOI 10.1016/j.jchromb.2006.07.022。</a:t>
            </a:r>
          </a:p>
          <a:p>
            <a:r>
              <a:t>GC：非手性氯甲酸酯衍生物配手性柱[12–14]；氯甲酸乙酯＋手性醇后用非手性柱[15]。</a:t>
            </a:r>
          </a:p>
          <a:p>
            <a:r>
              <a:t>CE：溶液中的手性选择剂不是固定相；CZE与MEKC路线[16–24]。CE-MS补充文献D2，DOI 10.1002/elps.201600015。</a:t>
            </a:r>
          </a:p>
          <a:p>
            <a:r>
              <a:t>HPLC-CD：PITC是试剂，PTH是经Edman路线生成的产物[25]，不能替代常规PTC的CD证据。NBD-F衍生化在线CD见[26]。</a:t>
            </a:r>
          </a:p>
          <a:p>
            <a:r>
              <a:t>Trp色氨酸、Phe苯丙氨酸是待测物，已移到试剂容器外的未衍生化实例说明。[27]为手性CROWNPAK CR(+)＋在线CD分析Trp，样品为标准及酶反应液；[28]实际在线CD分析Phe采用非手性HSS T3并用于猪胰岛素水解液，该文手性柱仅另用于D-Phe标准纯度检查。</a:t>
            </a:r>
          </a:p>
          <a:p>
            <a:r>
              <a:t>非手性试剂不保证不消旋；非手性分离不拆分同种氨基酸D/L时，净CD/总UV定量需要单独校准。</a:t>
            </a:r>
          </a:p>
          <a:p>
            <a:r>
              <a:t>常规OPA＋硫醇反应主要适于伯胺，不覆盖Pro等仲胺。AQC与FMOC-Cl合并为功能性“氨基酰化类”，不表示AQC是氯甲酸酯或产物为氨基甲酸酯。NDA也需依原方法使用共反应物，图中文字为试剂名称缩写，并非完整配方。</a:t>
            </a:r>
          </a:p>
          <a:p>
            <a:r>
              <a:t>范围限制性文献[34–35]：不支持将所有硅烷化、酰化/酯化GC路线断言不可行；本图仅保留已核查的具体路线。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依据用户第二页的左图/大括号/文献初筛/三个候选/实验复筛布局重整。文献初筛并非排除所有无现成CD文献的研究候选，而是将“已有UV/反应依据”与“待验证CD假设”区分。将原文“非手性试剂不会导致消旋”修正：非手性只表示不另引固定手性中心，消旋必须考察。已有手性柱/原生CD路线[27,28]并入左图，平台不再被描述为仅可非手性衍生化。PITC是原有PTC基线，不能沿用PTH的CD判断；AQC稳定脲和直接进样依据[30]；OPA快速/自动化依据[31]，稳定性需条件化[32]。三个方案的CD信号强弱/稳定性排名尚无本课题实测对比，不预设最优者。EE简要方案为拟议设计：固定总摩尔浓度、先混D/L后一起衍生、带符号CD/UV峰面积比拟合ee、独立质控/浓度挑战。UV/CD互补与不拆分比例思路参考[26]，镜像响应参考[25]，不是各候选的既定能力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本页明确为尚未实施的实验设计，不包含测定数据或虚构回归系数。CT固定、已校正纯度/盐型的D/L标液按物质的量配比后统一衍生，避免仅事后混合衍生物掩盖反应选择性。eeD百分数范围-100至+100，R=a eeD+b中的ee单位始终用百分数；未知样品eeD=(R-b)/a。S_CD必须是带符号峰面积，不可取绝对值；S_UV反映同一目标衍生物总量，不能混入其他共洗脱组分。若两个检测器串联，校正流路时延并一致积分，CD和UV检测波长/增益固定。经验R不是未经单位/光程换算的无量纲g。每种氨基酸、试剂、产物和条件独立建模；先检验D/L镜像、外消旋抵消、相同反应效率及无消旋，检查残差/失拟，不应仅以高R²接受。Lys多位点产物先确认单/双衍生物身份与定量峰。独立QC与浓度挑战用于证实模型可转移。高ee的少量反对映体不能仅凭相减法认为达到痕量定量能力，须与手性分离正交验证。UV/CD低于适用定量/信噪范围时不报告可靠ee。水解对照的游离氨基酸不能完全替代已知构型肽的真实释放/消旋过程，因此两类对照互补。文献25证明标准PTH响应及水解液应用，文献26证明NBD-F/CD-g因子比例方法；本页具体水平和QC为研究建议，并非对PTC/AQC/OPA既定线性性能的承诺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只涉及文献支持的反应/产物/流程特点及本项目的研究分工。PITC经典文献29指出快速、高效地形成PTC并用于蛋白水解物伯/仲胺UV分析，不能将用户某个1h反应/萃取方案视为PITC方法固有地慢。AQC文献30明确稳定非对称脲、快速一步反应、直接进样、pH和试剂过量影响收率；这不证明AQC在本项目CD信号最强。OPA文献31总结快速反应、自动化、非手性硫醇荧光应用；文献32指出特定OPA/ME产物柱上稳定，因此不能泛称所有OPA产物均极不稳定。等待进样稳定性需按实际硫醇/目标AA/pH测定。原文献6在手性硫醇OPA体系指出产品稳定性问题及在线衍生改善，只能作特定体系补充，不与非手性体系混同。文献33的OPA-FMOC组合、不同运行时间/基质结果不是本课题三候选直接在线CD比较。主张是互补对照，不给出没有同平台数据支持的灵敏度、成本、回收或CD排名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000" b="1">
                <a:solidFill>
                  <a:srgbClr val="617389"/>
                </a:solidFill>
                <a:latin typeface="Noto Sans CJK SC"/>
              </a:defRPr>
            </a:pPr>
            <a:r>
              <a:t>衍生化试剂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449824"/>
            <a:ext cx="2130945" cy="100584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5046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93445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449824"/>
            <a:ext cx="6429574" cy="100584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5464" y="5541264"/>
            <a:ext cx="305409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2040" y="560527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592531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PITC → 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10144" y="5541264"/>
            <a:ext cx="305409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19" y="560527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19" y="592531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NBD-F [26]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547104"/>
            <a:ext cx="1097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617389"/>
                </a:solidFill>
                <a:latin typeface="Noto Sans CJK SC"/>
              </a:defRPr>
            </a:pPr>
            <a:r>
              <a:t>未衍生化实例（非试剂）：色氨酸Trp＋手性柱[27]；苯丙氨酸Phe＋非手性柱[28]。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t>UV · 荧光 · MS/MS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t>FID · 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①手性选择剂</a:t>
            </a:r>
            <a:br/>
            <a:r>
              <a:t>②手性衍生化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t>UV · 荧光 · MS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688336" y="5925312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734056" y="526694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①手性固定相</a:t>
            </a:r>
            <a:br/>
            <a:r>
              <a:t>②非手性分离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4056" y="600760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t>CD · UV ·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选择原则：文献初筛 → 三条候选思路 → 实验复筛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已有分析方法与衍生化试剂</a:t>
            </a:r>
          </a:p>
        </p:txBody>
      </p:sp>
      <p:pic>
        <p:nvPicPr>
          <p:cNvPr id="4" name="Picture 3" descr="selection_updated_method_i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353312"/>
            <a:ext cx="4919472" cy="4142232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5129784" y="1353312"/>
            <a:ext cx="201168" cy="4142232"/>
          </a:xfrm>
          <a:prstGeom prst="rightBrace">
            <a:avLst/>
          </a:prstGeom>
          <a:noFill/>
          <a:ln w="25400">
            <a:solidFill>
              <a:srgbClr val="14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13248" y="868680"/>
            <a:ext cx="19019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文献初筛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3248" y="1353312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3832" y="148132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8477"/>
                </a:solidFill>
                <a:latin typeface="Noto Sans CJK SC"/>
              </a:defRPr>
            </a:pPr>
            <a:r>
              <a:t>1 选择HPLC–CD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2" y="1920240"/>
            <a:ext cx="17190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UV/CD信息互补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不拆分D/L求比例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特定AA直测 [27,28]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3675887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2" y="3794760"/>
            <a:ext cx="1719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2 筛选衍生化试剂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2" y="4352544"/>
            <a:ext cx="1719072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非手性≠不会消旋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UV/CD响应须实测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兼顾效率与稳定性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0136" y="3172968"/>
            <a:ext cx="1975104" cy="274320"/>
          </a:xfrm>
          <a:prstGeom prst="rightArrow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868680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72F49"/>
                </a:solidFill>
                <a:latin typeface="Noto Sans CJK SC"/>
              </a:defRPr>
            </a:pPr>
            <a:r>
              <a:t>三条候选思路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1170432"/>
            <a:ext cx="19751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拟用HPLC–UV/CD评价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55448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165506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2474B5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12140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现有方法作基线 [29]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PTC的CD待验证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8392" y="283464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1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8975" y="293522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C18129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40156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稳定脲衍生物 [30]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pH/CD需确认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8392" y="411480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421538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7B61A8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468172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快速、易自动化 [31]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稳定性依条件 [32]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38360" y="3191256"/>
            <a:ext cx="329184" cy="265176"/>
          </a:xfrm>
          <a:prstGeom prst="rightArrow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5832" y="8686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C18129"/>
                </a:solidFill>
                <a:latin typeface="Noto Sans CJK SC"/>
              </a:defRPr>
            </a:pPr>
            <a:r>
              <a:t>实验复筛思路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85832" y="13533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14813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1 实际样品适用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6416" y="1993392"/>
            <a:ext cx="171907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峰归属与UV/CD信号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稳定性/回收/精密度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水解与衍生构型保持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Phe、Leu、Lys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5832" y="36393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37673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2 D/L定量关系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4288536"/>
            <a:ext cx="1719072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固定总浓度混配D/L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一起衍生，测CD/UV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拟合响应比—ee曲线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浓度挑战＋独立质控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705856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未衍生化实例在图下单列，不属于试剂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3248" y="5733288"/>
            <a:ext cx="6592824" cy="70408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5824728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8477"/>
                </a:solidFill>
                <a:latin typeface="Noto Sans CJK SC"/>
              </a:defRPr>
            </a:pPr>
            <a:r>
              <a:t>拟利用的优势：非手性标签＋UV/CD联合信息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6135624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10" b="0">
                <a:solidFill>
                  <a:srgbClr val="243B50"/>
                </a:solidFill>
                <a:latin typeface="Noto Sans CJK SC"/>
              </a:defRPr>
            </a:pPr>
            <a:r>
              <a:t>不必拆分D/L即可校准比例 [26]；D/L可呈相反CD响应 [25]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11430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上述CD优势来自NBD-F/PTH文献，不代表三候选已验证。ee详细方案见第3页；三法差异见第4页。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ee校准思路：固定总浓度，建立响应比—ee关系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适用于非手性LC上同一氨基酸的D/L共洗脱；手性柱分离时，应分别校准D、L峰。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" y="1261872"/>
            <a:ext cx="11384280" cy="585216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9903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eeD = (cD − cL) / (cD + cL) × 100%   （D为正；不代表CD峰一定为正）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① 按物质的量配制9个比例水平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487168"/>
            <a:ext cx="4480560" cy="256032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51917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D:L摩尔比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251917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理论eeD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752344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8434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100:0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78434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017520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4952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90:10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04952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82696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1470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75:25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31470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+50%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547872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57987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60:40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357987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813048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84505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50:50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384505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078224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11022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40:60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11022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343400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37540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25:75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437540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−50%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608576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64058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10:90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464058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−80%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4873752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90575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0:100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5768" y="490575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4416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CT = cD＋cL保持恒定，浓度由预实验选定。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先按纯度、盐型校正，再混合并一起衍生。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0952" y="2011680"/>
            <a:ext cx="6428232" cy="194767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2167128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② 取带符号响应比，再检验线性模型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2688336"/>
            <a:ext cx="6062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172F49"/>
                </a:solidFill>
                <a:latin typeface="Noto Sans CJK SC"/>
              </a:defRPr>
            </a:pPr>
            <a:r>
              <a:t>R = SCD / SUV；拟合 R = a·eeD＋b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3832" y="3209544"/>
            <a:ext cx="606247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S为峰面积；CD面积保留正负号，校正空白、基线与通道时延。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R是经验响应比，不直接等于g因子；每个氨基酸单独校准。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30952" y="4160520"/>
            <a:ext cx="642823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3832" y="4297680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③ 用独立样品验证，不只看校准点或R²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3832" y="4773168"/>
            <a:ext cx="60624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独立配制±40%、±70%等QC；固定ee改变CT，检查浓度依赖。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高ee端加密；需要微量对映体结论时用手性LC复核。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设置经/不经水解的对照，并用已知构型肽排查水解与衍生偏差。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6016752"/>
            <a:ext cx="11320272" cy="43891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117336"/>
            <a:ext cx="109910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建议每点≥3份独立制备；先确认目标峰/产物与响应线性，再预设回算偏差和精密度接受标准。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83680"/>
            <a:ext cx="11338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依据[25–26]提出的实验方案，尚未执行；9点、QC与重复数为本项目建议，不是原文照录。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三条候选思路：比较的是实验分工，不是预设CD性能排名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PITC作已有方法基线，AQC作稳定标记参照，OPA作快速流程候选；最终由同一验证框架筛选。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25880"/>
            <a:ext cx="1920240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比较维度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308152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417320"/>
            <a:ext cx="2898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PITC（本项目PTC）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7256" y="1325880"/>
            <a:ext cx="3090672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68696" y="1417320"/>
            <a:ext cx="2907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86216" y="1325880"/>
            <a:ext cx="317296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1417320"/>
            <a:ext cx="2990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1764792"/>
            <a:ext cx="1920240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56231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产物与检测依据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1764792"/>
            <a:ext cx="308152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856231"/>
            <a:ext cx="2898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PTC衍生物；蛋白水解物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UV分析 [29]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7256" y="1764792"/>
            <a:ext cx="3090672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1856231"/>
            <a:ext cx="2907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稳定非对称脲；水解物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6216" y="1764792"/>
            <a:ext cx="317296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6" y="1856231"/>
            <a:ext cx="29900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异吲哚衍生物；蛋白组成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2514600"/>
            <a:ext cx="1920240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606040"/>
            <a:ext cx="173736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相对可取之处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2514600"/>
            <a:ext cx="308152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606040"/>
            <a:ext cx="289864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衔接已有样品/色谱条件；便于形成方法基线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7256" y="2514600"/>
            <a:ext cx="3090672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2606040"/>
            <a:ext cx="2907791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稳定标记，反应液可直接进样；便于评价等待进样影响 [30]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86216" y="2514600"/>
            <a:ext cx="317296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7656" y="2606040"/>
            <a:ext cx="299008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快速反应、易自动化；适合比较高效率流程 [31]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474720"/>
            <a:ext cx="1920240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566160"/>
            <a:ext cx="1737360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应付出的验证工作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474720"/>
            <a:ext cx="308152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566160"/>
            <a:ext cx="289864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确认PTC身份、副产物与回收；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不可套用PTH的CD结论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7256" y="3474720"/>
            <a:ext cx="3090672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68696" y="3566160"/>
            <a:ext cx="2907791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量测最终反应pH；确认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反应完成后评价CD信噪比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6216" y="3474720"/>
            <a:ext cx="317296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7656" y="3566160"/>
            <a:ext cx="299008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不覆盖Pro等仲胺；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硫醇/计时/稳定性需验证 [31–32]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" y="4599431"/>
            <a:ext cx="1920240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690871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当前CD证据边界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4599431"/>
            <a:ext cx="308152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4690871"/>
            <a:ext cx="289864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有PTH-CD文献 [25]；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不等同PTC-CD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77256" y="4599431"/>
            <a:ext cx="3090672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8696" y="4690871"/>
            <a:ext cx="290779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有AQC手性LC证据 [11]；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不等同CD证据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86216" y="4599431"/>
            <a:ext cx="317296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7656" y="4690871"/>
            <a:ext cx="299008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常规HPLC/FLD证据 [31]；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不等同在线CD证据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5513831"/>
            <a:ext cx="1920240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5605271"/>
            <a:ext cx="1737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本项目研究定位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5513831"/>
            <a:ext cx="308152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5605271"/>
            <a:ext cx="2898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现有方法基线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77256" y="5513831"/>
            <a:ext cx="3090672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68696" y="5605271"/>
            <a:ext cx="2907791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稳定定量/批量分析参照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86216" y="5513831"/>
            <a:ext cx="317296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77656" y="5605271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快速衍生化候选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09360"/>
            <a:ext cx="11201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617389"/>
                </a:solidFill>
                <a:latin typeface="Noto Sans CJK SC"/>
              </a:defRPr>
            </a:pPr>
            <a:r>
              <a:t>[33]比较的是特定基质中的OPA–FMOC/PITC/AQC组成分析；不能外推为OPA单独体系或CD的优劣排名。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