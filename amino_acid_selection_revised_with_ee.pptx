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notesMasterIdLst>
    <p:notesMasterId r:id="rId3"/>
  </p:notesMasterIdLst>
  <p:sldIdLst>
    <p:sldId id="363" r:id="rId2"/>
    <p:sldId id="364" r:id="rId8"/>
    <p:sldId id="365" r:id="rId9"/>
    <p:sldId id="366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77" d="100"/>
          <a:sy n="77" d="100"/>
        </p:scale>
        <p:origin x="48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0F858-5A8C-46F9-9D7B-06ACCACED253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9D835F-F6BE-4282-94CE-31CB0B36F3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3761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独立文献核查版。第1页为主图，方块后的编号与配套文献表一致。不是全部试剂或全部氨基酸的兼容性清单。真实蛋白/肽水解液、游离氨基酸实样和标准品研究分别在配套报告标明。CD中AQC、OPA、PTC不保留。GC中的硅烷化及酸酐酯化未放入主图，见限制性文献29、30。HPLC-CD是HPLC的联用子类，单列仅为突出研究路线。</a:t>
            </a:r>
          </a:p>
          <a:p>
            <a:r>
              <a:t>HPLC/UHPLC｜异硫氰酸酯类｜FITC → [01]</a:t>
            </a:r>
          </a:p>
          <a:p>
            <a:r>
              <a:t>HPLC/UHPLC｜异硫氰酸酯类｜GITC → [02]</a:t>
            </a:r>
          </a:p>
          <a:p>
            <a:r>
              <a:t>HPLC/UHPLC｜芳香亲核取代类｜FDAA → [02],[03]</a:t>
            </a:r>
          </a:p>
          <a:p>
            <a:r>
              <a:t>HPLC/UHPLC｜芳香亲核取代类｜FDLA → [04]</a:t>
            </a:r>
          </a:p>
          <a:p>
            <a:r>
              <a:t>HPLC/UHPLC｜芳香亲核取代类｜NBD-F → [05]</a:t>
            </a:r>
          </a:p>
          <a:p>
            <a:r>
              <a:t>HPLC/UHPLC｜OPA类｜OPA＋NAC → [06]</a:t>
            </a:r>
          </a:p>
          <a:p>
            <a:r>
              <a:t>HPLC/UHPLC｜OPA类｜OPA＋IBLC → [02],[06]</a:t>
            </a:r>
          </a:p>
          <a:p>
            <a:r>
              <a:t>HPLC/UHPLC｜OPA类｜OPA＋DiCys → [07]</a:t>
            </a:r>
          </a:p>
          <a:p>
            <a:r>
              <a:t>HPLC/UHPLC｜磺酰氯类｜Dansyl-Cl → [08]</a:t>
            </a:r>
          </a:p>
          <a:p>
            <a:r>
              <a:t>HPLC/UHPLC｜磺酰氯类｜Dabsyl-Cl → [09]</a:t>
            </a:r>
          </a:p>
          <a:p>
            <a:r>
              <a:t>HPLC/UHPLC｜氨基酰化类｜FMOC-Cl → [10]</a:t>
            </a:r>
          </a:p>
          <a:p>
            <a:r>
              <a:t>HPLC/UHPLC｜氨基酰化类｜AQC → [11]</a:t>
            </a:r>
          </a:p>
          <a:p>
            <a:r>
              <a:t>GC｜氯甲酸酯类｜氯甲酸甲酯（MCF） → [12]</a:t>
            </a:r>
          </a:p>
          <a:p>
            <a:r>
              <a:t>GC｜氯甲酸酯类｜五氟丙基氯甲酸酯（PFPCF） → [13]</a:t>
            </a:r>
          </a:p>
          <a:p>
            <a:r>
              <a:t>GC｜氯甲酸酯类｜七氟丁基氯甲酸酯（HFBCF） → [14]</a:t>
            </a:r>
          </a:p>
          <a:p>
            <a:r>
              <a:t>GC｜氯甲酸酯＋手性醇组合｜氯甲酸乙酯＋(S)-(+)-3-甲基-2-丁醇 → [15]</a:t>
            </a:r>
          </a:p>
          <a:p>
            <a:r>
              <a:t>CE｜异硫氰酸酯类｜FITC → [16]</a:t>
            </a:r>
          </a:p>
          <a:p>
            <a:r>
              <a:t>CE｜异硫氰酸酯类｜(R)-NCS → [17]</a:t>
            </a:r>
          </a:p>
          <a:p>
            <a:r>
              <a:t>CE｜芳香亲核取代类｜NBD-F → [18]</a:t>
            </a:r>
          </a:p>
          <a:p>
            <a:r>
              <a:t>CE｜芳香亲核取代类｜DTAF → [19]</a:t>
            </a:r>
          </a:p>
          <a:p>
            <a:r>
              <a:t>CE｜芳香二醛类｜OPA＋2-巯基乙醇（ME） → [20]</a:t>
            </a:r>
          </a:p>
          <a:p>
            <a:r>
              <a:t>CE｜芳香二醛类｜OPA＋手性硫醇 → [21]</a:t>
            </a:r>
          </a:p>
          <a:p>
            <a:r>
              <a:t>CE｜芳香二醛类｜NDA → [22]</a:t>
            </a:r>
          </a:p>
          <a:p>
            <a:r>
              <a:t>CE｜磺酰氯类｜Dansyl-Cl → [16]</a:t>
            </a:r>
          </a:p>
          <a:p>
            <a:r>
              <a:t>CE｜氨基酰化类｜FMOC-Cl → [23]</a:t>
            </a:r>
          </a:p>
          <a:p>
            <a:r>
              <a:t>CE｜氨基酰化类｜FLEC → [24]</a:t>
            </a:r>
          </a:p>
          <a:p>
            <a:r>
              <a:t>HPLC–CD｜异硫氰酸酯/后续转化路线｜PITC–PTH → [25]</a:t>
            </a:r>
          </a:p>
          <a:p>
            <a:r>
              <a:t>HPLC–CD｜芳香亲核取代类｜NBD-F → [26]</a:t>
            </a:r>
          </a:p>
          <a:p>
            <a:r>
              <a:t>[01] Chiral nano-liquid chromatography-mass spectrometry applied to amino acids analysis for orange juice profiling. (2008). DOI 10.1016/j.foodchem.2007.11.062. HPLC：FITC标记后在万古霉素手性固定相上进行nano-LC–MS分析。 核查层级：公开摘要与书目。证据位置：摘要：FITC、vancomycin-modified silica-diol、orange juice段。</a:t>
            </a:r>
          </a:p>
          <a:p>
            <a:r>
              <a:t>[02] Chirality determination of unusual amino acids using precolumn derivatization and liquid chromatography-electrospray ionization mass spectrometry. (2004). DOI 10.1016/j.chroma.2004.02.068. HPLC：直接比较FDAA、GITC、S-NIFE及OPA–IBLC；经反相HPLC–UV/ESI-MS分析非常见氨基酸立体异构体。 核查层级：公开摘要与书目。证据位置：摘要首句四种试剂及RP-HPLC/UV/MS段。</a:t>
            </a:r>
          </a:p>
          <a:p>
            <a:r>
              <a:t>[03] LC-MS/MS-Based Separation and Quantification of Marfey's Reagent Derivatized Proteinogenic Amino Acid DL-Stereoisomers. (2019). DOI 10.1007/s13361-018-2093-9. HPLC：FDAA/Marfey衍生化结合反相LC–MS/MS，实现19对常见手性氨基酸的分离定量。 核查层级：公开摘要与书目。证据位置：摘要：Marfey derivatization、19 pairs、MRSA extracts段。</a:t>
            </a:r>
          </a:p>
          <a:p>
            <a:r>
              <a:t>[04] Reliable and sensitive analysis of amino acids in the peptidoglycan of actinomycetes using the advanced Marfey's method. (2007). DOI 10.1016/j.mimet.2007.05.003. HPLC：L-/D-FDLA advanced Marfey法，结合LC/MS确定细胞壁氨基酸构型。 核查层级：公开摘要与书目。证据位置：摘要：L-FDLA/D-FDLA、acid hydrolysis、cell wall段。</a:t>
            </a:r>
          </a:p>
          <a:p>
            <a:r>
              <a:t>[05] Simultaneous determination of hydrophilic amino acid enantiomers in mammalian tissues and physiological fluids applying a fully automated micro-two-dimensional high-performance liquid chromatographic concept. (2010). DOI 10.1016/j.chroma.2009.09.002. HPLC：NBD-F标记后，反相一维分离组分，Pirkle型手性二维拆分对映体。 核查层级：公开摘要与书目。证据位置：摘要：NBD-F、Pirkle type enantioselective column、rat plasma/urine段。</a:t>
            </a:r>
          </a:p>
          <a:p>
            <a:r>
              <a:t>[06] High-performance liquid chromatography evaluation of the enantiomeric purity of amino acids by means of automated precolumn derivatization with ortho-phthalaldehyde and chiral thiols. (2016). DOI 10.1002/chir.22660. HPLC：OPA＋NAC或IBLC自动柱前衍生化，普通PFP柱分离非对映衍生物并评价对映体杂质。 核查层级：公开摘要与书目。证据位置：摘要：N-acetyl-L-cysteine、N-isobutyryl-L-cysteine、PFP column段。</a:t>
            </a:r>
          </a:p>
          <a:p>
            <a:r>
              <a:t>[07] Dimethylcysteine (DiCys)/o-Phthalaldehyde Derivatization for Chiral Metabolite Analyses: Cross-Comparison of Six Chiral Thiols. (2021). DOI 10.3390/molecules26247416. HPLC：OPA＋DiCys与其他五种手性硫醇比较；LC-MS分析氨基酸对映体。 核查层级：公开摘要与书目。证据位置：摘要：DiCys/OPA、six chiral thiols、rice extracts段。</a:t>
            </a:r>
          </a:p>
          <a:p>
            <a:r>
              <a:t>[08] Enantioseparation of dansyl amino acids by HPLC on a monolithic column dynamically coated with a vancomycin derivative. (2010). DOI 10.1002/bmc.1430. HPLC：Dansyl氨基酸在万古霉素衍生物动态涂覆的整体柱上实现对映体分离。 核查层级：公开摘要与书目。证据位置：摘要：Dansyl amino acids、All investigated compounds were separated段。</a:t>
            </a:r>
          </a:p>
          <a:p>
            <a:r>
              <a:t>[09] Simultaneous analysis of D- and L-serine in cerebrospinal fluid by use of HPLC. (2007). DOI 10.1373/clinchem.2007.086702. HPLC：Dabsyl-serine经预分离、脱盐，再在Sumichiral柱上拆分D/L并以UV–Vis检测。 核查层级：公开摘要与书目。证据位置：摘要Methods、Results及Conclusion。</a:t>
            </a:r>
          </a:p>
          <a:p>
            <a:r>
              <a:t>[10] Imaging Peptide and Protein Chirality via Amino Acid Analysis by Chiral × Chiral Two-Dimensional Correlation Liquid Chromatography. (2018). DOI 10.1021/acs.analchem.8b00676. HPLC：FMOC氨基酸经奎宁/奎尼丁两维手性色谱分析，给出肽水解物组成与构型图。 核查层级：公开摘要与书目。证据位置：摘要：FMOC-derivatized…peptide hydrolysates；gramicidin and bacitracin段。</a:t>
            </a:r>
          </a:p>
          <a:p>
            <a:r>
              <a:t>[11] Comprehensive Online Reversed-Phase × Chiral Two-Dimensional Liquid Chromatography-Mass Spectrometry with Data-Independent Sequential Window Acquisition of All Theoretical Fragment-Ion Spectra-Acquisition for Untargeted Enantioselective Amino Acid Analysis. (2022). DOI 10.1021/acs.analchem.2c03042. HPLC：AQC标记结合反相×手性二维LC–MS/MS，用于治疗肽水解液的组成和构型指认。 核查层级：公开摘要与书目。证据位置：摘要：AQC、chiral tandem column、two peptide hydrolysate samples及oxytocin段。</a:t>
            </a:r>
          </a:p>
          <a:p>
            <a:r>
              <a:t>[12] Gas chromatography-mass spectrometry analysis of amino acid enantiomers as methyl chloroformate derivatives: application to space analysis. (2007). DOI 10.1016/j.chroma.2006.12.033. GC：氯甲酸甲酯/醇/吡啶衍生化，结合Chirasil-L-Val及SIM-MS，实现多对氨基酸对映体分析。 核查层级：公开摘要与书目。证据位置：摘要：methyl/alkyl chloroformate、Chirasil-L-Val、16 pairs段。</a:t>
            </a:r>
          </a:p>
          <a:p>
            <a:r>
              <a:t>[13] Gas chromatographic analysis of amino acid enantiomers in Carbetocin peptide hydrolysates after fast derivatization with pentafluoropropyl chloroformate. (2008). DOI 10.1007/s00726-007-0577-1. GC：五氟丙基氯甲酸酯快速衍生化，结合手性柱GC/FID分析肽水解液。 核查层级：公开摘要与书目。证据位置：题名；摘要：traditional acid hydrolysis、GC/FID、Carbetocin段。</a:t>
            </a:r>
          </a:p>
          <a:p>
            <a:r>
              <a:t>[14] GC separation of amino acid enantiomers via derivatization with heptafluorobutyl chloroformate and Chirasil-L-Val column. (2009). DOI 10.1002/jssc.200900400. GC：七氟丁基氯甲酸酯（HFBCF）衍生化后，在Chirasil-Val柱评价氨基酸对映体分离。 核查层级：公开摘要与书目。证据位置：摘要：HFBCF、19 AA enantiomers、except proline/arginine/cystine段。</a:t>
            </a:r>
          </a:p>
          <a:p>
            <a:r>
              <a:t>[15] Enantioseparation of chiral amino acids as the N(O,S)-ethoxycarbonylated diastereomeric esters by achiral dual-capillary column gas chromatography. (2001). DOI 10.1039/b106610m. GC：氯甲酸乙酯引入EOC保护，再用(S)-(+)-3-甲基-2-丁醇等手性醇酯化；在非手性DB-5/DB-17柱拆分非对映异构体。 核查层级：公开摘要与书目。证据位置：摘要：ethyl chloroformate、chiral alcohol、achiral columns及Yakult段。</a:t>
            </a:r>
          </a:p>
          <a:p>
            <a:r>
              <a:t>[16] Analysis of amino acid enantiomers derived from antitumor antibiotics using chiral capillary electrophoresis. (1997). DOI 10.1016/s0731-7085(97)00020-4. CE：FITC和Dansyl-Cl。文中分别用于LIF及UV检测，结合金属螯合CE和环糊精MEKC分析抗肿瘤缩肽完全水解液。 核查层级：公开摘要与书目。证据位置：摘要中hydrolysate、dansyl chloride、fluorescein isothiocyanate及应用段。</a:t>
            </a:r>
          </a:p>
          <a:p>
            <a:r>
              <a:t>[17] Cyclodextrin-Modified Capillary Zone Electrophoresis for the Chiral Analysis of Proline and Hydroxyproline Stereoisomers in Chicken Collagen Hydrolysates. (2025). DOI 10.3390/ijms26125832. CZE：(R)-NCS为手性异硫氰酸酯；结合β-CD/DM-β-CD分离Pro及羟脯氨酸异构体。OPA/ME在本法中是预封闭伯胺步骤，不是目标仲胺的主标记试剂。 核查层级：全文＋摘要。证据位置：已读全文：2.1、2.2、2.3；3.1、3.3、3.4；Figures 2、5、6。</a:t>
            </a:r>
          </a:p>
          <a:p>
            <a:r>
              <a:t>[18] Chiral separation and determination of excitatory amino acids in brain samples by CE-LIF using dual cyclodextrin system. (2012). DOI 10.1007/s00216-012-6384-x. CE：NBD-F标记Asp/Glu；双环糊精CE-LIF分离并测定脑样品中的对映体。 核查层级：公开摘要与书目。证据位置：摘要：fluorescent derivatization with 4-fluoro-7-nitro…及brain samples段。</a:t>
            </a:r>
          </a:p>
          <a:p>
            <a:r>
              <a:t>[19] CE-LIF chiral separation of aspartic acid and glutamic acid enantiomers using human serum albumin and sodium cholate as dual selectors. (2009). DOI 10.1002/jssc.200900341. CE：DTAF标记Asp/Glu，HSA/胆酸钠双选择剂辅助对映体分离。DTAF属于芳香亲核取代标记，不是异硫氰酸酯。 核查层级：公开摘要与书目。证据位置：摘要：DTAF全名、HSA and SC、compound amino acids injection段。</a:t>
            </a:r>
          </a:p>
          <a:p>
            <a:r>
              <a:t>[20] Method for on-line derivatization and separation of aspartic acid enantiomer in pharmaceuticals application by the coupling of flow injection with micellar electrokinetic chromatography. (2005). DOI 10.1016/j.chroma.2005.03.019. MEKC：OPA＋2-巯基乙醇（ME）标记，β-CD提供手性识别，SDS提供胶束体系。 核查层级：公开摘要与书目。证据位置：摘要：derivatization reagents、chiral selector、micellar chemical及real sample段。</a:t>
            </a:r>
          </a:p>
          <a:p>
            <a:r>
              <a:t>[21] Separation and enantiomer determination ofOPA-derivatised amino acids by using capillary zone electrophoresis. (1992). DOI 10.1007/bf00806080. CE：OPA＋手性硫醇生成非对映异构体；文中研究自由溶液CE和SDS-MECC。 核查层级：公开摘要与书目。证据位置：摘要首句及MECC/free solution段。</a:t>
            </a:r>
          </a:p>
          <a:p>
            <a:r>
              <a:t>[22] 3-[(3-Dehydroabietamidopropyl)dimethylammonio]-1-propane-sulfonate as a new type of chiral surfactant for enantiomer separation in micellar electrokinetic chromatography. (2007). DOI 10.1016/j.chroma.2007.01.139. MEKC：NDA标记氨基酸，DHAMAP手性表面活性剂提供手性分离。 核查层级：公开摘要与书目。证据位置：摘要：NDA-D/L-amino acids、chiral surfactant及6 pairs段。</a:t>
            </a:r>
          </a:p>
          <a:p>
            <a:r>
              <a:t>[23] Chiral capillary electrophoresis with UV-excited fluorescence detection for the enantioselective analysis of 9-fluorenylmethoxycarbonyl-derivatized amino acids. (2018). DOI 10.1007/s00216-018-1148-x. CE：FMOC-Cl；β-CD辅助手性分离，并用UV激发荧光检测，应用于脑脊液。 核查层级：全文＋摘要。证据位置：已读全文：Introduction、Chemicals、AA derivatization、Results and discussion/CSF application。</a:t>
            </a:r>
          </a:p>
          <a:p>
            <a:r>
              <a:t>[24] Enantiomeric separation of amino acids using micellar electrokinetic chromatography after pre-column derivatization with the chiral reagent 1-(9-fluorenyl)-ethyl chloroformate. (1995). DOI 10.1002/elps.1150160183. MEKC：手性FLEC衍生化后用SDS体系分离非对映异构体；同时比较FMOC＋环糊精的直接分离路线。 核查层级：公开摘要与书目。证据位置：摘要：(+)-/(-)-FLEC、SDS、diastereomers及FMOC比较段。</a:t>
            </a:r>
          </a:p>
          <a:p>
            <a:r>
              <a:t>[25] Determination of sequence and absolute configuration of peptide amino acids by HPLC-MS/CD-based detection of liberated N-terminus phenylthiohydantoin amino acids. (2022). DOI 10.1038/s41598-022-14205-x. HPLC–MS/CD：PITC经Edman路线生成PTH-AA，建立对照并用于合成肽和天然缩肽；另分析合成肽酸水解液。 核查层级：全文＋摘要。证据位置：已读全文：Introduction、Results and discussion、Methods；摘要末句acid hydrolysates。</a:t>
            </a:r>
          </a:p>
          <a:p>
            <a:r>
              <a:t>[26] High-throughput comprehensive analysis of D- and L-amino acids using ultra-high performance liquid chromatography with a circular dichroism (CD) detector and its application to food samples. (2011). DOI 10.1016/j.jchromb.2011.07.025. UHPLC–CD：筛选后选择NBD-F，利用g-factor计算%D，无需在柱上拆分同种氨基酸D/L。 核查层级：公开摘要与书目。证据位置：摘要：NBD-F was selected；does not require separation；food samples段。</a:t>
            </a:r>
          </a:p>
          <a:p>
            <a:r>
              <a:t>[34] Enantioselective separation of amino acids as biomarkers indicating life in extraterrestrial environments. (2013). DOI 10.1007/s00216-013-6915-0. GC删除项审查：综述区分普通GC挥发化和对映体测定；常用MTBSTFA硅烷化被明确指出不适于其讨论的homochirality检测。不能把所有硅烷化剂概括为成熟手性氨基酸方案。 核查层级：公开摘要与书目。证据位置：摘要中silylation reagent…unsuitable for detection of homochirality段。</a:t>
            </a:r>
          </a:p>
          <a:p>
            <a:r>
              <a:t>[35] Comparison of derivatization and chromatographic methods for GC-MS analysis of amino acid enantiomers in physiological samples. (2010). DOI 10.1016/j.jchromb.2010.03.021. GC限制性证据：比较氟化/非氟化酸酐及氯甲酸酯；PFPA/七氟丁醇虽灵敏，但衍生化消旋妨碍准确对映体定量，MCF路线可避免其问题。 核查层级：公开摘要与书目。证据位置：摘要：racemization during derivatization precluded accurate quantification及MCF段。</a:t>
            </a:r>
          </a:p>
          <a:p/>
          <a:p>
            <a:r>
              <a:t>连接线机制标签核查（文献编号沿用上一版按出现顺序排序）：</a:t>
            </a:r>
          </a:p>
          <a:p>
            <a:r>
              <a:t>HPLC：①手性固定相有[01]FITC＋万古霉素固定相支持，DOI 10.1016/j.foodchem.2007.11.062；②手性衍生化有[02]FDAA/GITC/OPA-IBLC＋反相HPLC支持，DOI 10.1016/j.chroma.2004.02.068，也有[03]Marfey证据。两路线为平台层面概括，不表示右侧每种试剂都适配两种路线。</a:t>
            </a:r>
          </a:p>
          <a:p>
            <a:r>
              <a:t>GC：①手性固定相有[12]MCF＋Chirasil-L-Val支持，DOI 10.1016/j.chroma.2006.12.033；②手性衍生化有[15]ECF＋手性醇＋非手性DB-5/DB-17支持，DOI 10.1039/b106610m。</a:t>
            </a:r>
          </a:p>
          <a:p>
            <a:r>
              <a:t>CE：不能将现有CZE/MEKC路线称为手性固定相。①手性选择剂有[16]金属螯合/环糊精CE-MEKC支持，DOI 10.1016/S0731-7085(97)00020-4；②手性衍生化有[21]OPA＋手性硫醇支持，DOI 10.1007/BF00806080；[24]FLEC＋SDS-MEKC支持，DOI 10.1002/elps.1150160183。手性选择剂与手性衍生化可合用，例如[17](R)-NCS＋DM-beta-CD，不是互斥条件。毛细管电色谱等可固定化选择剂的其他模式不由这里的CZE/MEKC文献自动证明。</a:t>
            </a:r>
          </a:p>
          <a:p>
            <a:r>
              <a:t>HPLC-CD：现有[25]PITC-PTH文献（DOI 10.1038/s41598-022-14205-x）和[26]NBD-F文献（DOI 10.1016/j.jchromb.2011.07.025）均支持非手性衍生化/反相分离＋CD手性响应。它们不能证明本图所列方法采用了手性固定相或手性衍生试剂；因此该行线上方标为非手性衍生化，下方标为CD、UV、MS检测，不是两个并列手性分离备选策略。不据此断言其他HPLC-CD组合不存在。</a:t>
            </a:r>
          </a:p>
          <a:p>
            <a:r>
              <a:t>版式：基于用户上传的13.333×7.5英寸版本；原有字号和方块大小保留，新增线上的策略标签18pt、线下检测标签16pt。</a:t>
            </a:r>
          </a:p>
          <a:p>
            <a:r>
              <a:t>检测方式核查：HPLC列UV（原[02]明确UV/ESI-MS）、荧光（补充D1：10.1016/j.jchromb.2006.07.022，题名Determination of d-serine and related neuroactive amino acids in human plasma by high-performance liquid chromatography with fluorimetric detection，摘要明确OPA/IBLC＋HPLC荧光检测）、MS/MS（原[11]AQC/2D-LC-MS/MS）。GC列FID（原[13]卡贝缩宫素水解液论文明确GC/FID）与MS（原[12]GC-MS），不泛列未明确的MS/MS。CE列UV及荧光（原[16]分别对Dansyl和FITC采用UV/LIF；原[17]为LEDIF）与MS（补充D2：10.1002/elps.201600015，Enantioselective analysis of proteinogenic amino acids in cerebrospinal fluid by capillary electrophoresis-mass spectrometry，摘要明确FMOC/β-CD/CE-MS）。HPLC-CD列CD与UV（原[26]NBD-F）以及MS（原[25]PTH/HPLC-MS-CD）。图中荧光是FLD/LIF/LEDIF的上位简称，不意味着各平台共用同一荧光检测器。检测方式为文献中的代表例，不能推定每种试剂均适配所列全部检测器；未因仪器理论兼容性自行补入DAD、CAD等。</a:t>
            </a:r>
          </a:p>
          <a:p/>
          <a:p>
            <a:r>
              <a:t>2026-10-28补充核查：原文献25/26仅覆盖非手性衍生化，不能据此限制整个HPLC-CD平台。新增[27]明确用CROWNPAK CR(+)拆分未衍生化D/L-Trp，并用CD-1595在233nm在线检测；Figure4给出相反CD峰。DOI 10.3390/ijms10062578。其对象为标准品和酶反应液，不是蛋白水解液。[28]采用非手性HSS T3直接分离未衍生化Phe并在线CD测猪胰岛素水解液；同文CROWNPAK手性柱只用于D-Phe光学纯度检查，不能把两步混同。DOI 10.1038/s41598-018-25682-4。因此上方两种路线改为手性固定相/非手性分离，下方列CD、UV、MS。样品可未衍生化，也可经文献支持的非手性衍生化；该图不据此增加手性衍生化＋CD支线，不把Trp响应外推到Leu/Lys等。新34/35为原删除项限制性来源，见配套全文献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依据用户第二页的左图/大括号/文献初筛/三个候选/实验复筛布局重整。文献初筛并非排除所有无现成CD文献的研究候选，而是将“已有UV/反应依据”与“待验证CD假设”区分。将原文“非手性试剂不会导致消旋”修正：非手性只表示不另引固定手性中心，消旋必须考察。已有手性柱/原生CD路线[27,28]并入左图，平台不再被描述为仅可非手性衍生化。PITC是原有PTC基线，不能沿用PTH的CD判断；AQC稳定脲和直接进样依据[30]；OPA快速/自动化依据[31]，稳定性需条件化[32]。三个方案的CD信号强弱/稳定性排名尚无本课题实测对比，不预设最优者。EE简要方案为拟议设计：固定总摩尔浓度、先混D/L后一起衍生、带符号CD/UV峰面积比拟合ee、独立质控/浓度挑战。UV/CD互补与不拆分比例思路参考[26]，镜像响应参考[25]，不是各候选的既定能力。</a:t>
            </a:r>
          </a:p>
          <a:p/>
          <a:p>
            <a:r>
              <a:t>参考文献：</a:t>
            </a:r>
          </a:p>
          <a:p>
            <a:r>
              <a:t>[06] High-performance liquid chromatography evaluation of the enantiomeric purity of amino acids by means of automated precolumn derivatization with ortho-phthalaldehyde and chiral thiols.. DOI 10.1002/chir.22660. 核查：公开摘要与书目；摘要：N-acetyl-L-cysteine、N-isobutyryl-L-cysteine、PFP column段</a:t>
            </a:r>
          </a:p>
          <a:p>
            <a:r>
              <a:t>[11] Comprehensive Online Reversed-Phase × Chiral Two-Dimensional Liquid Chromatography-Mass Spectrometry with Data-Independent Sequential Window Acquisition of All Theoretical Fragment-Ion Spectra-Acquisition for Untargeted Enantioselective Amino Acid Analysis.. DOI 10.1021/acs.analchem.2c03042. 核查：公开摘要与书目；摘要：AQC、chiral tandem column、two peptide hydrolysate samples及oxytocin段</a:t>
            </a:r>
          </a:p>
          <a:p>
            <a:r>
              <a:t>[17] Cyclodextrin-Modified Capillary Zone Electrophoresis for the Chiral Analysis of Proline and Hydroxyproline Stereoisomers in Chicken Collagen Hydrolysates.. DOI 10.3390/ijms26125832. 核查：全文＋摘要；已读全文：2.1、2.2、2.3；3.1、3.3、3.4；Figures 2、5、6</a:t>
            </a:r>
          </a:p>
          <a:p>
            <a:r>
              <a:t>[25] Determination of sequence and absolute configuration of peptide amino acids by HPLC-MS/CD-based detection of liberated N-terminus phenylthiohydantoin amino acids.. DOI 10.1038/s41598-022-14205-x. 核查：全文＋摘要；已读全文：Introduction、Results and discussion、Methods；摘要末句acid hydrolysates</a:t>
            </a:r>
          </a:p>
          <a:p>
            <a:r>
              <a:t>[26] High-throughput comprehensive analysis of D- and L-amino acids using ultra-high performance liquid chromatography with a circular dichroism (CD) detector and its application to food samples.. DOI 10.1016/j.jchromb.2011.07.025. 核查：公开摘要与书目；摘要：NBD-F was selected；does not require separation；food samples段</a:t>
            </a:r>
          </a:p>
          <a:p>
            <a:r>
              <a:t>[27] Tryptophanase-catalyzed L-tryptophan synthesis from D-serine in the presence of diammonium hydrogen phosphate.. DOI 10.3390/ijms10062578. 核查：全文＋摘要；全文：Results/Determination of optical isomeric form by circular dichroism；Figure 4；Experimental/Tryptophan analyses by use of HPLC。</a:t>
            </a:r>
          </a:p>
          <a:p>
            <a:r>
              <a:t>[28] A novel potential primary method for quantification of enantiomers by high performance liquid chromatography-circular dichroism.. DOI 10.1038/s41598-018-25682-4. 核查：全文＋摘要；全文：Instruments and reagents；Optimization of the HPLC separation conditions；Figure 3（独立手性纯度检查）；Figures 4F、5D（实际在线CD）；pINS应用。</a:t>
            </a:r>
          </a:p>
          <a:p>
            <a:r>
              <a:t>[29] Rapid analysis of amino acids using pre-column derivatization.. DOI 10.1016/s0378-4347(00)85133-6. 核查：公开摘要与书目；公开摘要：phenylthiocarbamyl derivative、primary and secondary amino acids、protein hydrolyzates、UV detection。</a:t>
            </a:r>
          </a:p>
          <a:p>
            <a:r>
              <a:t>[30] Synthesis of a fluorescent derivatizing reagent, 6-aminoquinolyl-N-hydroxysuccinimidyl carbamate, and its application for the analysis of hydrolysate amino acids via high-performance liquid chromatography.. DOI 10.1006/abio.1993.1270. 核查：公开摘要与书目；公开摘要：stable unsymmetric urea、pH range 8.2–10.0、direct injection。</a:t>
            </a:r>
          </a:p>
          <a:p>
            <a:r>
              <a:t>[31] Analysis of amino acid composition in proteins of animal tissues and foods as pre-column o-phthaldialdehyde derivatives by HPLC with fluorescence detection.. DOI 10.1016/j.jchromb.2014.03.025. 核查：公开摘要与书目；公开摘要：primary AA、2-mercaptoethanol/3-mercaptopropionic acid、rapid formation、easy automation。</a:t>
            </a:r>
          </a:p>
          <a:p>
            <a:r>
              <a:t>[32] The stability of the o-phthalaldehyde/2-mercaptoethanol derivatives of amino acids: an investigation using high-pressure liquid chromatography with a precolumn derivatization technique.. DOI 10.1016/0003-2697(84)90522-0. 核查：公开摘要与书目；公开摘要：stable on the HPLC column、optimal conditions。</a:t>
            </a:r>
          </a:p>
          <a:p>
            <a:r>
              <a:t>[33] Comparison of different derivatisation for amino acids determination of foie gras by high performance liquid chromatography (HPLC).. DOI 10.1080/00071668.2024.2375723. 核查：公开摘要与书目；公开摘要：三种衍生化组、17种氨基酸、运行时间及与自动氨基酸分析仪比较。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本页明确为尚未实施的实验设计，不包含测定数据或虚构回归系数。CT固定、已校正纯度/盐型的D/L标液按物质的量配比后统一衍生，避免仅事后混合衍生物掩盖反应选择性。eeD百分数范围-100至+100，R=a eeD+b中的ee单位始终用百分数；未知样品eeD=(R-b)/a。S_CD必须是带符号峰面积，不可取绝对值；S_UV反映同一目标衍生物总量，不能混入其他共洗脱组分。若两个检测器串联，校正流路时延并一致积分，CD和UV检测波长/增益固定。经验R不是未经单位/光程换算的无量纲g。每种氨基酸、试剂、产物和条件独立建模；先检验D/L镜像、外消旋抵消、相同反应效率及无消旋，检查残差/失拟，不应仅以高R²接受。Lys多位点产物先确认单/双衍生物身份与定量峰。独立QC与浓度挑战用于证实模型可转移。高ee的少量反对映体不能仅凭相减法认为达到痕量定量能力，须与手性分离正交验证。UV/CD低于适用定量/信噪范围时不报告可靠ee。水解对照的游离氨基酸不能完全替代已知构型肽的真实释放/消旋过程，因此两类对照互补。文献25证明标准PTH响应及水解液应用，文献26证明NBD-F/CD-g因子比例方法；本页具体水平和QC为研究建议，并非对PTC/AQC/OPA既定线性性能的承诺。</a:t>
            </a:r>
          </a:p>
          <a:p/>
          <a:p>
            <a:r>
              <a:t>参考文献：</a:t>
            </a:r>
          </a:p>
          <a:p>
            <a:r>
              <a:t>[06] High-performance liquid chromatography evaluation of the enantiomeric purity of amino acids by means of automated precolumn derivatization with ortho-phthalaldehyde and chiral thiols.. DOI 10.1002/chir.22660. 核查：公开摘要与书目；摘要：N-acetyl-L-cysteine、N-isobutyryl-L-cysteine、PFP column段</a:t>
            </a:r>
          </a:p>
          <a:p>
            <a:r>
              <a:t>[11] Comprehensive Online Reversed-Phase × Chiral Two-Dimensional Liquid Chromatography-Mass Spectrometry with Data-Independent Sequential Window Acquisition of All Theoretical Fragment-Ion Spectra-Acquisition for Untargeted Enantioselective Amino Acid Analysis.. DOI 10.1021/acs.analchem.2c03042. 核查：公开摘要与书目；摘要：AQC、chiral tandem column、two peptide hydrolysate samples及oxytocin段</a:t>
            </a:r>
          </a:p>
          <a:p>
            <a:r>
              <a:t>[17] Cyclodextrin-Modified Capillary Zone Electrophoresis for the Chiral Analysis of Proline and Hydroxyproline Stereoisomers in Chicken Collagen Hydrolysates.. DOI 10.3390/ijms26125832. 核查：全文＋摘要；已读全文：2.1、2.2、2.3；3.1、3.3、3.4；Figures 2、5、6</a:t>
            </a:r>
          </a:p>
          <a:p>
            <a:r>
              <a:t>[25] Determination of sequence and absolute configuration of peptide amino acids by HPLC-MS/CD-based detection of liberated N-terminus phenylthiohydantoin amino acids.. DOI 10.1038/s41598-022-14205-x. 核查：全文＋摘要；已读全文：Introduction、Results and discussion、Methods；摘要末句acid hydrolysates</a:t>
            </a:r>
          </a:p>
          <a:p>
            <a:r>
              <a:t>[26] High-throughput comprehensive analysis of D- and L-amino acids using ultra-high performance liquid chromatography with a circular dichroism (CD) detector and its application to food samples.. DOI 10.1016/j.jchromb.2011.07.025. 核查：公开摘要与书目；摘要：NBD-F was selected；does not require separation；food samples段</a:t>
            </a:r>
          </a:p>
          <a:p>
            <a:r>
              <a:t>[27] Tryptophanase-catalyzed L-tryptophan synthesis from D-serine in the presence of diammonium hydrogen phosphate.. DOI 10.3390/ijms10062578. 核查：全文＋摘要；全文：Results/Determination of optical isomeric form by circular dichroism；Figure 4；Experimental/Tryptophan analyses by use of HPLC。</a:t>
            </a:r>
          </a:p>
          <a:p>
            <a:r>
              <a:t>[28] A novel potential primary method for quantification of enantiomers by high performance liquid chromatography-circular dichroism.. DOI 10.1038/s41598-018-25682-4. 核查：全文＋摘要；全文：Instruments and reagents；Optimization of the HPLC separation conditions；Figure 3（独立手性纯度检查）；Figures 4F、5D（实际在线CD）；pINS应用。</a:t>
            </a:r>
          </a:p>
          <a:p>
            <a:r>
              <a:t>[29] Rapid analysis of amino acids using pre-column derivatization.. DOI 10.1016/s0378-4347(00)85133-6. 核查：公开摘要与书目；公开摘要：phenylthiocarbamyl derivative、primary and secondary amino acids、protein hydrolyzates、UV detection。</a:t>
            </a:r>
          </a:p>
          <a:p>
            <a:r>
              <a:t>[30] Synthesis of a fluorescent derivatizing reagent, 6-aminoquinolyl-N-hydroxysuccinimidyl carbamate, and its application for the analysis of hydrolysate amino acids via high-performance liquid chromatography.. DOI 10.1006/abio.1993.1270. 核查：公开摘要与书目；公开摘要：stable unsymmetric urea、pH range 8.2–10.0、direct injection。</a:t>
            </a:r>
          </a:p>
          <a:p>
            <a:r>
              <a:t>[31] Analysis of amino acid composition in proteins of animal tissues and foods as pre-column o-phthaldialdehyde derivatives by HPLC with fluorescence detection.. DOI 10.1016/j.jchromb.2014.03.025. 核查：公开摘要与书目；公开摘要：primary AA、2-mercaptoethanol/3-mercaptopropionic acid、rapid formation、easy automation。</a:t>
            </a:r>
          </a:p>
          <a:p>
            <a:r>
              <a:t>[32] The stability of the o-phthalaldehyde/2-mercaptoethanol derivatives of amino acids: an investigation using high-pressure liquid chromatography with a precolumn derivatization technique.. DOI 10.1016/0003-2697(84)90522-0. 核查：公开摘要与书目；公开摘要：stable on the HPLC column、optimal conditions。</a:t>
            </a:r>
          </a:p>
          <a:p>
            <a:r>
              <a:t>[33] Comparison of different derivatisation for amino acids determination of foie gras by high performance liquid chromatography (HPLC).. DOI 10.1080/00071668.2024.2375723. 核查：公开摘要与书目；公开摘要：三种衍生化组、17种氨基酸、运行时间及与自动氨基酸分析仪比较。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比较只涉及文献支持的反应/产物/流程特点及本项目的研究分工。PITC经典文献29指出快速、高效地形成PTC并用于蛋白水解物伯/仲胺UV分析，不能将用户某个1h反应/萃取方案视为PITC方法固有地慢。AQC文献30明确稳定非对称脲、快速一步反应、直接进样、pH和试剂过量影响收率；这不证明AQC在本项目CD信号最强。OPA文献31总结快速反应、自动化、非手性硫醇荧光应用；文献32指出特定OPA/ME产物柱上稳定，因此不能泛称所有OPA产物均极不稳定。等待进样稳定性需按实际硫醇/目标AA/pH测定。原文献6在手性硫醇OPA体系指出产品稳定性问题及在线衍生改善，只能作特定体系补充，不与非手性体系混同。文献33的OPA-FMOC组合、不同运行时间/基质结果不是本课题三候选直接在线CD比较。主张是互补对照，不给出没有同平台数据支持的灵敏度、成本、回收或CD排名。</a:t>
            </a:r>
          </a:p>
          <a:p/>
          <a:p>
            <a:r>
              <a:t>参考文献：</a:t>
            </a:r>
          </a:p>
          <a:p>
            <a:r>
              <a:t>[06] High-performance liquid chromatography evaluation of the enantiomeric purity of amino acids by means of automated precolumn derivatization with ortho-phthalaldehyde and chiral thiols.. DOI 10.1002/chir.22660. 核查：公开摘要与书目；摘要：N-acetyl-L-cysteine、N-isobutyryl-L-cysteine、PFP column段</a:t>
            </a:r>
          </a:p>
          <a:p>
            <a:r>
              <a:t>[11] Comprehensive Online Reversed-Phase × Chiral Two-Dimensional Liquid Chromatography-Mass Spectrometry with Data-Independent Sequential Window Acquisition of All Theoretical Fragment-Ion Spectra-Acquisition for Untargeted Enantioselective Amino Acid Analysis.. DOI 10.1021/acs.analchem.2c03042. 核查：公开摘要与书目；摘要：AQC、chiral tandem column、two peptide hydrolysate samples及oxytocin段</a:t>
            </a:r>
          </a:p>
          <a:p>
            <a:r>
              <a:t>[17] Cyclodextrin-Modified Capillary Zone Electrophoresis for the Chiral Analysis of Proline and Hydroxyproline Stereoisomers in Chicken Collagen Hydrolysates.. DOI 10.3390/ijms26125832. 核查：全文＋摘要；已读全文：2.1、2.2、2.3；3.1、3.3、3.4；Figures 2、5、6</a:t>
            </a:r>
          </a:p>
          <a:p>
            <a:r>
              <a:t>[25] Determination of sequence and absolute configuration of peptide amino acids by HPLC-MS/CD-based detection of liberated N-terminus phenylthiohydantoin amino acids.. DOI 10.1038/s41598-022-14205-x. 核查：全文＋摘要；已读全文：Introduction、Results and discussion、Methods；摘要末句acid hydrolysates</a:t>
            </a:r>
          </a:p>
          <a:p>
            <a:r>
              <a:t>[26] High-throughput comprehensive analysis of D- and L-amino acids using ultra-high performance liquid chromatography with a circular dichroism (CD) detector and its application to food samples.. DOI 10.1016/j.jchromb.2011.07.025. 核查：公开摘要与书目；摘要：NBD-F was selected；does not require separation；food samples段</a:t>
            </a:r>
          </a:p>
          <a:p>
            <a:r>
              <a:t>[27] Tryptophanase-catalyzed L-tryptophan synthesis from D-serine in the presence of diammonium hydrogen phosphate.. DOI 10.3390/ijms10062578. 核查：全文＋摘要；全文：Results/Determination of optical isomeric form by circular dichroism；Figure 4；Experimental/Tryptophan analyses by use of HPLC。</a:t>
            </a:r>
          </a:p>
          <a:p>
            <a:r>
              <a:t>[28] A novel potential primary method for quantification of enantiomers by high performance liquid chromatography-circular dichroism.. DOI 10.1038/s41598-018-25682-4. 核查：全文＋摘要；全文：Instruments and reagents；Optimization of the HPLC separation conditions；Figure 3（独立手性纯度检查）；Figures 4F、5D（实际在线CD）；pINS应用。</a:t>
            </a:r>
          </a:p>
          <a:p>
            <a:r>
              <a:t>[29] Rapid analysis of amino acids using pre-column derivatization.. DOI 10.1016/s0378-4347(00)85133-6. 核查：公开摘要与书目；公开摘要：phenylthiocarbamyl derivative、primary and secondary amino acids、protein hydrolyzates、UV detection。</a:t>
            </a:r>
          </a:p>
          <a:p>
            <a:r>
              <a:t>[30] Synthesis of a fluorescent derivatizing reagent, 6-aminoquinolyl-N-hydroxysuccinimidyl carbamate, and its application for the analysis of hydrolysate amino acids via high-performance liquid chromatography.. DOI 10.1006/abio.1993.1270. 核查：公开摘要与书目；公开摘要：stable unsymmetric urea、pH range 8.2–10.0、direct injection。</a:t>
            </a:r>
          </a:p>
          <a:p>
            <a:r>
              <a:t>[31] Analysis of amino acid composition in proteins of animal tissues and foods as pre-column o-phthaldialdehyde derivatives by HPLC with fluorescence detection.. DOI 10.1016/j.jchromb.2014.03.025. 核查：公开摘要与书目；公开摘要：primary AA、2-mercaptoethanol/3-mercaptopropionic acid、rapid formation、easy automation。</a:t>
            </a:r>
          </a:p>
          <a:p>
            <a:r>
              <a:t>[32] The stability of the o-phthalaldehyde/2-mercaptoethanol derivatives of amino acids: an investigation using high-pressure liquid chromatography with a precolumn derivatization technique.. DOI 10.1016/0003-2697(84)90522-0. 核查：公开摘要与书目；公开摘要：stable on the HPLC column、optimal conditions。</a:t>
            </a:r>
          </a:p>
          <a:p>
            <a:r>
              <a:t>[33] Comparison of different derivatisation for amino acids determination of foie gras by high performance liquid chromatography (HPLC).. DOI 10.1080/00071668.2024.2375723. 核查：公开摘要与书目；公开摘要：三种衍生化组、17种氨基酸、运行时间及与自动氨基酸分析仪比较。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1500" y="1426668"/>
            <a:ext cx="6477000" cy="98442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602447"/>
            <a:ext cx="5334000" cy="117365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61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123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85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247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309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371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433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494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109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772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928" y="2951141"/>
            <a:ext cx="6477000" cy="912132"/>
          </a:xfrm>
        </p:spPr>
        <p:txBody>
          <a:bodyPr anchor="t"/>
          <a:lstStyle>
            <a:lvl1pPr algn="l">
              <a:defRPr sz="2679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1928" y="1946520"/>
            <a:ext cx="6477000" cy="1004621"/>
          </a:xfrm>
        </p:spPr>
        <p:txBody>
          <a:bodyPr anchor="b"/>
          <a:lstStyle>
            <a:lvl1pPr marL="0" indent="0">
              <a:buNone/>
              <a:defRPr sz="1339">
                <a:solidFill>
                  <a:schemeClr val="tx1">
                    <a:tint val="75000"/>
                  </a:schemeClr>
                </a:solidFill>
              </a:defRPr>
            </a:lvl1pPr>
            <a:lvl2pPr marL="306187" indent="0">
              <a:buNone/>
              <a:defRPr sz="1205">
                <a:solidFill>
                  <a:schemeClr val="tx1">
                    <a:tint val="75000"/>
                  </a:schemeClr>
                </a:solidFill>
              </a:defRPr>
            </a:lvl2pPr>
            <a:lvl3pPr marL="612374" indent="0">
              <a:buNone/>
              <a:defRPr sz="1072">
                <a:solidFill>
                  <a:schemeClr val="tx1">
                    <a:tint val="75000"/>
                  </a:schemeClr>
                </a:solidFill>
              </a:defRPr>
            </a:lvl3pPr>
            <a:lvl4pPr marL="918561" indent="0">
              <a:buNone/>
              <a:defRPr sz="938">
                <a:solidFill>
                  <a:schemeClr val="tx1">
                    <a:tint val="75000"/>
                  </a:schemeClr>
                </a:solidFill>
              </a:defRPr>
            </a:lvl4pPr>
            <a:lvl5pPr marL="1224747" indent="0">
              <a:buNone/>
              <a:defRPr sz="938">
                <a:solidFill>
                  <a:schemeClr val="tx1">
                    <a:tint val="75000"/>
                  </a:schemeClr>
                </a:solidFill>
              </a:defRPr>
            </a:lvl5pPr>
            <a:lvl6pPr marL="1530934" indent="0">
              <a:buNone/>
              <a:defRPr sz="938">
                <a:solidFill>
                  <a:schemeClr val="tx1">
                    <a:tint val="75000"/>
                  </a:schemeClr>
                </a:solidFill>
              </a:defRPr>
            </a:lvl6pPr>
            <a:lvl7pPr marL="1837121" indent="0">
              <a:buNone/>
              <a:defRPr sz="938">
                <a:solidFill>
                  <a:schemeClr val="tx1">
                    <a:tint val="75000"/>
                  </a:schemeClr>
                </a:solidFill>
              </a:defRPr>
            </a:lvl7pPr>
            <a:lvl8pPr marL="2143308" indent="0">
              <a:buNone/>
              <a:defRPr sz="938">
                <a:solidFill>
                  <a:schemeClr val="tx1">
                    <a:tint val="75000"/>
                  </a:schemeClr>
                </a:solidFill>
              </a:defRPr>
            </a:lvl8pPr>
            <a:lvl9pPr marL="2449495" indent="0">
              <a:buNone/>
              <a:defRPr sz="9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749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071596"/>
            <a:ext cx="3365500" cy="3030873"/>
          </a:xfrm>
        </p:spPr>
        <p:txBody>
          <a:bodyPr/>
          <a:lstStyle>
            <a:lvl1pPr>
              <a:defRPr sz="1875"/>
            </a:lvl1pPr>
            <a:lvl2pPr>
              <a:defRPr sz="1607"/>
            </a:lvl2pPr>
            <a:lvl3pPr>
              <a:defRPr sz="1339"/>
            </a:lvl3pPr>
            <a:lvl4pPr>
              <a:defRPr sz="1205"/>
            </a:lvl4pPr>
            <a:lvl5pPr>
              <a:defRPr sz="1205"/>
            </a:lvl5pPr>
            <a:lvl6pPr>
              <a:defRPr sz="1205"/>
            </a:lvl6pPr>
            <a:lvl7pPr>
              <a:defRPr sz="1205"/>
            </a:lvl7pPr>
            <a:lvl8pPr>
              <a:defRPr sz="1205"/>
            </a:lvl8pPr>
            <a:lvl9pPr>
              <a:defRPr sz="12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73500" y="1071596"/>
            <a:ext cx="3365500" cy="3030873"/>
          </a:xfrm>
        </p:spPr>
        <p:txBody>
          <a:bodyPr/>
          <a:lstStyle>
            <a:lvl1pPr>
              <a:defRPr sz="1875"/>
            </a:lvl1pPr>
            <a:lvl2pPr>
              <a:defRPr sz="1607"/>
            </a:lvl2pPr>
            <a:lvl3pPr>
              <a:defRPr sz="1339"/>
            </a:lvl3pPr>
            <a:lvl4pPr>
              <a:defRPr sz="1205"/>
            </a:lvl4pPr>
            <a:lvl5pPr>
              <a:defRPr sz="1205"/>
            </a:lvl5pPr>
            <a:lvl6pPr>
              <a:defRPr sz="1205"/>
            </a:lvl6pPr>
            <a:lvl7pPr>
              <a:defRPr sz="1205"/>
            </a:lvl7pPr>
            <a:lvl8pPr>
              <a:defRPr sz="1205"/>
            </a:lvl8pPr>
            <a:lvl9pPr>
              <a:defRPr sz="12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0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028009"/>
            <a:ext cx="3366823" cy="428425"/>
          </a:xfrm>
        </p:spPr>
        <p:txBody>
          <a:bodyPr anchor="b"/>
          <a:lstStyle>
            <a:lvl1pPr marL="0" indent="0">
              <a:buNone/>
              <a:defRPr sz="1607" b="1"/>
            </a:lvl1pPr>
            <a:lvl2pPr marL="306187" indent="0">
              <a:buNone/>
              <a:defRPr sz="1339" b="1"/>
            </a:lvl2pPr>
            <a:lvl3pPr marL="612374" indent="0">
              <a:buNone/>
              <a:defRPr sz="1205" b="1"/>
            </a:lvl3pPr>
            <a:lvl4pPr marL="918561" indent="0">
              <a:buNone/>
              <a:defRPr sz="1072" b="1"/>
            </a:lvl4pPr>
            <a:lvl5pPr marL="1224747" indent="0">
              <a:buNone/>
              <a:defRPr sz="1072" b="1"/>
            </a:lvl5pPr>
            <a:lvl6pPr marL="1530934" indent="0">
              <a:buNone/>
              <a:defRPr sz="1072" b="1"/>
            </a:lvl6pPr>
            <a:lvl7pPr marL="1837121" indent="0">
              <a:buNone/>
              <a:defRPr sz="1072" b="1"/>
            </a:lvl7pPr>
            <a:lvl8pPr marL="2143308" indent="0">
              <a:buNone/>
              <a:defRPr sz="1072" b="1"/>
            </a:lvl8pPr>
            <a:lvl9pPr marL="2449495" indent="0">
              <a:buNone/>
              <a:defRPr sz="107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000" y="1456434"/>
            <a:ext cx="3366823" cy="2646034"/>
          </a:xfrm>
        </p:spPr>
        <p:txBody>
          <a:bodyPr/>
          <a:lstStyle>
            <a:lvl1pPr>
              <a:defRPr sz="1607"/>
            </a:lvl1pPr>
            <a:lvl2pPr>
              <a:defRPr sz="1339"/>
            </a:lvl2pPr>
            <a:lvl3pPr>
              <a:defRPr sz="1205"/>
            </a:lvl3pPr>
            <a:lvl4pPr>
              <a:defRPr sz="1072"/>
            </a:lvl4pPr>
            <a:lvl5pPr>
              <a:defRPr sz="1072"/>
            </a:lvl5pPr>
            <a:lvl6pPr>
              <a:defRPr sz="1072"/>
            </a:lvl6pPr>
            <a:lvl7pPr>
              <a:defRPr sz="1072"/>
            </a:lvl7pPr>
            <a:lvl8pPr>
              <a:defRPr sz="1072"/>
            </a:lvl8pPr>
            <a:lvl9pPr>
              <a:defRPr sz="107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70855" y="1028009"/>
            <a:ext cx="3368146" cy="428425"/>
          </a:xfrm>
        </p:spPr>
        <p:txBody>
          <a:bodyPr anchor="b"/>
          <a:lstStyle>
            <a:lvl1pPr marL="0" indent="0">
              <a:buNone/>
              <a:defRPr sz="1607" b="1"/>
            </a:lvl1pPr>
            <a:lvl2pPr marL="306187" indent="0">
              <a:buNone/>
              <a:defRPr sz="1339" b="1"/>
            </a:lvl2pPr>
            <a:lvl3pPr marL="612374" indent="0">
              <a:buNone/>
              <a:defRPr sz="1205" b="1"/>
            </a:lvl3pPr>
            <a:lvl4pPr marL="918561" indent="0">
              <a:buNone/>
              <a:defRPr sz="1072" b="1"/>
            </a:lvl4pPr>
            <a:lvl5pPr marL="1224747" indent="0">
              <a:buNone/>
              <a:defRPr sz="1072" b="1"/>
            </a:lvl5pPr>
            <a:lvl6pPr marL="1530934" indent="0">
              <a:buNone/>
              <a:defRPr sz="1072" b="1"/>
            </a:lvl6pPr>
            <a:lvl7pPr marL="1837121" indent="0">
              <a:buNone/>
              <a:defRPr sz="1072" b="1"/>
            </a:lvl7pPr>
            <a:lvl8pPr marL="2143308" indent="0">
              <a:buNone/>
              <a:defRPr sz="1072" b="1"/>
            </a:lvl8pPr>
            <a:lvl9pPr marL="2449495" indent="0">
              <a:buNone/>
              <a:defRPr sz="107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70855" y="1456434"/>
            <a:ext cx="3368146" cy="2646034"/>
          </a:xfrm>
        </p:spPr>
        <p:txBody>
          <a:bodyPr/>
          <a:lstStyle>
            <a:lvl1pPr>
              <a:defRPr sz="1607"/>
            </a:lvl1pPr>
            <a:lvl2pPr>
              <a:defRPr sz="1339"/>
            </a:lvl2pPr>
            <a:lvl3pPr>
              <a:defRPr sz="1205"/>
            </a:lvl3pPr>
            <a:lvl4pPr>
              <a:defRPr sz="1072"/>
            </a:lvl4pPr>
            <a:lvl5pPr>
              <a:defRPr sz="1072"/>
            </a:lvl5pPr>
            <a:lvl6pPr>
              <a:defRPr sz="1072"/>
            </a:lvl6pPr>
            <a:lvl7pPr>
              <a:defRPr sz="1072"/>
            </a:lvl7pPr>
            <a:lvl8pPr>
              <a:defRPr sz="1072"/>
            </a:lvl8pPr>
            <a:lvl9pPr>
              <a:defRPr sz="107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350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537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828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82851"/>
            <a:ext cx="2506928" cy="778183"/>
          </a:xfrm>
        </p:spPr>
        <p:txBody>
          <a:bodyPr anchor="b"/>
          <a:lstStyle>
            <a:lvl1pPr algn="l">
              <a:defRPr sz="133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9208" y="182852"/>
            <a:ext cx="4259792" cy="3919617"/>
          </a:xfrm>
        </p:spPr>
        <p:txBody>
          <a:bodyPr/>
          <a:lstStyle>
            <a:lvl1pPr>
              <a:defRPr sz="2143"/>
            </a:lvl1pPr>
            <a:lvl2pPr>
              <a:defRPr sz="1875"/>
            </a:lvl2pPr>
            <a:lvl3pPr>
              <a:defRPr sz="1607"/>
            </a:lvl3pPr>
            <a:lvl4pPr>
              <a:defRPr sz="1339"/>
            </a:lvl4pPr>
            <a:lvl5pPr>
              <a:defRPr sz="1339"/>
            </a:lvl5pPr>
            <a:lvl6pPr>
              <a:defRPr sz="1339"/>
            </a:lvl6pPr>
            <a:lvl7pPr>
              <a:defRPr sz="1339"/>
            </a:lvl7pPr>
            <a:lvl8pPr>
              <a:defRPr sz="1339"/>
            </a:lvl8pPr>
            <a:lvl9pPr>
              <a:defRPr sz="133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961035"/>
            <a:ext cx="2506928" cy="3141434"/>
          </a:xfrm>
        </p:spPr>
        <p:txBody>
          <a:bodyPr/>
          <a:lstStyle>
            <a:lvl1pPr marL="0" indent="0">
              <a:buNone/>
              <a:defRPr sz="938"/>
            </a:lvl1pPr>
            <a:lvl2pPr marL="306187" indent="0">
              <a:buNone/>
              <a:defRPr sz="804"/>
            </a:lvl2pPr>
            <a:lvl3pPr marL="612374" indent="0">
              <a:buNone/>
              <a:defRPr sz="670"/>
            </a:lvl3pPr>
            <a:lvl4pPr marL="918561" indent="0">
              <a:buNone/>
              <a:defRPr sz="603"/>
            </a:lvl4pPr>
            <a:lvl5pPr marL="1224747" indent="0">
              <a:buNone/>
              <a:defRPr sz="603"/>
            </a:lvl5pPr>
            <a:lvl6pPr marL="1530934" indent="0">
              <a:buNone/>
              <a:defRPr sz="603"/>
            </a:lvl6pPr>
            <a:lvl7pPr marL="1837121" indent="0">
              <a:buNone/>
              <a:defRPr sz="603"/>
            </a:lvl7pPr>
            <a:lvl8pPr marL="2143308" indent="0">
              <a:buNone/>
              <a:defRPr sz="603"/>
            </a:lvl8pPr>
            <a:lvl9pPr marL="2449495" indent="0">
              <a:buNone/>
              <a:defRPr sz="60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671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3573" y="3214787"/>
            <a:ext cx="4572000" cy="379524"/>
          </a:xfrm>
        </p:spPr>
        <p:txBody>
          <a:bodyPr anchor="b"/>
          <a:lstStyle>
            <a:lvl1pPr algn="l">
              <a:defRPr sz="133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493573" y="410353"/>
            <a:ext cx="4572000" cy="2755532"/>
          </a:xfrm>
        </p:spPr>
        <p:txBody>
          <a:bodyPr/>
          <a:lstStyle>
            <a:lvl1pPr marL="0" indent="0">
              <a:buNone/>
              <a:defRPr sz="2143"/>
            </a:lvl1pPr>
            <a:lvl2pPr marL="306187" indent="0">
              <a:buNone/>
              <a:defRPr sz="1875"/>
            </a:lvl2pPr>
            <a:lvl3pPr marL="612374" indent="0">
              <a:buNone/>
              <a:defRPr sz="1607"/>
            </a:lvl3pPr>
            <a:lvl4pPr marL="918561" indent="0">
              <a:buNone/>
              <a:defRPr sz="1339"/>
            </a:lvl4pPr>
            <a:lvl5pPr marL="1224747" indent="0">
              <a:buNone/>
              <a:defRPr sz="1339"/>
            </a:lvl5pPr>
            <a:lvl6pPr marL="1530934" indent="0">
              <a:buNone/>
              <a:defRPr sz="1339"/>
            </a:lvl6pPr>
            <a:lvl7pPr marL="1837121" indent="0">
              <a:buNone/>
              <a:defRPr sz="1339"/>
            </a:lvl7pPr>
            <a:lvl8pPr marL="2143308" indent="0">
              <a:buNone/>
              <a:defRPr sz="1339"/>
            </a:lvl8pPr>
            <a:lvl9pPr marL="2449495" indent="0">
              <a:buNone/>
              <a:defRPr sz="1339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93573" y="3594311"/>
            <a:ext cx="4572000" cy="538987"/>
          </a:xfrm>
        </p:spPr>
        <p:txBody>
          <a:bodyPr/>
          <a:lstStyle>
            <a:lvl1pPr marL="0" indent="0">
              <a:buNone/>
              <a:defRPr sz="938"/>
            </a:lvl1pPr>
            <a:lvl2pPr marL="306187" indent="0">
              <a:buNone/>
              <a:defRPr sz="804"/>
            </a:lvl2pPr>
            <a:lvl3pPr marL="612374" indent="0">
              <a:buNone/>
              <a:defRPr sz="670"/>
            </a:lvl3pPr>
            <a:lvl4pPr marL="918561" indent="0">
              <a:buNone/>
              <a:defRPr sz="603"/>
            </a:lvl4pPr>
            <a:lvl5pPr marL="1224747" indent="0">
              <a:buNone/>
              <a:defRPr sz="603"/>
            </a:lvl5pPr>
            <a:lvl6pPr marL="1530934" indent="0">
              <a:buNone/>
              <a:defRPr sz="603"/>
            </a:lvl6pPr>
            <a:lvl7pPr marL="1837121" indent="0">
              <a:buNone/>
              <a:defRPr sz="603"/>
            </a:lvl7pPr>
            <a:lvl8pPr marL="2143308" indent="0">
              <a:buNone/>
              <a:defRPr sz="603"/>
            </a:lvl8pPr>
            <a:lvl9pPr marL="2449495" indent="0">
              <a:buNone/>
              <a:defRPr sz="60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907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883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24500" y="183916"/>
            <a:ext cx="1714500" cy="391855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183916"/>
            <a:ext cx="5016500" cy="391855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07319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183915"/>
            <a:ext cx="6858000" cy="7654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071596"/>
            <a:ext cx="6858000" cy="30308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1000" y="4256616"/>
            <a:ext cx="1778000" cy="2445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03500" y="4256616"/>
            <a:ext cx="2413000" cy="2445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61000" y="4256616"/>
            <a:ext cx="1778000" cy="2445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9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306187" rtl="0" eaLnBrk="1" latinLnBrk="0" hangingPunct="1">
        <a:spcBef>
          <a:spcPct val="0"/>
        </a:spcBef>
        <a:buNone/>
        <a:defRPr sz="294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9640" indent="-229640" algn="l" defTabSz="306187" rtl="0" eaLnBrk="1" latinLnBrk="0" hangingPunct="1">
        <a:spcBef>
          <a:spcPct val="20000"/>
        </a:spcBef>
        <a:buFont typeface="Arial" panose="020B0604020202020204"/>
        <a:buChar char="•"/>
        <a:defRPr sz="2143" kern="1200">
          <a:solidFill>
            <a:schemeClr val="tx1"/>
          </a:solidFill>
          <a:latin typeface="+mn-lt"/>
          <a:ea typeface="+mn-ea"/>
          <a:cs typeface="+mn-cs"/>
        </a:defRPr>
      </a:lvl1pPr>
      <a:lvl2pPr marL="497554" indent="-191367" algn="l" defTabSz="306187" rtl="0" eaLnBrk="1" latinLnBrk="0" hangingPunct="1">
        <a:spcBef>
          <a:spcPct val="20000"/>
        </a:spcBef>
        <a:buFont typeface="Arial" panose="020B0604020202020204"/>
        <a:buChar char="–"/>
        <a:defRPr sz="1875" kern="1200">
          <a:solidFill>
            <a:schemeClr val="tx1"/>
          </a:solidFill>
          <a:latin typeface="+mn-lt"/>
          <a:ea typeface="+mn-ea"/>
          <a:cs typeface="+mn-cs"/>
        </a:defRPr>
      </a:lvl2pPr>
      <a:lvl3pPr marL="765467" indent="-153093" algn="l" defTabSz="306187" rtl="0" eaLnBrk="1" latinLnBrk="0" hangingPunct="1">
        <a:spcBef>
          <a:spcPct val="20000"/>
        </a:spcBef>
        <a:buFont typeface="Arial" panose="020B0604020202020204"/>
        <a:buChar char="•"/>
        <a:defRPr sz="1607" kern="1200">
          <a:solidFill>
            <a:schemeClr val="tx1"/>
          </a:solidFill>
          <a:latin typeface="+mn-lt"/>
          <a:ea typeface="+mn-ea"/>
          <a:cs typeface="+mn-cs"/>
        </a:defRPr>
      </a:lvl3pPr>
      <a:lvl4pPr marL="1071654" indent="-153093" algn="l" defTabSz="306187" rtl="0" eaLnBrk="1" latinLnBrk="0" hangingPunct="1">
        <a:spcBef>
          <a:spcPct val="20000"/>
        </a:spcBef>
        <a:buFont typeface="Arial" panose="020B0604020202020204"/>
        <a:buChar char="–"/>
        <a:defRPr sz="1339" kern="1200">
          <a:solidFill>
            <a:schemeClr val="tx1"/>
          </a:solidFill>
          <a:latin typeface="+mn-lt"/>
          <a:ea typeface="+mn-ea"/>
          <a:cs typeface="+mn-cs"/>
        </a:defRPr>
      </a:lvl4pPr>
      <a:lvl5pPr marL="1377841" indent="-153093" algn="l" defTabSz="306187" rtl="0" eaLnBrk="1" latinLnBrk="0" hangingPunct="1">
        <a:spcBef>
          <a:spcPct val="20000"/>
        </a:spcBef>
        <a:buFont typeface="Arial" panose="020B0604020202020204"/>
        <a:buChar char="»"/>
        <a:defRPr sz="1339" kern="1200">
          <a:solidFill>
            <a:schemeClr val="tx1"/>
          </a:solidFill>
          <a:latin typeface="+mn-lt"/>
          <a:ea typeface="+mn-ea"/>
          <a:cs typeface="+mn-cs"/>
        </a:defRPr>
      </a:lvl5pPr>
      <a:lvl6pPr marL="1684028" indent="-153093" algn="l" defTabSz="306187" rtl="0" eaLnBrk="1" latinLnBrk="0" hangingPunct="1">
        <a:spcBef>
          <a:spcPct val="20000"/>
        </a:spcBef>
        <a:buFont typeface="Arial" panose="020B0604020202020204"/>
        <a:buChar char="•"/>
        <a:defRPr sz="1339" kern="1200">
          <a:solidFill>
            <a:schemeClr val="tx1"/>
          </a:solidFill>
          <a:latin typeface="+mn-lt"/>
          <a:ea typeface="+mn-ea"/>
          <a:cs typeface="+mn-cs"/>
        </a:defRPr>
      </a:lvl6pPr>
      <a:lvl7pPr marL="1990214" indent="-153093" algn="l" defTabSz="306187" rtl="0" eaLnBrk="1" latinLnBrk="0" hangingPunct="1">
        <a:spcBef>
          <a:spcPct val="20000"/>
        </a:spcBef>
        <a:buFont typeface="Arial" panose="020B0604020202020204"/>
        <a:buChar char="•"/>
        <a:defRPr sz="1339" kern="1200">
          <a:solidFill>
            <a:schemeClr val="tx1"/>
          </a:solidFill>
          <a:latin typeface="+mn-lt"/>
          <a:ea typeface="+mn-ea"/>
          <a:cs typeface="+mn-cs"/>
        </a:defRPr>
      </a:lvl7pPr>
      <a:lvl8pPr marL="2296401" indent="-153093" algn="l" defTabSz="306187" rtl="0" eaLnBrk="1" latinLnBrk="0" hangingPunct="1">
        <a:spcBef>
          <a:spcPct val="20000"/>
        </a:spcBef>
        <a:buFont typeface="Arial" panose="020B0604020202020204"/>
        <a:buChar char="•"/>
        <a:defRPr sz="1339" kern="1200">
          <a:solidFill>
            <a:schemeClr val="tx1"/>
          </a:solidFill>
          <a:latin typeface="+mn-lt"/>
          <a:ea typeface="+mn-ea"/>
          <a:cs typeface="+mn-cs"/>
        </a:defRPr>
      </a:lvl8pPr>
      <a:lvl9pPr marL="2602588" indent="-153093" algn="l" defTabSz="306187" rtl="0" eaLnBrk="1" latinLnBrk="0" hangingPunct="1">
        <a:spcBef>
          <a:spcPct val="20000"/>
        </a:spcBef>
        <a:buFont typeface="Arial" panose="020B0604020202020204"/>
        <a:buChar char="•"/>
        <a:defRPr sz="133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6187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1pPr>
      <a:lvl2pPr marL="306187" algn="l" defTabSz="306187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2pPr>
      <a:lvl3pPr marL="612374" algn="l" defTabSz="306187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3pPr>
      <a:lvl4pPr marL="918561" algn="l" defTabSz="306187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4pPr>
      <a:lvl5pPr marL="1224747" algn="l" defTabSz="306187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5pPr>
      <a:lvl6pPr marL="1530934" algn="l" defTabSz="306187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6pPr>
      <a:lvl7pPr marL="1837121" algn="l" defTabSz="306187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7pPr>
      <a:lvl8pPr marL="2143308" algn="l" defTabSz="306187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8pPr>
      <a:lvl9pPr marL="2449495" algn="l" defTabSz="306187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34064" y="183703"/>
            <a:ext cx="9185106" cy="278218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l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2700" b="1">
                <a:solidFill>
                  <a:srgbClr val="172F49"/>
                </a:solidFill>
                <a:latin typeface="Noto Sans CJK SC"/>
              </a:defRPr>
            </a:pPr>
            <a:r>
              <a:rPr kumimoji="0" sz="1808" b="1" i="0" u="none" strike="noStrike" kern="1200" cap="none" spc="0" normalizeH="0" baseline="0" noProof="0">
                <a:ln>
                  <a:noFill/>
                </a:ln>
                <a:solidFill>
                  <a:srgbClr val="172F49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氨基酸手性分析：有文献依据的方法—试剂对应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3714" y="673875"/>
            <a:ext cx="1233098" cy="307777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l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800" b="1">
                <a:solidFill>
                  <a:srgbClr val="617389"/>
                </a:solidFill>
                <a:latin typeface="Noto Sans CJK SC"/>
              </a:defRPr>
            </a:pPr>
            <a:r>
              <a:rPr kumimoji="0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617389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分析方法</a:t>
            </a:r>
            <a:endParaRPr kumimoji="0" sz="2000" b="1" i="0" u="none" strike="noStrike" kern="1200" cap="none" spc="0" normalizeH="0" baseline="0" noProof="0" dirty="0">
              <a:ln>
                <a:noFill/>
              </a:ln>
              <a:solidFill>
                <a:srgbClr val="617389"/>
              </a:solidFill>
              <a:effectLst/>
              <a:uLnTx/>
              <a:uFillTx/>
              <a:latin typeface="Noto Sans CJK SC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178069" y="690930"/>
            <a:ext cx="4053812" cy="307777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l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2000" b="1">
                <a:solidFill>
                  <a:srgbClr val="617389"/>
                </a:solidFill>
                <a:latin typeface="Noto Sans CJK SC"/>
              </a:defRPr>
            </a:pPr>
            <a:r>
              <a:t>衍生化试剂／直接分析</a:t>
            </a:r>
            <a:endParaRPr kumimoji="0" sz="2000" b="1" i="0" u="none" strike="noStrike" kern="1200" cap="none" spc="0" normalizeH="0" baseline="0" noProof="0" dirty="0">
              <a:ln>
                <a:noFill/>
              </a:ln>
              <a:solidFill>
                <a:srgbClr val="617389"/>
              </a:solidFill>
              <a:effectLst/>
              <a:uLnTx/>
              <a:uFillTx/>
              <a:latin typeface="Noto Sans CJK SC"/>
              <a:ea typeface="+mn-ea"/>
              <a:cs typeface="+mn-c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43738" y="1040979"/>
            <a:ext cx="2130945" cy="1377766"/>
          </a:xfrm>
          <a:prstGeom prst="roundRect">
            <a:avLst/>
          </a:prstGeom>
          <a:solidFill>
            <a:srgbClr val="24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23342" y="1366049"/>
            <a:ext cx="1971736" cy="369332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2300" b="1">
                <a:solidFill>
                  <a:srgbClr val="FFFFFF"/>
                </a:solidFill>
                <a:latin typeface="Noto Sans CJK SC"/>
              </a:defRPr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HPLC / UPLC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4355" y="1845602"/>
            <a:ext cx="2020723" cy="246221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400" b="0">
                <a:solidFill>
                  <a:srgbClr val="FFFFFF"/>
                </a:solidFill>
                <a:latin typeface="Noto Sans CJK SC"/>
              </a:defRPr>
            </a:pP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高效液相色谱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 CJK SC"/>
              <a:ea typeface="+mn-ea"/>
              <a:cs typeface="+mn-c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749241" y="1040979"/>
            <a:ext cx="6429574" cy="1377766"/>
          </a:xfrm>
          <a:prstGeom prst="roundRect">
            <a:avLst/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853339" y="1138953"/>
            <a:ext cx="1179367" cy="118181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883956" y="1224681"/>
            <a:ext cx="1118133" cy="200055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1">
                <a:solidFill>
                  <a:srgbClr val="2474B5"/>
                </a:solidFill>
                <a:latin typeface="Noto Sans CJK SC"/>
              </a:defRPr>
            </a:pPr>
            <a:r>
              <a:rPr kumimoji="0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2474B5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异硫氰酸酯类</a:t>
            </a:r>
            <a:endParaRPr kumimoji="0" sz="1300" b="1" i="0" u="none" strike="noStrike" kern="1200" cap="none" spc="0" normalizeH="0" baseline="0" noProof="0" dirty="0">
              <a:ln>
                <a:noFill/>
              </a:ln>
              <a:solidFill>
                <a:srgbClr val="2474B5"/>
              </a:solidFill>
              <a:effectLst/>
              <a:uLnTx/>
              <a:uFillTx/>
              <a:latin typeface="Noto Sans CJK SC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877832" y="1585962"/>
            <a:ext cx="1130380" cy="425758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 dirty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FITC [0</a:t>
            </a:r>
            <a:r>
              <a:rPr kumimoji="0" lang="en-US" altLang="zh-CN" sz="1300" b="0" i="0" u="none" strike="noStrike" kern="1200" cap="none" spc="0" normalizeH="0" baseline="0" noProof="0" dirty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宋体" panose="02010600030101010101" pitchFamily="2" charset="-122"/>
                <a:cs typeface="+mn-cs"/>
              </a:rPr>
              <a:t>1]</a:t>
            </a:r>
            <a:endParaRPr kumimoji="0" sz="1300" b="0" i="0" u="none" strike="noStrike" kern="1200" cap="none" spc="0" normalizeH="0" baseline="0" noProof="0" dirty="0">
              <a:ln>
                <a:noFill/>
              </a:ln>
              <a:solidFill>
                <a:srgbClr val="233A50"/>
              </a:solidFill>
              <a:effectLst/>
              <a:uLnTx/>
              <a:uFillTx/>
              <a:latin typeface="Noto Sans CJK SC"/>
              <a:ea typeface="+mn-ea"/>
              <a:cs typeface="+mn-cs"/>
            </a:endParaRP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 dirty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GITC [02]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12311" y="1138953"/>
            <a:ext cx="1179367" cy="118181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142928" y="1224681"/>
            <a:ext cx="1118133" cy="400110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1">
                <a:solidFill>
                  <a:srgbClr val="2474B5"/>
                </a:solidFill>
                <a:latin typeface="Noto Sans CJK SC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2474B5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芳香亲核取代类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36804" y="1585962"/>
            <a:ext cx="1130380" cy="651460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FDAA [02,03]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FDLA [04]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NBD-F [05]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71282" y="1138953"/>
            <a:ext cx="1179367" cy="118181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401899" y="1224681"/>
            <a:ext cx="1118133" cy="200055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1">
                <a:solidFill>
                  <a:srgbClr val="2474B5"/>
                </a:solidFill>
                <a:latin typeface="Noto Sans CJK SC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2474B5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OPA 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95776" y="1585962"/>
            <a:ext cx="1130380" cy="619144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230" b="0">
                <a:solidFill>
                  <a:srgbClr val="233A50"/>
                </a:solidFill>
                <a:latin typeface="Noto Sans CJK SC"/>
              </a:defRPr>
            </a:pPr>
            <a:r>
              <a:rPr kumimoji="0" sz="123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OPA＋NAC / IBLC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230" b="0">
                <a:solidFill>
                  <a:srgbClr val="233A50"/>
                </a:solidFill>
                <a:latin typeface="Noto Sans CJK SC"/>
              </a:defRPr>
            </a:pPr>
            <a:r>
              <a:rPr kumimoji="0" sz="123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OPA＋DiCys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230" b="0">
                <a:solidFill>
                  <a:srgbClr val="233A50"/>
                </a:solidFill>
                <a:latin typeface="Noto Sans CJK SC"/>
              </a:defRPr>
            </a:pPr>
            <a:r>
              <a:rPr kumimoji="0" sz="123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[02,06,07]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30254" y="1138953"/>
            <a:ext cx="1179367" cy="118181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660871" y="1224681"/>
            <a:ext cx="1118133" cy="200055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1">
                <a:solidFill>
                  <a:srgbClr val="2474B5"/>
                </a:solidFill>
                <a:latin typeface="Noto Sans CJK SC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2474B5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磺酰氯类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4748" y="1585962"/>
            <a:ext cx="1130380" cy="425758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Dansyl-Cl [08]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Dabsyl-Cl [09]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89226" y="1138953"/>
            <a:ext cx="1179367" cy="118181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919843" y="1224681"/>
            <a:ext cx="1118133" cy="200055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1">
                <a:solidFill>
                  <a:srgbClr val="2474B5"/>
                </a:solidFill>
                <a:latin typeface="Noto Sans CJK SC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2474B5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氨基酰化类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13720" y="1585962"/>
            <a:ext cx="1130380" cy="425758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FMOC-Cl [10]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AQC [11]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3738" y="2547123"/>
            <a:ext cx="2130945" cy="1114460"/>
          </a:xfrm>
          <a:prstGeom prst="roundRect">
            <a:avLst/>
          </a:prstGeom>
          <a:solidFill>
            <a:srgbClr val="C181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92726" y="2766224"/>
            <a:ext cx="1971736" cy="369332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2300" b="1">
                <a:solidFill>
                  <a:srgbClr val="FFFFFF"/>
                </a:solidFill>
                <a:latin typeface="Noto Sans CJK SC"/>
              </a:defRPr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GC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3342" y="3231546"/>
            <a:ext cx="2020723" cy="246221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400" b="0">
                <a:solidFill>
                  <a:srgbClr val="FFFFFF"/>
                </a:solidFill>
                <a:latin typeface="Noto Sans CJK SC"/>
              </a:defRPr>
            </a:pP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气相色谱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 CJK SC"/>
              <a:ea typeface="+mn-ea"/>
              <a:cs typeface="+mn-cs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4749241" y="2528966"/>
            <a:ext cx="6429574" cy="1114460"/>
          </a:xfrm>
          <a:prstGeom prst="roundRect">
            <a:avLst/>
          </a:prstGeom>
          <a:solidFill>
            <a:srgbClr val="FB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4853339" y="2626940"/>
            <a:ext cx="3067825" cy="918511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908265" y="2627882"/>
            <a:ext cx="2920864" cy="230832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500" b="1">
                <a:solidFill>
                  <a:srgbClr val="C18129"/>
                </a:solidFill>
                <a:latin typeface="Noto Sans CJK SC"/>
              </a:defRPr>
            </a:pPr>
            <a:r>
              <a:rPr kumimoji="0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C18129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氯甲酸酯类</a:t>
            </a:r>
            <a:endParaRPr kumimoji="0" sz="1500" b="1" i="0" u="none" strike="noStrike" kern="1200" cap="none" spc="0" normalizeH="0" baseline="0" noProof="0" dirty="0">
              <a:ln>
                <a:noFill/>
              </a:ln>
              <a:solidFill>
                <a:srgbClr val="C18129"/>
              </a:solidFill>
              <a:effectLst/>
              <a:uLnTx/>
              <a:uFillTx/>
              <a:latin typeface="Noto Sans CJK SC"/>
              <a:ea typeface="+mn-ea"/>
              <a:cs typeface="+mn-c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926819" y="2860291"/>
            <a:ext cx="2920864" cy="697627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400" b="0">
                <a:solidFill>
                  <a:srgbClr val="233A50"/>
                </a:solidFill>
                <a:latin typeface="Noto Sans CJK SC"/>
              </a:defRPr>
            </a:pP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氯甲酸甲酯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 [12]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400" b="0">
                <a:solidFill>
                  <a:srgbClr val="233A50"/>
                </a:solidFill>
                <a:latin typeface="Noto Sans CJK SC"/>
              </a:defRPr>
            </a:pP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五氟丙基氯甲酸酯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 [13]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400" b="0">
                <a:solidFill>
                  <a:srgbClr val="233A50"/>
                </a:solidFill>
                <a:latin typeface="Noto Sans CJK SC"/>
              </a:defRPr>
            </a:pP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七氟丁基氯甲酸酯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 [14]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00769" y="2626940"/>
            <a:ext cx="3067825" cy="918511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074249" y="2682051"/>
            <a:ext cx="2920864" cy="230832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500" b="1">
                <a:solidFill>
                  <a:srgbClr val="C18129"/>
                </a:solidFill>
                <a:latin typeface="Noto Sans CJK SC"/>
              </a:defRPr>
            </a:pPr>
            <a:r>
              <a:rPr kumimoji="0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C18129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氯甲酸酯＋手性醇</a:t>
            </a:r>
            <a:endParaRPr kumimoji="0" sz="1500" b="1" i="0" u="none" strike="noStrike" kern="1200" cap="none" spc="0" normalizeH="0" baseline="0" noProof="0" dirty="0">
              <a:ln>
                <a:noFill/>
              </a:ln>
              <a:solidFill>
                <a:srgbClr val="C18129"/>
              </a:solidFill>
              <a:effectLst/>
              <a:uLnTx/>
              <a:uFillTx/>
              <a:latin typeface="Noto Sans CJK SC"/>
              <a:ea typeface="+mn-ea"/>
              <a:cs typeface="+mn-c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074249" y="2963728"/>
            <a:ext cx="2920864" cy="456535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400" b="0">
                <a:solidFill>
                  <a:srgbClr val="233A50"/>
                </a:solidFill>
                <a:latin typeface="Noto Sans CJK SC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氯甲酸乙酯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400" b="0">
                <a:solidFill>
                  <a:srgbClr val="233A50"/>
                </a:solidFill>
                <a:latin typeface="Noto Sans CJK SC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＋(S)-(+)-3-甲基-2-丁醇 [15]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3738" y="3753647"/>
            <a:ext cx="2130945" cy="1377766"/>
          </a:xfrm>
          <a:prstGeom prst="roundRect">
            <a:avLst/>
          </a:prstGeom>
          <a:solidFill>
            <a:srgbClr val="7B6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74355" y="4061588"/>
            <a:ext cx="1971736" cy="369332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2300" b="1">
                <a:solidFill>
                  <a:srgbClr val="FFFFFF"/>
                </a:solidFill>
                <a:latin typeface="Noto Sans CJK SC"/>
              </a:defRPr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2504" y="4553388"/>
            <a:ext cx="2161561" cy="492443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600" b="0">
                <a:solidFill>
                  <a:srgbClr val="FFFFFF"/>
                </a:solidFill>
                <a:latin typeface="Noto Sans CJK SC"/>
              </a:defRPr>
            </a:pPr>
            <a:r>
              <a:t>毛细管电泳</a:t>
            </a:r>
            <a:br/>
            <a:r>
              <a:t>（CZE / MEKC）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749241" y="3753647"/>
            <a:ext cx="6429574" cy="1377766"/>
          </a:xfrm>
          <a:prstGeom prst="roundRect">
            <a:avLst/>
          </a:prstGeom>
          <a:solidFill>
            <a:srgbClr val="F0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4853339" y="3851621"/>
            <a:ext cx="1179367" cy="118181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4883956" y="3937349"/>
            <a:ext cx="1118133" cy="200055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1">
                <a:solidFill>
                  <a:srgbClr val="7B61A8"/>
                </a:solidFill>
                <a:latin typeface="Noto Sans CJK SC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7B61A8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异硫氰酸酯类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77832" y="4298630"/>
            <a:ext cx="1130380" cy="425758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FITC [16]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(R)-NCS [17]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112311" y="3851621"/>
            <a:ext cx="1179367" cy="118181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142928" y="3937349"/>
            <a:ext cx="1118133" cy="400110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1">
                <a:solidFill>
                  <a:srgbClr val="7B61A8"/>
                </a:solidFill>
                <a:latin typeface="Noto Sans CJK SC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7B61A8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芳香亲核取代类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36804" y="4298630"/>
            <a:ext cx="1130380" cy="425758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NBD-F [18]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DTAF [19]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371282" y="3851621"/>
            <a:ext cx="1179367" cy="118181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401899" y="3937349"/>
            <a:ext cx="1118133" cy="200055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1">
                <a:solidFill>
                  <a:srgbClr val="7B61A8"/>
                </a:solidFill>
                <a:latin typeface="Noto Sans CJK SC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7B61A8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芳香二醛类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95776" y="4216462"/>
            <a:ext cx="1130380" cy="808426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230" b="0">
                <a:solidFill>
                  <a:srgbClr val="233A50"/>
                </a:solidFill>
                <a:latin typeface="Noto Sans CJK SC"/>
              </a:defRPr>
            </a:pPr>
            <a:r>
              <a:rPr kumimoji="0" sz="1230" b="0" i="0" u="none" strike="noStrike" kern="1200" cap="none" spc="0" normalizeH="0" baseline="0" noProof="0" dirty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OPA＋ME [20]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230" b="0">
                <a:solidFill>
                  <a:srgbClr val="233A50"/>
                </a:solidFill>
                <a:latin typeface="Noto Sans CJK SC"/>
              </a:defRPr>
            </a:pPr>
            <a:r>
              <a:rPr kumimoji="0" sz="1230" b="0" i="0" u="none" strike="noStrike" kern="1200" cap="none" spc="0" normalizeH="0" baseline="0" noProof="0" dirty="0" err="1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OPA＋手性硫醇</a:t>
            </a:r>
            <a:r>
              <a:rPr kumimoji="0" sz="1230" b="0" i="0" u="none" strike="noStrike" kern="1200" cap="none" spc="0" normalizeH="0" baseline="0" noProof="0" dirty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 [21]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230" b="0">
                <a:solidFill>
                  <a:srgbClr val="233A50"/>
                </a:solidFill>
                <a:latin typeface="Noto Sans CJK SC"/>
              </a:defRPr>
            </a:pPr>
            <a:r>
              <a:rPr kumimoji="0" sz="1230" b="0" i="0" u="none" strike="noStrike" kern="1200" cap="none" spc="0" normalizeH="0" baseline="0" noProof="0" dirty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NDA [22]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630254" y="3851621"/>
            <a:ext cx="1179367" cy="118181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8660871" y="3937349"/>
            <a:ext cx="1118133" cy="200055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1">
                <a:solidFill>
                  <a:srgbClr val="7B61A8"/>
                </a:solidFill>
                <a:latin typeface="Noto Sans CJK SC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7B61A8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磺酰氯类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54748" y="4298630"/>
            <a:ext cx="1130380" cy="200055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Dansyl-Cl [16]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889226" y="3851621"/>
            <a:ext cx="1179367" cy="118181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9919843" y="3937349"/>
            <a:ext cx="1118133" cy="200055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1">
                <a:solidFill>
                  <a:srgbClr val="7B61A8"/>
                </a:solidFill>
                <a:latin typeface="Noto Sans CJK SC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7B61A8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氨基酰化类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913720" y="4298630"/>
            <a:ext cx="1130380" cy="425758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FMOC-Cl [23]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FLEC [24]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43738" y="5449824"/>
            <a:ext cx="2130945" cy="1005840"/>
          </a:xfrm>
          <a:prstGeom prst="roundRect">
            <a:avLst/>
          </a:prstGeom>
          <a:solidFill>
            <a:srgbClr val="148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622118" y="5504688"/>
            <a:ext cx="1971736" cy="369332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2300" b="1">
                <a:solidFill>
                  <a:srgbClr val="FFFFFF"/>
                </a:solidFill>
                <a:latin typeface="Noto Sans CJK SC"/>
              </a:defRPr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HPLC–CD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97624" y="5934456"/>
            <a:ext cx="2020723" cy="246221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400" b="0">
                <a:solidFill>
                  <a:srgbClr val="FFFFFF"/>
                </a:solidFill>
                <a:latin typeface="Noto Sans CJK SC"/>
              </a:defRPr>
            </a:pP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液相色谱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–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圆二色检测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 CJK SC"/>
              <a:ea typeface="+mn-ea"/>
              <a:cs typeface="+mn-cs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4749241" y="5449824"/>
            <a:ext cx="6429574" cy="1005840"/>
          </a:xfrm>
          <a:prstGeom prst="roundRect">
            <a:avLst/>
          </a:prstGeom>
          <a:solidFill>
            <a:srgbClr val="E8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4855464" y="5541264"/>
            <a:ext cx="2002536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892040" y="5605272"/>
            <a:ext cx="1929384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  <a:defRPr sz="1400">
                <a:solidFill>
                  <a:srgbClr val="148477"/>
                </a:solidFill>
                <a:latin typeface="Noto Sans CJK SC"/>
              </a:defRPr>
            </a:pPr>
            <a:r>
              <a:t>异硫氰酸酯类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892040" y="5925312"/>
            <a:ext cx="1929384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  <a:defRPr sz="1500">
                <a:solidFill>
                  <a:srgbClr val="233A50"/>
                </a:solidFill>
                <a:latin typeface="Noto Sans CJK SC"/>
              </a:defRPr>
            </a:pPr>
            <a:r>
              <a:t>PITC–PTH [25]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958584" y="5541264"/>
            <a:ext cx="2002536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995160" y="5605272"/>
            <a:ext cx="1929384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  <a:defRPr sz="1400">
                <a:solidFill>
                  <a:srgbClr val="148477"/>
                </a:solidFill>
                <a:latin typeface="Noto Sans CJK SC"/>
              </a:defRPr>
            </a:pPr>
            <a:r>
              <a:t>芳香亲核取代类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995160" y="5925312"/>
            <a:ext cx="1929384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  <a:defRPr sz="1500">
                <a:solidFill>
                  <a:srgbClr val="233A50"/>
                </a:solidFill>
                <a:latin typeface="Noto Sans CJK SC"/>
              </a:defRPr>
            </a:pPr>
            <a:r>
              <a:t>NBD-F [26]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061704" y="5541264"/>
            <a:ext cx="2002536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098280" y="5605272"/>
            <a:ext cx="1929384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  <a:defRPr sz="1400">
                <a:solidFill>
                  <a:srgbClr val="148477"/>
                </a:solidFill>
                <a:latin typeface="Noto Sans CJK SC"/>
              </a:defRPr>
            </a:pPr>
            <a:r>
              <a:t>无需衍生化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098280" y="5925312"/>
            <a:ext cx="1929384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  <a:defRPr sz="1500">
                <a:solidFill>
                  <a:srgbClr val="233A50"/>
                </a:solidFill>
                <a:latin typeface="Noto Sans CJK SC"/>
              </a:defRPr>
            </a:pPr>
            <a:r>
              <a:t>Trp [27] · Phe [28]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48640" y="6547104"/>
            <a:ext cx="109728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00">
                <a:solidFill>
                  <a:srgbClr val="617389"/>
                </a:solidFill>
                <a:latin typeface="Noto Sans CJK SC"/>
              </a:defRPr>
            </a:pPr>
            <a:r>
              <a:t>直接分析：Trp采用手性柱[27]；Phe采用非手性柱[28]。适用性须逐个氨基酸验证。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2688336" y="1728216"/>
            <a:ext cx="2057400" cy="0"/>
          </a:xfrm>
          <a:prstGeom prst="line">
            <a:avLst/>
          </a:prstGeom>
          <a:ln w="25400">
            <a:solidFill>
              <a:srgbClr val="24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2734056" y="1069848"/>
            <a:ext cx="1965960" cy="5760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  <a:defRPr sz="1800" b="0">
                <a:solidFill>
                  <a:srgbClr val="2474B5"/>
                </a:solidFill>
                <a:latin typeface="Noto Sans CJK SC"/>
              </a:defRPr>
            </a:pPr>
            <a:r>
              <a:t>①手性固定相</a:t>
            </a:r>
            <a:br/>
            <a:r>
              <a:t>②手性衍生化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734056" y="1810512"/>
            <a:ext cx="1965960" cy="283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  <a:defRPr sz="1600" b="0">
                <a:solidFill>
                  <a:srgbClr val="2474B5"/>
                </a:solidFill>
                <a:latin typeface="Noto Sans CJK SC"/>
              </a:defRPr>
            </a:pPr>
            <a:r>
              <a:t>UV · 荧光 · MS/MS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2688336" y="3090672"/>
            <a:ext cx="2057400" cy="0"/>
          </a:xfrm>
          <a:prstGeom prst="line">
            <a:avLst/>
          </a:prstGeom>
          <a:ln w="25400">
            <a:solidFill>
              <a:srgbClr val="C181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2734056" y="2432304"/>
            <a:ext cx="1965960" cy="5760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  <a:defRPr sz="1800" b="0">
                <a:solidFill>
                  <a:srgbClr val="C18129"/>
                </a:solidFill>
                <a:latin typeface="Noto Sans CJK SC"/>
              </a:defRPr>
            </a:pPr>
            <a:r>
              <a:t>①手性固定相</a:t>
            </a:r>
            <a:br/>
            <a:r>
              <a:t>②手性衍生化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734056" y="3172968"/>
            <a:ext cx="1965960" cy="283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  <a:defRPr sz="1600" b="0">
                <a:solidFill>
                  <a:srgbClr val="C18129"/>
                </a:solidFill>
                <a:latin typeface="Noto Sans CJK SC"/>
              </a:defRPr>
            </a:pPr>
            <a:r>
              <a:t>FID · MS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2688336" y="4443984"/>
            <a:ext cx="2057400" cy="0"/>
          </a:xfrm>
          <a:prstGeom prst="line">
            <a:avLst/>
          </a:prstGeom>
          <a:ln w="25400">
            <a:solidFill>
              <a:srgbClr val="7B61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2734056" y="3785616"/>
            <a:ext cx="1965960" cy="5760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  <a:defRPr sz="1800" b="0">
                <a:solidFill>
                  <a:srgbClr val="7B61A8"/>
                </a:solidFill>
                <a:latin typeface="Noto Sans CJK SC"/>
              </a:defRPr>
            </a:pPr>
            <a:r>
              <a:t>①手性选择剂</a:t>
            </a:r>
            <a:br/>
            <a:r>
              <a:t>②手性衍生化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734056" y="4526280"/>
            <a:ext cx="1965960" cy="283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  <a:defRPr sz="1600" b="0">
                <a:solidFill>
                  <a:srgbClr val="7B61A8"/>
                </a:solidFill>
                <a:latin typeface="Noto Sans CJK SC"/>
              </a:defRPr>
            </a:pPr>
            <a:r>
              <a:t>UV · 荧光 · MS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2688336" y="5925312"/>
            <a:ext cx="2057400" cy="0"/>
          </a:xfrm>
          <a:prstGeom prst="line">
            <a:avLst/>
          </a:prstGeom>
          <a:ln w="25400">
            <a:solidFill>
              <a:srgbClr val="1484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2734056" y="5266944"/>
            <a:ext cx="1965960" cy="5760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  <a:defRPr sz="1800" b="0">
                <a:solidFill>
                  <a:srgbClr val="148477"/>
                </a:solidFill>
                <a:latin typeface="Noto Sans CJK SC"/>
              </a:defRPr>
            </a:pPr>
            <a:r>
              <a:t>①手性固定相</a:t>
            </a:r>
            <a:br/>
            <a:r>
              <a:t>②非手性分离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734056" y="6007608"/>
            <a:ext cx="1965960" cy="283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  <a:defRPr sz="1600" b="0">
                <a:solidFill>
                  <a:srgbClr val="148477"/>
                </a:solidFill>
                <a:latin typeface="Noto Sans CJK SC"/>
              </a:defRPr>
            </a:pPr>
            <a:r>
              <a:t>CD · UV · 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0312"/>
            <a:ext cx="1153972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2500" b="1">
                <a:solidFill>
                  <a:srgbClr val="172F49"/>
                </a:solidFill>
                <a:latin typeface="Noto Sans CJK SC"/>
              </a:defRPr>
            </a:pPr>
            <a:r>
              <a:t>选择原则：文献初筛 → 三条候选思路 → 实验复筛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8680"/>
            <a:ext cx="45720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  <a:defRPr sz="1800" b="1">
                <a:solidFill>
                  <a:srgbClr val="617389"/>
                </a:solidFill>
                <a:latin typeface="Noto Sans CJK SC"/>
              </a:defRPr>
            </a:pPr>
            <a:r>
              <a:t>已有分析方法与衍生化试剂</a:t>
            </a:r>
          </a:p>
        </p:txBody>
      </p:sp>
      <p:pic>
        <p:nvPicPr>
          <p:cNvPr id="4" name="Picture 3" descr="selection_updated_method_in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353312"/>
            <a:ext cx="4919472" cy="4142232"/>
          </a:xfrm>
          <a:prstGeom prst="rect">
            <a:avLst/>
          </a:prstGeom>
        </p:spPr>
      </p:pic>
      <p:sp>
        <p:nvSpPr>
          <p:cNvPr id="5" name="Right Brace 4"/>
          <p:cNvSpPr/>
          <p:nvPr/>
        </p:nvSpPr>
        <p:spPr>
          <a:xfrm>
            <a:off x="5129784" y="1353312"/>
            <a:ext cx="201168" cy="4142232"/>
          </a:xfrm>
          <a:prstGeom prst="rightBrace">
            <a:avLst/>
          </a:prstGeom>
          <a:noFill/>
          <a:ln w="25400">
            <a:solidFill>
              <a:srgbClr val="1484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13248" y="868680"/>
            <a:ext cx="19019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  <a:defRPr sz="1800" b="1">
                <a:solidFill>
                  <a:srgbClr val="148477"/>
                </a:solidFill>
                <a:latin typeface="Noto Sans CJK SC"/>
              </a:defRPr>
            </a:pPr>
            <a:r>
              <a:t>文献初筛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13248" y="1353312"/>
            <a:ext cx="1920240" cy="1664208"/>
          </a:xfrm>
          <a:prstGeom prst="roundRect">
            <a:avLst/>
          </a:prstGeom>
          <a:solidFill>
            <a:srgbClr val="E8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13832" y="1481328"/>
            <a:ext cx="171907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700" b="1">
                <a:solidFill>
                  <a:srgbClr val="148477"/>
                </a:solidFill>
                <a:latin typeface="Noto Sans CJK SC"/>
              </a:defRPr>
            </a:pPr>
            <a:r>
              <a:t>1 选择HPLC–CD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13832" y="1920240"/>
            <a:ext cx="1719072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  <a:defRPr sz="1330" b="0">
                <a:solidFill>
                  <a:srgbClr val="243B50"/>
                </a:solidFill>
                <a:latin typeface="Noto Sans CJK SC"/>
              </a:defRPr>
            </a:pPr>
            <a:r>
              <a:t>UV/CD信息互补 [26]</a:t>
            </a:r>
          </a:p>
          <a:p>
            <a:pPr algn="l">
              <a:lnSpc>
                <a:spcPct val="105000"/>
              </a:lnSpc>
              <a:spcAft>
                <a:spcPts val="500"/>
              </a:spcAft>
              <a:defRPr sz="1330" b="0">
                <a:solidFill>
                  <a:srgbClr val="243B50"/>
                </a:solidFill>
                <a:latin typeface="Noto Sans CJK SC"/>
              </a:defRPr>
            </a:pPr>
            <a:r>
              <a:t>不拆分D/L求比例 [26]</a:t>
            </a:r>
          </a:p>
          <a:p>
            <a:pPr algn="l">
              <a:lnSpc>
                <a:spcPct val="105000"/>
              </a:lnSpc>
              <a:spcAft>
                <a:spcPts val="500"/>
              </a:spcAft>
              <a:defRPr sz="1330" b="0">
                <a:solidFill>
                  <a:srgbClr val="243B50"/>
                </a:solidFill>
                <a:latin typeface="Noto Sans CJK SC"/>
              </a:defRPr>
            </a:pPr>
            <a:r>
              <a:t>特定AA直测 [27,28]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13248" y="3675887"/>
            <a:ext cx="1920240" cy="1664208"/>
          </a:xfrm>
          <a:prstGeom prst="roundRect">
            <a:avLst/>
          </a:prstGeom>
          <a:solidFill>
            <a:srgbClr val="E8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13832" y="3794760"/>
            <a:ext cx="171907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600" b="1">
                <a:solidFill>
                  <a:srgbClr val="148477"/>
                </a:solidFill>
                <a:latin typeface="Noto Sans CJK SC"/>
              </a:defRPr>
            </a:pPr>
            <a:r>
              <a:t>2 筛选衍生化试剂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13832" y="4352544"/>
            <a:ext cx="1719072" cy="9052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非手性≠不会消旋</a:t>
            </a:r>
          </a:p>
          <a:p>
            <a:pPr algn="l">
              <a:lnSpc>
                <a:spcPct val="105000"/>
              </a:lnSpc>
              <a:spcAft>
                <a:spcPts val="60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UV/CD响应须实测</a:t>
            </a:r>
          </a:p>
          <a:p>
            <a:pPr algn="l">
              <a:lnSpc>
                <a:spcPct val="105000"/>
              </a:lnSpc>
              <a:spcAft>
                <a:spcPts val="60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兼顾效率与稳定性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660136" y="3172968"/>
            <a:ext cx="1975104" cy="274320"/>
          </a:xfrm>
          <a:prstGeom prst="rightArrow">
            <a:avLst/>
          </a:prstGeom>
          <a:solidFill>
            <a:srgbClr val="148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08392" y="868680"/>
            <a:ext cx="197510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  <a:defRPr sz="1800" b="1">
                <a:solidFill>
                  <a:srgbClr val="172F49"/>
                </a:solidFill>
                <a:latin typeface="Noto Sans CJK SC"/>
              </a:defRPr>
            </a:pPr>
            <a:r>
              <a:t>三条候选思路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08392" y="1170432"/>
            <a:ext cx="1975104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  <a:defRPr sz="1200" b="0">
                <a:solidFill>
                  <a:srgbClr val="617389"/>
                </a:solidFill>
                <a:latin typeface="Noto Sans CJK SC"/>
              </a:defRPr>
            </a:pPr>
            <a:r>
              <a:t>拟用HPLC–UV/CD评价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08392" y="1554480"/>
            <a:ext cx="1975104" cy="11155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4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08975" y="1655064"/>
            <a:ext cx="1773936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  <a:defRPr sz="2200" b="1">
                <a:solidFill>
                  <a:srgbClr val="2474B5"/>
                </a:solidFill>
                <a:latin typeface="Noto Sans CJK SC"/>
              </a:defRPr>
            </a:pPr>
            <a:r>
              <a:t>PITC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99831" y="2121408"/>
            <a:ext cx="179222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  <a:defRPr sz="1330" b="0">
                <a:solidFill>
                  <a:srgbClr val="243B50"/>
                </a:solidFill>
                <a:latin typeface="Noto Sans CJK SC"/>
              </a:defRPr>
            </a:pPr>
            <a:r>
              <a:t>现有方法作基线 [29]</a:t>
            </a:r>
          </a:p>
          <a:p>
            <a:pPr algn="ctr">
              <a:lnSpc>
                <a:spcPct val="105000"/>
              </a:lnSpc>
              <a:spcAft>
                <a:spcPts val="400"/>
              </a:spcAft>
              <a:defRPr sz="1330" b="0">
                <a:solidFill>
                  <a:srgbClr val="243B50"/>
                </a:solidFill>
                <a:latin typeface="Noto Sans CJK SC"/>
              </a:defRPr>
            </a:pPr>
            <a:r>
              <a:t>PTC的CD待验证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08392" y="2834640"/>
            <a:ext cx="1975104" cy="11155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181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08975" y="2935224"/>
            <a:ext cx="1773936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  <a:defRPr sz="2200" b="1">
                <a:solidFill>
                  <a:srgbClr val="C18129"/>
                </a:solidFill>
                <a:latin typeface="Noto Sans CJK SC"/>
              </a:defRPr>
            </a:pPr>
            <a:r>
              <a:t>AQC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99831" y="3401568"/>
            <a:ext cx="179222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  <a:defRPr sz="1330" b="0">
                <a:solidFill>
                  <a:srgbClr val="243B50"/>
                </a:solidFill>
                <a:latin typeface="Noto Sans CJK SC"/>
              </a:defRPr>
            </a:pPr>
            <a:r>
              <a:t>稳定脲衍生物 [30]</a:t>
            </a:r>
          </a:p>
          <a:p>
            <a:pPr algn="ctr">
              <a:lnSpc>
                <a:spcPct val="105000"/>
              </a:lnSpc>
              <a:spcAft>
                <a:spcPts val="400"/>
              </a:spcAft>
              <a:defRPr sz="1330" b="0">
                <a:solidFill>
                  <a:srgbClr val="243B50"/>
                </a:solidFill>
                <a:latin typeface="Noto Sans CJK SC"/>
              </a:defRPr>
            </a:pPr>
            <a:r>
              <a:t>pH/CD需确认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08392" y="4114800"/>
            <a:ext cx="1975104" cy="11155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B6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08975" y="4215384"/>
            <a:ext cx="1773936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  <a:defRPr sz="1700" b="1">
                <a:solidFill>
                  <a:srgbClr val="7B61A8"/>
                </a:solidFill>
                <a:latin typeface="Noto Sans CJK SC"/>
              </a:defRPr>
            </a:pPr>
            <a:r>
              <a:t>OPA＋非手性硫醇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99831" y="4681728"/>
            <a:ext cx="1792224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  <a:defRPr sz="1330" b="0">
                <a:solidFill>
                  <a:srgbClr val="243B50"/>
                </a:solidFill>
                <a:latin typeface="Noto Sans CJK SC"/>
              </a:defRPr>
            </a:pPr>
            <a:r>
              <a:t>快速、易自动化 [31]</a:t>
            </a:r>
          </a:p>
          <a:p>
            <a:pPr algn="ctr">
              <a:lnSpc>
                <a:spcPct val="105000"/>
              </a:lnSpc>
              <a:spcAft>
                <a:spcPts val="400"/>
              </a:spcAft>
              <a:defRPr sz="1330" b="0">
                <a:solidFill>
                  <a:srgbClr val="243B50"/>
                </a:solidFill>
                <a:latin typeface="Noto Sans CJK SC"/>
              </a:defRPr>
            </a:pPr>
            <a:r>
              <a:t>稳定性依条件 [32]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738360" y="3191256"/>
            <a:ext cx="329184" cy="265176"/>
          </a:xfrm>
          <a:prstGeom prst="rightArrow">
            <a:avLst/>
          </a:prstGeom>
          <a:solidFill>
            <a:srgbClr val="C181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85832" y="868680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  <a:defRPr sz="1800" b="1">
                <a:solidFill>
                  <a:srgbClr val="C18129"/>
                </a:solidFill>
                <a:latin typeface="Noto Sans CJK SC"/>
              </a:defRPr>
            </a:pPr>
            <a:r>
              <a:t>实验复筛思路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85832" y="1353312"/>
            <a:ext cx="1920240" cy="1874519"/>
          </a:xfrm>
          <a:prstGeom prst="roundRect">
            <a:avLst/>
          </a:prstGeom>
          <a:solidFill>
            <a:srgbClr val="FB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86416" y="1481328"/>
            <a:ext cx="171907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700" b="1">
                <a:solidFill>
                  <a:srgbClr val="C18129"/>
                </a:solidFill>
                <a:latin typeface="Noto Sans CJK SC"/>
              </a:defRPr>
            </a:pPr>
            <a:r>
              <a:t>1 实际样品适用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86416" y="1993392"/>
            <a:ext cx="1719072" cy="1115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  <a:defRPr sz="1350" b="0">
                <a:solidFill>
                  <a:srgbClr val="243B50"/>
                </a:solidFill>
                <a:latin typeface="Noto Sans CJK SC"/>
              </a:defRPr>
            </a:pPr>
            <a:r>
              <a:t>峰归属与UV/CD信号</a:t>
            </a:r>
          </a:p>
          <a:p>
            <a:pPr algn="l">
              <a:lnSpc>
                <a:spcPct val="105000"/>
              </a:lnSpc>
              <a:spcAft>
                <a:spcPts val="400"/>
              </a:spcAft>
              <a:defRPr sz="1350" b="0">
                <a:solidFill>
                  <a:srgbClr val="243B50"/>
                </a:solidFill>
                <a:latin typeface="Noto Sans CJK SC"/>
              </a:defRPr>
            </a:pPr>
            <a:r>
              <a:t>稳定性/回收/精密度</a:t>
            </a:r>
          </a:p>
          <a:p>
            <a:pPr algn="l">
              <a:lnSpc>
                <a:spcPct val="105000"/>
              </a:lnSpc>
              <a:spcAft>
                <a:spcPts val="400"/>
              </a:spcAft>
              <a:defRPr sz="1350" b="0">
                <a:solidFill>
                  <a:srgbClr val="243B50"/>
                </a:solidFill>
                <a:latin typeface="Noto Sans CJK SC"/>
              </a:defRPr>
            </a:pPr>
            <a:r>
              <a:t>水解与衍生构型保持</a:t>
            </a:r>
          </a:p>
          <a:p>
            <a:pPr algn="l">
              <a:lnSpc>
                <a:spcPct val="105000"/>
              </a:lnSpc>
              <a:spcAft>
                <a:spcPts val="400"/>
              </a:spcAft>
              <a:defRPr sz="1350" b="0">
                <a:solidFill>
                  <a:srgbClr val="243B50"/>
                </a:solidFill>
                <a:latin typeface="Noto Sans CJK SC"/>
              </a:defRPr>
            </a:pPr>
            <a:r>
              <a:t>Phe、Leu、Lys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85832" y="3639312"/>
            <a:ext cx="1920240" cy="1874519"/>
          </a:xfrm>
          <a:prstGeom prst="roundRect">
            <a:avLst/>
          </a:prstGeom>
          <a:solidFill>
            <a:srgbClr val="FB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86416" y="3767328"/>
            <a:ext cx="171907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700" b="1">
                <a:solidFill>
                  <a:srgbClr val="C18129"/>
                </a:solidFill>
                <a:latin typeface="Noto Sans CJK SC"/>
              </a:defRPr>
            </a:pPr>
            <a:r>
              <a:t>2 D/L定量关系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86416" y="4288536"/>
            <a:ext cx="1719072" cy="10881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  <a:defRPr sz="1350" b="0">
                <a:solidFill>
                  <a:srgbClr val="243B50"/>
                </a:solidFill>
                <a:latin typeface="Noto Sans CJK SC"/>
              </a:defRPr>
            </a:pPr>
            <a:r>
              <a:t>固定总浓度混配D/L</a:t>
            </a:r>
          </a:p>
          <a:p>
            <a:pPr algn="l">
              <a:lnSpc>
                <a:spcPct val="105000"/>
              </a:lnSpc>
              <a:spcAft>
                <a:spcPts val="400"/>
              </a:spcAft>
              <a:defRPr sz="1350" b="0">
                <a:solidFill>
                  <a:srgbClr val="243B50"/>
                </a:solidFill>
                <a:latin typeface="Noto Sans CJK SC"/>
              </a:defRPr>
            </a:pPr>
            <a:r>
              <a:t>一起衍生，测CD/UV</a:t>
            </a:r>
          </a:p>
          <a:p>
            <a:pPr algn="l">
              <a:lnSpc>
                <a:spcPct val="105000"/>
              </a:lnSpc>
              <a:spcAft>
                <a:spcPts val="400"/>
              </a:spcAft>
              <a:defRPr sz="1350" b="0">
                <a:solidFill>
                  <a:srgbClr val="243B50"/>
                </a:solidFill>
                <a:latin typeface="Noto Sans CJK SC"/>
              </a:defRPr>
            </a:pPr>
            <a:r>
              <a:t>拟合响应比—ee曲线</a:t>
            </a:r>
          </a:p>
          <a:p>
            <a:pPr algn="l">
              <a:lnSpc>
                <a:spcPct val="105000"/>
              </a:lnSpc>
              <a:spcAft>
                <a:spcPts val="400"/>
              </a:spcAft>
              <a:defRPr sz="1350" b="0">
                <a:solidFill>
                  <a:srgbClr val="243B50"/>
                </a:solidFill>
                <a:latin typeface="Noto Sans CJK SC"/>
              </a:defRPr>
            </a:pPr>
            <a:r>
              <a:t>浓度挑战＋独立质控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5705856"/>
            <a:ext cx="4526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  <a:defRPr sz="1200" b="0">
                <a:solidFill>
                  <a:srgbClr val="617389"/>
                </a:solidFill>
                <a:latin typeface="Noto Sans CJK SC"/>
              </a:defRPr>
            </a:pPr>
            <a:r>
              <a:t>方法图已补：手性柱与未衍生化直接分析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13248" y="5733288"/>
            <a:ext cx="6592824" cy="704088"/>
          </a:xfrm>
          <a:prstGeom prst="roundRect">
            <a:avLst/>
          </a:prstGeom>
          <a:solidFill>
            <a:srgbClr val="E8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32120" y="5824728"/>
            <a:ext cx="635508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500" b="1">
                <a:solidFill>
                  <a:srgbClr val="148477"/>
                </a:solidFill>
                <a:latin typeface="Noto Sans CJK SC"/>
              </a:defRPr>
            </a:pPr>
            <a:r>
              <a:t>拟利用的优势：非手性标签＋UV/CD联合信息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32120" y="6135624"/>
            <a:ext cx="635508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310" b="0">
                <a:solidFill>
                  <a:srgbClr val="243B50"/>
                </a:solidFill>
                <a:latin typeface="Noto Sans CJK SC"/>
              </a:defRPr>
            </a:pPr>
            <a:r>
              <a:t>不必拆分D/L即可校准比例 [26]；D/L可呈相反CD响应 [25]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574536"/>
            <a:ext cx="114300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050" b="0">
                <a:solidFill>
                  <a:srgbClr val="617389"/>
                </a:solidFill>
                <a:latin typeface="Noto Sans CJK SC"/>
              </a:defRPr>
            </a:pPr>
            <a:r>
              <a:t>上述CD优势来自NBD-F/PTH文献，不代表三候选已验证。ee详细方案见第3页；三法差异见第4页。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0312"/>
            <a:ext cx="1153972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2500" b="1">
                <a:solidFill>
                  <a:srgbClr val="172F49"/>
                </a:solidFill>
                <a:latin typeface="Noto Sans CJK SC"/>
              </a:defRPr>
            </a:pPr>
            <a:r>
              <a:t>ee校准思路：固定总浓度，建立响应比—ee关系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49808"/>
            <a:ext cx="11430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400" b="0">
                <a:solidFill>
                  <a:srgbClr val="617389"/>
                </a:solidFill>
                <a:latin typeface="Noto Sans CJK SC"/>
              </a:defRPr>
            </a:pPr>
            <a:r>
              <a:t>适用于非手性LC上同一氨基酸的D/L共洗脱；手性柱分离时，应分别校准D、L峰。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93192" y="1261872"/>
            <a:ext cx="11384280" cy="585216"/>
          </a:xfrm>
          <a:prstGeom prst="roundRect">
            <a:avLst/>
          </a:prstGeom>
          <a:solidFill>
            <a:srgbClr val="172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99032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  <a:defRPr sz="2100" b="1">
                <a:solidFill>
                  <a:srgbClr val="FFFFFF"/>
                </a:solidFill>
                <a:latin typeface="Noto Sans CJK SC"/>
              </a:defRPr>
            </a:pPr>
            <a:r>
              <a:t>eeD = (cD − cL) / (cD + cL) × 100%   （D为正；不代表CD峰一定为正）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20116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800" b="1">
                <a:solidFill>
                  <a:srgbClr val="148477"/>
                </a:solidFill>
                <a:latin typeface="Noto Sans CJK SC"/>
              </a:defRPr>
            </a:pPr>
            <a:r>
              <a:t>① 按物质的量配制9个比例水平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" y="2487168"/>
            <a:ext cx="4480560" cy="256032"/>
          </a:xfrm>
          <a:prstGeom prst="roundRect">
            <a:avLst/>
          </a:prstGeom>
          <a:solidFill>
            <a:srgbClr val="172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519172"/>
            <a:ext cx="2029968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400" b="0">
                <a:solidFill>
                  <a:srgbClr val="FFFFFF"/>
                </a:solidFill>
                <a:latin typeface="Noto Sans CJK SC"/>
              </a:defRPr>
            </a:pPr>
            <a:r>
              <a:t>D:L摩尔比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15768" y="2519172"/>
            <a:ext cx="20116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400" b="0">
                <a:solidFill>
                  <a:srgbClr val="FFFFFF"/>
                </a:solidFill>
                <a:latin typeface="Noto Sans CJK SC"/>
              </a:defRPr>
            </a:pPr>
            <a:r>
              <a:t>理论eeD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" y="2752344"/>
            <a:ext cx="448056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784348"/>
            <a:ext cx="2029968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100:0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15768" y="2784348"/>
            <a:ext cx="20116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+100%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" y="3017520"/>
            <a:ext cx="4480560" cy="256032"/>
          </a:xfrm>
          <a:prstGeom prst="roundRect">
            <a:avLst/>
          </a:prstGeom>
          <a:solidFill>
            <a:srgbClr val="E8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3049524"/>
            <a:ext cx="2029968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90:10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15768" y="3049524"/>
            <a:ext cx="20116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+80%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" y="3282696"/>
            <a:ext cx="448056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314700"/>
            <a:ext cx="2029968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75:25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15768" y="3314700"/>
            <a:ext cx="20116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+50%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" y="3547872"/>
            <a:ext cx="4480560" cy="256032"/>
          </a:xfrm>
          <a:prstGeom prst="roundRect">
            <a:avLst/>
          </a:prstGeom>
          <a:solidFill>
            <a:srgbClr val="E8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579876"/>
            <a:ext cx="2029968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60:40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15768" y="3579876"/>
            <a:ext cx="20116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+20%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" y="3813048"/>
            <a:ext cx="448056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3845052"/>
            <a:ext cx="2029968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50:50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15768" y="3845052"/>
            <a:ext cx="20116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0%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" y="4078224"/>
            <a:ext cx="4480560" cy="256032"/>
          </a:xfrm>
          <a:prstGeom prst="roundRect">
            <a:avLst/>
          </a:prstGeom>
          <a:solidFill>
            <a:srgbClr val="E8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4110228"/>
            <a:ext cx="2029968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40:60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15768" y="4110228"/>
            <a:ext cx="20116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−20%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912" y="4343400"/>
            <a:ext cx="448056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4375404"/>
            <a:ext cx="2029968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25:75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15768" y="4375404"/>
            <a:ext cx="20116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−50%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8912" y="4608576"/>
            <a:ext cx="4480560" cy="256032"/>
          </a:xfrm>
          <a:prstGeom prst="roundRect">
            <a:avLst/>
          </a:prstGeom>
          <a:solidFill>
            <a:srgbClr val="E8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" y="4640580"/>
            <a:ext cx="2029968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10:90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15768" y="4640580"/>
            <a:ext cx="20116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−80%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8912" y="4873752"/>
            <a:ext cx="4480560" cy="2560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" y="4905756"/>
            <a:ext cx="2029968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0:100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15768" y="4905756"/>
            <a:ext cx="20116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−100%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303520"/>
            <a:ext cx="441655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CT = cD＋cL保持恒定，浓度由预实验选定。</a:t>
            </a:r>
          </a:p>
          <a:p>
            <a:pPr algn="l">
              <a:lnSpc>
                <a:spcPct val="105000"/>
              </a:lnSpc>
              <a:spcAft>
                <a:spcPts val="40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先按纯度、盐型校正，再混合并一起衍生。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330952" y="2011680"/>
            <a:ext cx="6428232" cy="1947672"/>
          </a:xfrm>
          <a:prstGeom prst="roundRect">
            <a:avLst/>
          </a:prstGeom>
          <a:solidFill>
            <a:srgbClr val="E8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513832" y="2167128"/>
            <a:ext cx="606247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800" b="1">
                <a:solidFill>
                  <a:srgbClr val="148477"/>
                </a:solidFill>
                <a:latin typeface="Noto Sans CJK SC"/>
              </a:defRPr>
            </a:pPr>
            <a:r>
              <a:t>② 取带符号响应比，再检验线性模型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13832" y="2688336"/>
            <a:ext cx="60624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2100" b="1">
                <a:solidFill>
                  <a:srgbClr val="172F49"/>
                </a:solidFill>
                <a:latin typeface="Noto Sans CJK SC"/>
              </a:defRPr>
            </a:pPr>
            <a:r>
              <a:t>R = SCD / SUV；拟合 R = a·eeD＋b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13832" y="3209544"/>
            <a:ext cx="6062472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  <a:defRPr sz="1450" b="0">
                <a:solidFill>
                  <a:srgbClr val="243B50"/>
                </a:solidFill>
                <a:latin typeface="Noto Sans CJK SC"/>
              </a:defRPr>
            </a:pPr>
            <a:r>
              <a:t>S为峰面积；CD面积保留正负号，校正空白、基线与通道时延。</a:t>
            </a:r>
          </a:p>
          <a:p>
            <a:pPr algn="l">
              <a:lnSpc>
                <a:spcPct val="105000"/>
              </a:lnSpc>
              <a:spcAft>
                <a:spcPts val="500"/>
              </a:spcAft>
              <a:defRPr sz="1450" b="0">
                <a:solidFill>
                  <a:srgbClr val="243B50"/>
                </a:solidFill>
                <a:latin typeface="Noto Sans CJK SC"/>
              </a:defRPr>
            </a:pPr>
            <a:r>
              <a:t>R是经验响应比，不直接等于g因子；每个氨基酸单独校准。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330952" y="4160520"/>
            <a:ext cx="6428232" cy="16184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513832" y="4297680"/>
            <a:ext cx="606247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800" b="1">
                <a:solidFill>
                  <a:srgbClr val="148477"/>
                </a:solidFill>
                <a:latin typeface="Noto Sans CJK SC"/>
              </a:defRPr>
            </a:pPr>
            <a:r>
              <a:t>③ 用独立样品验证，不只看校准点或R²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13832" y="4773168"/>
            <a:ext cx="6062472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  <a:defRPr sz="1450" b="0">
                <a:solidFill>
                  <a:srgbClr val="243B50"/>
                </a:solidFill>
                <a:latin typeface="Noto Sans CJK SC"/>
              </a:defRPr>
            </a:pPr>
            <a:r>
              <a:t>独立配制±40%、±70%等QC；固定ee改变CT，检查浓度依赖。</a:t>
            </a:r>
          </a:p>
          <a:p>
            <a:pPr algn="l">
              <a:lnSpc>
                <a:spcPct val="105000"/>
              </a:lnSpc>
              <a:spcAft>
                <a:spcPts val="500"/>
              </a:spcAft>
              <a:defRPr sz="1450" b="0">
                <a:solidFill>
                  <a:srgbClr val="243B50"/>
                </a:solidFill>
                <a:latin typeface="Noto Sans CJK SC"/>
              </a:defRPr>
            </a:pPr>
            <a:r>
              <a:t>高ee端加密；需要微量对映体结论时用手性LC复核。</a:t>
            </a:r>
          </a:p>
          <a:p>
            <a:pPr algn="l">
              <a:lnSpc>
                <a:spcPct val="105000"/>
              </a:lnSpc>
              <a:spcAft>
                <a:spcPts val="500"/>
              </a:spcAft>
              <a:defRPr sz="1450" b="0">
                <a:solidFill>
                  <a:srgbClr val="243B50"/>
                </a:solidFill>
                <a:latin typeface="Noto Sans CJK SC"/>
              </a:defRPr>
            </a:pPr>
            <a:r>
              <a:t>设置经/不经水解的对照，并用已知构型肽排查水解与衍生偏差。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38912" y="6016752"/>
            <a:ext cx="11320272" cy="438912"/>
          </a:xfrm>
          <a:prstGeom prst="roundRect">
            <a:avLst/>
          </a:prstGeom>
          <a:solidFill>
            <a:srgbClr val="E8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94360" y="6117336"/>
            <a:ext cx="1099108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400" b="0">
                <a:solidFill>
                  <a:srgbClr val="243B50"/>
                </a:solidFill>
                <a:latin typeface="Noto Sans CJK SC"/>
              </a:defRPr>
            </a:pPr>
            <a:r>
              <a:t>建议每点≥3份独立制备；先确认目标峰/产物与响应线性，再预设回算偏差和精密度接受标准。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1480" y="6583680"/>
            <a:ext cx="113385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050" b="0">
                <a:solidFill>
                  <a:srgbClr val="617389"/>
                </a:solidFill>
                <a:latin typeface="Noto Sans CJK SC"/>
              </a:defRPr>
            </a:pPr>
            <a:r>
              <a:t>依据[25–26]提出的实验方案，尚未执行；9点、QC与重复数为本项目建议，不是原文照录。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0312"/>
            <a:ext cx="1153972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2500" b="1">
                <a:solidFill>
                  <a:srgbClr val="172F49"/>
                </a:solidFill>
                <a:latin typeface="Noto Sans CJK SC"/>
              </a:defRPr>
            </a:pPr>
            <a:r>
              <a:t>三条候选思路：比较的是实验分工，不是预设CD性能排名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49808"/>
            <a:ext cx="11430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400" b="0">
                <a:solidFill>
                  <a:srgbClr val="617389"/>
                </a:solidFill>
                <a:latin typeface="Noto Sans CJK SC"/>
              </a:defRPr>
            </a:pPr>
            <a:r>
              <a:t>PITC作已有方法基线，AQC作稳定标记参照，OPA作快速流程候选；最终由同一验证框架筛选。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" y="1325880"/>
            <a:ext cx="1920240" cy="416051"/>
          </a:xfrm>
          <a:prstGeom prst="roundRect">
            <a:avLst/>
          </a:prstGeom>
          <a:solidFill>
            <a:srgbClr val="172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17373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600" b="1">
                <a:solidFill>
                  <a:srgbClr val="FFFFFF"/>
                </a:solidFill>
                <a:latin typeface="Noto Sans CJK SC"/>
              </a:defRPr>
            </a:pPr>
            <a:r>
              <a:t>比较维度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77440" y="1325880"/>
            <a:ext cx="3081528" cy="416051"/>
          </a:xfrm>
          <a:prstGeom prst="roundRect">
            <a:avLst/>
          </a:prstGeom>
          <a:solidFill>
            <a:srgbClr val="172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68880" y="1417320"/>
            <a:ext cx="289864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600" b="1">
                <a:solidFill>
                  <a:srgbClr val="FFFFFF"/>
                </a:solidFill>
                <a:latin typeface="Noto Sans CJK SC"/>
              </a:defRPr>
            </a:pPr>
            <a:r>
              <a:t>PITC（本项目PTC）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77256" y="1325880"/>
            <a:ext cx="3090672" cy="416051"/>
          </a:xfrm>
          <a:prstGeom prst="roundRect">
            <a:avLst/>
          </a:prstGeom>
          <a:solidFill>
            <a:srgbClr val="172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68696" y="1417320"/>
            <a:ext cx="2907791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600" b="1">
                <a:solidFill>
                  <a:srgbClr val="FFFFFF"/>
                </a:solidFill>
                <a:latin typeface="Noto Sans CJK SC"/>
              </a:defRPr>
            </a:pPr>
            <a:r>
              <a:t>AQC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86216" y="1325880"/>
            <a:ext cx="3172968" cy="416051"/>
          </a:xfrm>
          <a:prstGeom prst="roundRect">
            <a:avLst/>
          </a:prstGeom>
          <a:solidFill>
            <a:srgbClr val="172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77656" y="1417320"/>
            <a:ext cx="299008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600" b="1">
                <a:solidFill>
                  <a:srgbClr val="FFFFFF"/>
                </a:solidFill>
                <a:latin typeface="Noto Sans CJK SC"/>
              </a:defRPr>
            </a:pPr>
            <a:r>
              <a:t>OPA＋非手性硫醇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" y="1764792"/>
            <a:ext cx="1920240" cy="72694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1856231"/>
            <a:ext cx="1737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500" b="1">
                <a:solidFill>
                  <a:srgbClr val="243B50"/>
                </a:solidFill>
                <a:latin typeface="Noto Sans CJK SC"/>
              </a:defRPr>
            </a:pPr>
            <a:r>
              <a:t>产物与检测依据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77440" y="1764792"/>
            <a:ext cx="3081528" cy="72694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68880" y="1856231"/>
            <a:ext cx="289864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PTC衍生物；蛋白水解物</a:t>
            </a:r>
          </a:p>
          <a:p>
            <a:pPr algn="l"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UV分析 [29]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77256" y="1764792"/>
            <a:ext cx="3090672" cy="72694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68696" y="1856231"/>
            <a:ext cx="2907791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稳定非对称脲；水解物</a:t>
            </a:r>
          </a:p>
          <a:p>
            <a:pPr algn="l"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荧光分析 [30]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86216" y="1764792"/>
            <a:ext cx="3172968" cy="72694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77656" y="1856231"/>
            <a:ext cx="299008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异吲哚衍生物；蛋白组成</a:t>
            </a:r>
          </a:p>
          <a:p>
            <a:pPr algn="l"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荧光分析 [31]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" y="2514600"/>
            <a:ext cx="1920240" cy="937260"/>
          </a:xfrm>
          <a:prstGeom prst="roundRect">
            <a:avLst/>
          </a:prstGeom>
          <a:solidFill>
            <a:srgbClr val="E8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2606040"/>
            <a:ext cx="1737360" cy="8503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500" b="1">
                <a:solidFill>
                  <a:srgbClr val="243B50"/>
                </a:solidFill>
                <a:latin typeface="Noto Sans CJK SC"/>
              </a:defRPr>
            </a:pPr>
            <a:r>
              <a:t>相对可取之处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377440" y="2514600"/>
            <a:ext cx="3081528" cy="937260"/>
          </a:xfrm>
          <a:prstGeom prst="roundRect">
            <a:avLst/>
          </a:prstGeom>
          <a:solidFill>
            <a:srgbClr val="E8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68880" y="2606040"/>
            <a:ext cx="2898648" cy="8503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衔接已有样品/色谱条件；便于形成方法基线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77256" y="2514600"/>
            <a:ext cx="3090672" cy="937260"/>
          </a:xfrm>
          <a:prstGeom prst="roundRect">
            <a:avLst/>
          </a:prstGeom>
          <a:solidFill>
            <a:srgbClr val="E8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68696" y="2606040"/>
            <a:ext cx="2907791" cy="8503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稳定标记，反应液可直接进样；便于评价等待进样影响 [30]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86216" y="2514600"/>
            <a:ext cx="3172968" cy="937260"/>
          </a:xfrm>
          <a:prstGeom prst="roundRect">
            <a:avLst/>
          </a:prstGeom>
          <a:solidFill>
            <a:srgbClr val="E8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77656" y="2606040"/>
            <a:ext cx="2990088" cy="8503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快速反应、易自动化；适合比较高效率流程 [31]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912" y="3474720"/>
            <a:ext cx="1920240" cy="11018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" y="3566160"/>
            <a:ext cx="1737360" cy="10149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500" b="1">
                <a:solidFill>
                  <a:srgbClr val="243B50"/>
                </a:solidFill>
                <a:latin typeface="Noto Sans CJK SC"/>
              </a:defRPr>
            </a:pPr>
            <a:r>
              <a:t>应付出的验证工作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377440" y="3474720"/>
            <a:ext cx="3081528" cy="11018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68880" y="3566160"/>
            <a:ext cx="2898648" cy="10149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确认PTC身份、副产物与回收；</a:t>
            </a:r>
          </a:p>
          <a:p>
            <a:pPr algn="l"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不可套用PTH的CD结论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77256" y="3474720"/>
            <a:ext cx="3090672" cy="11018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68696" y="3566160"/>
            <a:ext cx="2907791" cy="10149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量测最终反应pH；确认</a:t>
            </a:r>
          </a:p>
          <a:p>
            <a:pPr algn="l"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反应完成后评价CD信噪比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586216" y="3474720"/>
            <a:ext cx="3172968" cy="11018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77656" y="3566160"/>
            <a:ext cx="2990088" cy="10149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硫醇与计时需锁定；</a:t>
            </a:r>
          </a:p>
          <a:p>
            <a:pPr algn="l"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稳定性依具体条件 [32]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8912" y="4599431"/>
            <a:ext cx="1920240" cy="891540"/>
          </a:xfrm>
          <a:prstGeom prst="roundRect">
            <a:avLst/>
          </a:prstGeom>
          <a:solidFill>
            <a:srgbClr val="E8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0352" y="4690871"/>
            <a:ext cx="173736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500" b="1">
                <a:solidFill>
                  <a:srgbClr val="243B50"/>
                </a:solidFill>
                <a:latin typeface="Noto Sans CJK SC"/>
              </a:defRPr>
            </a:pPr>
            <a:r>
              <a:t>当前CD证据边界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377440" y="4599431"/>
            <a:ext cx="3081528" cy="891540"/>
          </a:xfrm>
          <a:prstGeom prst="roundRect">
            <a:avLst/>
          </a:prstGeom>
          <a:solidFill>
            <a:srgbClr val="E8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468880" y="4690871"/>
            <a:ext cx="2898648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有PTH-CD文献 [25]；</a:t>
            </a:r>
          </a:p>
          <a:p>
            <a:pPr algn="l"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不等同PTC-CD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77256" y="4599431"/>
            <a:ext cx="3090672" cy="891540"/>
          </a:xfrm>
          <a:prstGeom prst="roundRect">
            <a:avLst/>
          </a:prstGeom>
          <a:solidFill>
            <a:srgbClr val="E8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68696" y="4690871"/>
            <a:ext cx="2907791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有AQC手性LC证据 [11]；</a:t>
            </a:r>
          </a:p>
          <a:p>
            <a:pPr algn="l"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不等同CD证据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586216" y="4599431"/>
            <a:ext cx="3172968" cy="891540"/>
          </a:xfrm>
          <a:prstGeom prst="roundRect">
            <a:avLst/>
          </a:prstGeom>
          <a:solidFill>
            <a:srgbClr val="E8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77656" y="4690871"/>
            <a:ext cx="2990088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常规HPLC/FLD证据 [31]；</a:t>
            </a:r>
          </a:p>
          <a:p>
            <a:pPr algn="l"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不等同在线CD证据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38912" y="5513831"/>
            <a:ext cx="1920240" cy="571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0352" y="5605271"/>
            <a:ext cx="173736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500" b="1">
                <a:solidFill>
                  <a:srgbClr val="243B50"/>
                </a:solidFill>
                <a:latin typeface="Noto Sans CJK SC"/>
              </a:defRPr>
            </a:pPr>
            <a:r>
              <a:t>本项目研究定位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377440" y="5513831"/>
            <a:ext cx="3081528" cy="571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468880" y="5605271"/>
            <a:ext cx="2898648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现有方法基线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477256" y="5513831"/>
            <a:ext cx="3090672" cy="571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568696" y="5605271"/>
            <a:ext cx="2907791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稳定定量/批量分析参照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586216" y="5513831"/>
            <a:ext cx="3172968" cy="571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677656" y="5605271"/>
            <a:ext cx="2990088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500" b="0">
                <a:solidFill>
                  <a:srgbClr val="243B50"/>
                </a:solidFill>
                <a:latin typeface="Noto Sans CJK SC"/>
              </a:defRPr>
            </a:pPr>
            <a:r>
              <a:t>快速衍生化候选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6309360"/>
            <a:ext cx="1120140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100" b="0">
                <a:solidFill>
                  <a:srgbClr val="617389"/>
                </a:solidFill>
                <a:latin typeface="Noto Sans CJK SC"/>
              </a:defRPr>
            </a:pPr>
            <a:r>
              <a:t>[33]比较的是特定基质中的OPA–FMOC/PITC/AQC组成分析；不能外推为OPA单独体系或CD的优劣排名。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2346</Words>
  <Application>Microsoft Office PowerPoint</Application>
  <PresentationFormat>宽屏</PresentationFormat>
  <Paragraphs>111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Noto Sans CJK SC</vt:lpstr>
      <vt:lpstr>等线</vt:lpstr>
      <vt:lpstr>Arial</vt:lpstr>
      <vt:lpstr>Calibri</vt:lpstr>
      <vt:lpstr>1_Office Theme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婧文 徐</cp:lastModifiedBy>
  <cp:revision>5</cp:revision>
  <dcterms:created xsi:type="dcterms:W3CDTF">2023-08-09T12:44:00Z</dcterms:created>
  <dcterms:modified xsi:type="dcterms:W3CDTF">2026-10-27T11:33:40Z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