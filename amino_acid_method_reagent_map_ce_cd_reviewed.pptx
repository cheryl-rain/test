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102412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四条独立方法泳道替代多对多交叉连线。同一试剂可在多个方法行重复出现，对应关系只在本行内解读。仅列代表性体系，不表示所有试剂组合均已在蛋白质水解液中验证。GC补充四类：酯化/酰化组合、硅烷化、氯甲酸酯衍生化及手性衍生化。前三者按反应类型分类，后一项是功能分类，与前三者可能重叠，不是互斥的大类。BSTFA/MSTFA为一般氨基酸GC标记实例，不意味着任意手性GC柱均能拆分其D/L。非手性衍生物需适当手性固定相等识别；手性醇酯化需配合适当氨基保护并验证非对映异构体分离。氯甲酸酯体系也需醇、催化及其他具体条件，图中文字不是实验SOP。HPLC包括手性固定相路线与手性衍生化路线，非手性衍生化本身不使普通反相柱拆分D/L。CE中的标记试剂并不等同手性选择剂。HPLC-CD仅列附件有直接文献线索的PITC-PTH与NBD-F，不将候选AQC、OPA、常规PITC-PTC标成成熟CD方法。氨基酰化类合并FMOC-Cl和AQC，但两者分别生成氨基甲酸酯与脲。 本轮补充说明：外部Europe PMC、PubMed及Crossref请求均遭代理403拒绝，不能声称新增条目已全文核验。CE新增NBD-Cl、NDA+CN为一般氨基酸标记补充，打†标记，具体手性CE及蛋白质水解液应用需进一步检索验证；NDA为萘-2,3-二甲醛，与OPA同归芳香二醛类。CD的AQC、OPA及常规PTC加‡，仅为本课题待验证候选，不能将离线ECD或UV/FLD应用自动视为HPLC-CD成功。没有为了充满表格而增加其他尚缺依据的FMOC/Dansyl/Marfey为成熟HPLC-CD路线。保留附件的两条文献线索：Determination of sequence and absolute configuration of peptide amino acids by HPLC–MS/CD-based detection of liberated N-terminus phenylthiohydantoin amino acids；High-throughput comprehensive analysis of d- and l-amino acids using ultra-high performance liquid chromatography with a circular dichroism (CD) detector and its application to food samples。CE本身可直接分析未衍生化氨基酸，需适当选择剂和检测条件。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37160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172F49"/>
                </a:solidFill>
                <a:latin typeface="Noto Sans CJK SC"/>
              </a:defRPr>
            </a:pPr>
            <a:r>
              <a:t>氨基酸手性分析：分析方法与衍生化试剂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69848"/>
            <a:ext cx="34747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分析方法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069848"/>
            <a:ext cx="9509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对应衍生化试剂（按反应大类归并）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182112" cy="1737360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1226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 / UHPLC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63347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高效液相色谱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76472" y="2514600"/>
            <a:ext cx="630936" cy="0"/>
          </a:xfrm>
          <a:prstGeom prst="line">
            <a:avLst/>
          </a:prstGeom>
          <a:ln w="381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283964" y="2482596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6552" y="1645920"/>
            <a:ext cx="9601200" cy="173736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PITC · PITC–PTH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FITC · GITC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2006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7726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7726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NBD-F · DNFB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FDAA · FDLA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2012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7732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OPA＋非手性硫醇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OPA＋手性硫醇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12019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7739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7739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Dansyl-Cl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Dabsyl-Cl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92025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37745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37745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FMOC-Cl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66160"/>
            <a:ext cx="3182112" cy="164592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986783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50799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气相色谱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76472" y="4389120"/>
            <a:ext cx="630936" cy="0"/>
          </a:xfrm>
          <a:prstGeom prst="line">
            <a:avLst/>
          </a:prstGeom>
          <a:ln w="381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283964" y="4357116"/>
            <a:ext cx="64008" cy="64008"/>
          </a:xfrm>
          <a:prstGeom prst="ellipse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16552" y="3566160"/>
            <a:ext cx="9601200" cy="164592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0" y="371246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840479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C18129"/>
                </a:solidFill>
                <a:latin typeface="Noto Sans CJK SC"/>
              </a:defRPr>
            </a:pPr>
            <a:r>
              <a:t>酯化／酰化组合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370831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异丙醇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三氟乙酸酐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22008" y="371246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67728" y="3840479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C18129"/>
                </a:solidFill>
                <a:latin typeface="Noto Sans CJK SC"/>
              </a:defRPr>
            </a:pPr>
            <a:r>
              <a:t>硅烷化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370831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BSTFA · MSTFA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72016" y="371246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17736" y="3840479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C18129"/>
                </a:solidFill>
                <a:latin typeface="Noto Sans CJK SC"/>
              </a:defRPr>
            </a:pPr>
            <a:r>
              <a:t>氯甲酸酯衍生化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4370831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氯甲酸甲酯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氯甲酸乙酯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622024" y="371246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67744" y="3840479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C18129"/>
                </a:solidFill>
                <a:latin typeface="Noto Sans CJK SC"/>
              </a:defRPr>
            </a:pPr>
            <a:r>
              <a:t>手性衍生化*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67744" y="4370831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手性醇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＋酰化试剂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394960"/>
            <a:ext cx="3182112" cy="1920240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95274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647395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毛细管电泳（CZE / MEKC）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776472" y="6355080"/>
            <a:ext cx="630936" cy="0"/>
          </a:xfrm>
          <a:prstGeom prst="line">
            <a:avLst/>
          </a:prstGeom>
          <a:ln w="381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283964" y="6323076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16552" y="5394960"/>
            <a:ext cx="9601200" cy="19202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0" y="554126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20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6199632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FITC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52006" y="554126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7726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7726" y="6199632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NBD-F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NBD-Cl†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32012" y="554126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77732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芳香二醛类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77732" y="6199632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OPA＋非手性硫醇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OPA＋手性硫醇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NDA＋氰化物†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12019" y="554126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57739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57739" y="6199632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Dansyl-Cl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092025" y="554126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137745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37745" y="6199632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FMOC-Cl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7498079"/>
            <a:ext cx="3182112" cy="1645920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791870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HPLC–CD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843991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液相色谱–圆二色检测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776472" y="8321040"/>
            <a:ext cx="630936" cy="0"/>
          </a:xfrm>
          <a:prstGeom prst="line">
            <a:avLst/>
          </a:prstGeom>
          <a:ln w="381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283964" y="8289036"/>
            <a:ext cx="64008" cy="64008"/>
          </a:xfrm>
          <a:prstGeom prst="ellipse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416552" y="7498079"/>
            <a:ext cx="9601200" cy="1645920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572000" y="764438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17720" y="7772400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17720" y="8302752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PITC–PTH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PITC–PTC‡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22008" y="764438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67728" y="7772400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67728" y="8302752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NBD-F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272016" y="764438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17736" y="7772400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48477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17736" y="8302752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OPA＋非手性硫醇‡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622024" y="764438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667744" y="7772400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48477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667744" y="8302752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AQC‡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" y="9281160"/>
            <a:ext cx="1353312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65788D"/>
                </a:solidFill>
                <a:latin typeface="Noto Sans CJK SC"/>
              </a:defRPr>
            </a:pPr>
            <a:r>
              <a:t>GC：前三项按反应分类；*手性衍生化按功能分类。GC衍生物用于D/L分析须验证手性识别与分离。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9582912"/>
            <a:ext cx="1353312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65788D"/>
                </a:solidFill>
                <a:latin typeface="Noto Sans CJK SC"/>
              </a:defRPr>
            </a:pPr>
            <a:r>
              <a:t>† CE补充标记体系：用于手性水解液的具体方法待核实。‡ HPLC–CD待验证候选，不代表已建立方法。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60" y="9884664"/>
            <a:ext cx="1353312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5788D"/>
                </a:solidFill>
                <a:latin typeface="Noto Sans CJK SC"/>
              </a:defRPr>
            </a:pPr>
            <a:r>
              <a:t>代表性清单，非穷尽；PITC–PTH为转化路线。外部检索受限，未完成新增文献全文核查。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