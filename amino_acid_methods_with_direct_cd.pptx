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3"/>
  </p:notesMasterIdLst>
  <p:sldIdLst>
    <p:sldId id="363" r:id="rId2"/>
    <p:sldId id="364" r:id="rId8"/>
    <p:sldId id="365" r:id="rId9"/>
    <p:sldId id="366" r:id="rId10"/>
  </p:sldIdLst>
  <p:sldSz cx="12192000" cy="82296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77" d="100"/>
          <a:sy n="77" d="100"/>
        </p:scale>
        <p:origin x="4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0F858-5A8C-46F9-9D7B-06ACCACED253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9D835F-F6BE-4282-94CE-31CB0B36F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3761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本图为代表性文献实例，不穷尽所有方法。右侧每种试剂不自动适配同一平台的全部路线或检测器。HPLC-CD不是独立色谱分离机制，而是HPLC与CD检测联用，为展示目的单列。</a:t>
            </a:r>
          </a:p>
          <a:p>
            <a:r>
              <a:t>HPLC：手性固定相[1,5,8–11]；手性衍生化[2–4,6–7]。HPLC荧光支持另见补充文献D1，DOI 10.1016/j.jchromb.2006.07.022。</a:t>
            </a:r>
          </a:p>
          <a:p>
            <a:r>
              <a:t>GC：非手性氯甲酸酯衍生物配手性柱[12–14]；氯甲酸乙酯＋手性醇后用非手性柱[15]。</a:t>
            </a:r>
          </a:p>
          <a:p>
            <a:r>
              <a:t>CE：溶液中的手性选择剂不是固定相；CZE与MEKC路线[16–24]。CE-MS补充文献D2，DOI 10.1002/elps.201600015。</a:t>
            </a:r>
          </a:p>
          <a:p>
            <a:r>
              <a:t>HPLC-CD：PITC是试剂，PTH是经Edman路线生成的产物[25]，不能替代常规PTC的CD证据。NBD-F衍生化在线CD见[26]。</a:t>
            </a:r>
          </a:p>
          <a:p>
            <a:r>
              <a:t>Trp色氨酸、Phe苯丙氨酸是待测物，已移到试剂容器外的未衍生化实例说明。[27]为手性CROWNPAK CR(+)＋在线CD分析Trp，样品为标准及酶反应液；[28]实际在线CD分析Phe采用非手性HSS T3并用于猪胰岛素水解液，该文手性柱仅另用于D-Phe标准纯度检查。</a:t>
            </a:r>
          </a:p>
          <a:p>
            <a:r>
              <a:t>非手性试剂不保证不消旋；非手性分离不拆分同种氨基酸D/L时，净CD/总UV定量需要单独校准。</a:t>
            </a:r>
          </a:p>
          <a:p>
            <a:r>
              <a:t>常规OPA＋硫醇反应主要适于伯胺，不覆盖Pro等仲胺。AQC与FMOC-Cl合并为功能性“氨基酰化类”，不表示AQC是氯甲酸酯或产物为氨基甲酸酯。NDA也需依原方法使用共反应物，图中文字为试剂名称缩写，并非完整配方。</a:t>
            </a:r>
          </a:p>
          <a:p>
            <a:r>
              <a:t>范围限制性文献[34–35]：不支持将所有硅烷化、酰化/酯化GC路线断言不可行；本图仅保留已核查的具体路线。</a:t>
            </a:r>
          </a:p>
          <a:p>
            <a:r>
              <a:t>新增单纯CD行：共价标记后比色皿直接CD/UV，无色谱分离。[36]OPA+p-TT直接CD/UV及ee校准；[37]Sanger/FDNB；[39]4-氯-3-硝基香豆素共轭加成/消除；[40]动态萘基–香豆素醛探针3为外消旋且可动态异构化，不等同严格非手性；[38]芳基氟探针仅摘要确认，因此不臆造结构名称。[41]Br-Coumarin仅补充文献，不在主图。不是全面穷尽列表，不将超分子非共价配位探针列作衍生化试剂。</a:t>
            </a:r>
          </a:p>
          <a:p>
            <a:r>
              <a:t>纠正上一条对DiCys的解释：[7]明确为N,N-dimethyl-L-cysteine，N,N-二甲基-L-半胱氨酸，本身具有游离巯基，无需还原；不是N,N′-二乙酰胱氨酸。</a:t>
            </a:r>
          </a:p>
          <a:p>
            <a:r>
              <a:t>为新增一行且保留已有字号，本版画布由13.333×7.5加高至13.333×9英寸，其余页保持字号与相对布局并居中。</a:t>
            </a:r>
          </a:p>
          <a:p>
            <a:r>
              <a:t>[36] A rapid and sensitive method for chiroptical sensing of α-amino acids &lt;i&gt;via&lt;/i&gt; click-like labeling with &lt;i&gt;o&lt;/i&gt;-phthalaldehyde and &lt;i&gt;p&lt;/i&gt;-toluenethiol. DOI 10.1039/d0sc05749e. 全文；Fig.1–3、Table1与脚注14；1分钟/12小时稳定性为文中具体条件，不泛化到全部OPA体系。 伯胺α氨基酸，Pro不反应，Cys有特殊产物，Lys存在多位点产物。Leu/Lys等有ee相关数据。单一AA标准体系，不是完整蛋白水解液逐组分分析。</a:t>
            </a:r>
          </a:p>
          <a:p>
            <a:r>
              <a:t>[37] Repurposing the Sanger Reagent for Optical Sensing of the Concentration and Enantiomeric Ratio of Chiral Amines, Amino Alcohols, and Amino Acids. DOI 10.1002/chir.70062. 全文；Fig.3氨基酸范围；Fig.4–5反应跟踪和定量示例，定量主例为1-苯乙胺，不能把其精度当成每种AA结果。 氨基酸及谷胱甘肽有CD响应实例；本文混合测量并非HPLC-CD。</a:t>
            </a:r>
          </a:p>
          <a:p>
            <a:r>
              <a:t>[38] Quantitative Chiroptical Sensing of Free Amino Acids, Biothiols, Amines, and Amino Alcohols with an Aryl Fluoride Probe. DOI 10.1021/jacs.9b07588. 公开摘要与书目；未读取原文结构/完整条件，不凭摘要猜测系统名称。 19种标准氨基酸及Asp、Pro、Met、Cys、Ala等定量示例；混合物验证不等于任意蛋白水解液均适用。</a:t>
            </a:r>
          </a:p>
          <a:p>
            <a:r>
              <a:t>[39] Click chemistry enables quantitative chiroptical sensing of chiral compounds in protic media and complex mixtures. DOI 10.1038/s41467-018-07695-9. 全文；Results/Chiroptical click chemistry sensing；Fig.1与Supplementary Figures29–69。 包含Asp、Thr、Cys等氨基酸及其他胺/醇；复杂混合物主验证为不对称反应液，不是多种AA水解液。</a:t>
            </a:r>
          </a:p>
          <a:p>
            <a:r>
              <a:t>[40] A Racemic Naphthyl-Coumarin-Based Probe for Quantitative Enantiomeric Excess Analysis of Amino Acids and Enantioselective Sensing of Amines and Amino Alcohols. DOI 10.1002/open.202200088. 全文；Fig.2–4、Scheme2、Quantitative Enantiomeric Excess Analysis。 Val/Phe等标准品构型与ee；甲醇/KOH体系，约5–6小时；外消旋动态轴手性探针，不能称为严格非手性试剂。</a:t>
            </a:r>
          </a:p>
          <a:p>
            <a:r>
              <a:t>[41] A bifunctional coumarin-based CD probe for chiral analysis of amino acids in aqueous solution. DOI 10.1016/j.saa.2024.125654. 公开摘要与书目；尚未核实结构和完整配方，仅列入补充检索表，不进入主图反应类别。 摘要称THF/水1:4中16种AA，Cys/Pro/Phe的浓度与ee示例。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依据用户第二页的左图/大括号/文献初筛/三个候选/实验复筛布局重整。文献初筛并非排除所有无现成CD文献的研究候选，而是将“已有UV/反应依据”与“待验证CD假设”区分。将原文“非手性试剂不会导致消旋”修正：非手性只表示不另引固定手性中心，消旋必须考察。已有手性柱/原生CD路线[27,28]并入左图，平台不再被描述为仅可非手性衍生化。PITC是原有PTC基线，不能沿用PTH的CD判断；AQC稳定脲和直接进样依据[30]；OPA快速/自动化依据[31]，稳定性需条件化[32]。三个方案的CD信号强弱/稳定性排名尚无本课题实测对比，不预设最优者。EE简要方案为拟议设计：固定总摩尔浓度、先混D/L后一起衍生、带符号CD/UV峰面积比拟合ee、独立质控/浓度挑战。UV/CD互补与不拆分比例思路参考[26]，镜像响应参考[25]，不是各候选的既定能力。</a:t>
            </a:r>
          </a:p>
          <a:p/>
          <a:p>
            <a:r>
              <a:t>参考文献：</a:t>
            </a:r>
          </a:p>
          <a:p>
            <a:r>
              <a:t>[06] High-performance liquid chromatography evaluation of the enantiomeric purity of amino acids by means of automated precolumn derivatization with ortho-phthalaldehyde and chiral thiols.. DOI 10.1002/chir.22660. 核查：公开摘要与书目；摘要：N-acetyl-L-cysteine、N-isobutyryl-L-cysteine、PFP column段</a:t>
            </a:r>
          </a:p>
          <a:p>
            <a:r>
              <a:t>[11] Comprehensive Online Reversed-Phase × Chiral Two-Dimensional Liquid Chromatography-Mass Spectrometry with Data-Independent Sequential Window Acquisition of All Theoretical Fragment-Ion Spectra-Acquisition for Untargeted Enantioselective Amino Acid Analysis.. DOI 10.1021/acs.analchem.2c03042. 核查：公开摘要与书目；摘要：AQC、chiral tandem column、two peptide hydrolysate samples及oxytocin段</a:t>
            </a:r>
          </a:p>
          <a:p>
            <a:r>
              <a:t>[17] Cyclodextrin-Modified Capillary Zone Electrophoresis for the Chiral Analysis of Proline and Hydroxyproline Stereoisomers in Chicken Collagen Hydrolysates.. DOI 10.3390/ijms26125832. 核查：全文＋摘要；已读全文：2.1、2.2、2.3；3.1、3.3、3.4；Figures 2、5、6</a:t>
            </a:r>
          </a:p>
          <a:p>
            <a:r>
              <a:t>[25] Determination of sequence and absolute configuration of peptide amino acids by HPLC-MS/CD-based detection of liberated N-terminus phenylthiohydantoin amino acids.. DOI 10.1038/s41598-022-14205-x. 核查：全文＋摘要；已读全文：Introduction、Results and discussion、Methods；摘要末句acid hydrolysates</a:t>
            </a:r>
          </a:p>
          <a:p>
            <a:r>
              <a:t>[26] High-throughput comprehensive analysis of D- and L-amino acids using ultra-high performance liquid chromatography with a circular dichroism (CD) detector and its application to food samples.. DOI 10.1016/j.jchromb.2011.07.025. 核查：公开摘要与书目；摘要：NBD-F was selected；does not require separation；food samples段</a:t>
            </a:r>
          </a:p>
          <a:p>
            <a:r>
              <a:t>[27] Tryptophanase-catalyzed L-tryptophan synthesis from D-serine in the presence of diammonium hydrogen phosphate.. DOI 10.3390/ijms10062578. 核查：全文＋摘要；全文：Results/Determination of optical isomeric form by circular dichroism；Figure 4；Experimental/Tryptophan analyses by use of HPLC。</a:t>
            </a:r>
          </a:p>
          <a:p>
            <a:r>
              <a:t>[28] A novel potential primary method for quantification of enantiomers by high performance liquid chromatography-circular dichroism.. DOI 10.1038/s41598-018-25682-4. 核查：全文＋摘要；全文：Instruments and reagents；Optimization of the HPLC separation conditions；Figure 3（独立手性纯度检查）；Figures 4F、5D（实际在线CD）；pINS应用。</a:t>
            </a:r>
          </a:p>
          <a:p>
            <a:r>
              <a:t>[29] Rapid analysis of amino acids using pre-column derivatization.. DOI 10.1016/s0378-4347(00)85133-6. 核查：公开摘要与书目；公开摘要：phenylthiocarbamyl derivative、primary and secondary amino acids、protein hydrolyzates、UV detection。</a:t>
            </a:r>
          </a:p>
          <a:p>
            <a:r>
              <a:t>[30] Synthesis of a fluorescent derivatizing reagent, 6-aminoquinolyl-N-hydroxysuccinimidyl carbamate, and its application for the analysis of hydrolysate amino acids via high-performance liquid chromatography.. DOI 10.1006/abio.1993.1270. 核查：公开摘要与书目；公开摘要：stable unsymmetric urea、pH range 8.2–10.0、direct injection。</a:t>
            </a:r>
          </a:p>
          <a:p>
            <a:r>
              <a:t>[31] Analysis of amino acid composition in proteins of animal tissues and foods as pre-column o-phthaldialdehyde derivatives by HPLC with fluorescence detection.. DOI 10.1016/j.jchromb.2014.03.025. 核查：公开摘要与书目；公开摘要：primary AA、2-mercaptoethanol/3-mercaptopropionic acid、rapid formation、easy automation。</a:t>
            </a:r>
          </a:p>
          <a:p>
            <a:r>
              <a:t>[32] The stability of the o-phthalaldehyde/2-mercaptoethanol derivatives of amino acids: an investigation using high-pressure liquid chromatography with a precolumn derivatization technique.. DOI 10.1016/0003-2697(84)90522-0. 核查：公开摘要与书目；公开摘要：stable on the HPLC column、optimal conditions。</a:t>
            </a:r>
          </a:p>
          <a:p>
            <a:r>
              <a:t>[33] Comparison of different derivatisation for amino acids determination of foie gras by high performance liquid chromatography (HPLC).. DOI 10.1080/00071668.2024.2375723. 核查：公开摘要与书目；公开摘要：三种衍生化组、17种氨基酸、运行时间及与自动氨基酸分析仪比较。</a:t>
            </a:r>
          </a:p>
          <a:p>
            <a:r>
              <a:t>本次新增证据[36] DOI 10.1039/d0sc05749e：OPA＋非手性对甲苯硫酚已有比色皿直接CD/UV及ee校准数据；包括Leu、Lys等，Lys浓度响应有多产物限制。仅直接CD文献不能证明在线HPLC-CD的流动相、动力学、灵敏度或混合水解液性能。此前“未查到三候选直接CD证据”不再适用于该具体OPA体系。本项目仍需在线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本页明确为尚未实施的实验设计，不包含测定数据或虚构回归系数。CT固定、已校正纯度/盐型的D/L标液按物质的量配比后统一衍生，避免仅事后混合衍生物掩盖反应选择性。eeD百分数范围-100至+100，R=a eeD+b中的ee单位始终用百分数；未知样品eeD=(R-b)/a。S_CD必须是带符号峰面积，不可取绝对值；S_UV反映同一目标衍生物总量，不能混入其他共洗脱组分。若两个检测器串联，校正流路时延并一致积分，CD和UV检测波长/增益固定。经验R不是未经单位/光程换算的无量纲g。每种氨基酸、试剂、产物和条件独立建模；先检验D/L镜像、外消旋抵消、相同反应效率及无消旋，检查残差/失拟，不应仅以高R²接受。Lys多位点产物先确认单/双衍生物身份与定量峰。独立QC与浓度挑战用于证实模型可转移。高ee的少量反对映体不能仅凭相减法认为达到痕量定量能力，须与手性分离正交验证。UV/CD低于适用定量/信噪范围时不报告可靠ee。水解对照的游离氨基酸不能完全替代已知构型肽的真实释放/消旋过程，因此两类对照互补。文献25证明标准PTH响应及水解液应用，文献26证明NBD-F/CD-g因子比例方法；本页具体水平和QC为研究建议，并非对PTC/AQC/OPA既定线性性能的承诺。</a:t>
            </a:r>
          </a:p>
          <a:p/>
          <a:p>
            <a:r>
              <a:t>参考文献：</a:t>
            </a:r>
          </a:p>
          <a:p>
            <a:r>
              <a:t>[06] High-performance liquid chromatography evaluation of the enantiomeric purity of amino acids by means of automated precolumn derivatization with ortho-phthalaldehyde and chiral thiols.. DOI 10.1002/chir.22660. 核查：公开摘要与书目；摘要：N-acetyl-L-cysteine、N-isobutyryl-L-cysteine、PFP column段</a:t>
            </a:r>
          </a:p>
          <a:p>
            <a:r>
              <a:t>[11] Comprehensive Online Reversed-Phase × Chiral Two-Dimensional Liquid Chromatography-Mass Spectrometry with Data-Independent Sequential Window Acquisition of All Theoretical Fragment-Ion Spectra-Acquisition for Untargeted Enantioselective Amino Acid Analysis.. DOI 10.1021/acs.analchem.2c03042. 核查：公开摘要与书目；摘要：AQC、chiral tandem column、two peptide hydrolysate samples及oxytocin段</a:t>
            </a:r>
          </a:p>
          <a:p>
            <a:r>
              <a:t>[17] Cyclodextrin-Modified Capillary Zone Electrophoresis for the Chiral Analysis of Proline and Hydroxyproline Stereoisomers in Chicken Collagen Hydrolysates.. DOI 10.3390/ijms26125832. 核查：全文＋摘要；已读全文：2.1、2.2、2.3；3.1、3.3、3.4；Figures 2、5、6</a:t>
            </a:r>
          </a:p>
          <a:p>
            <a:r>
              <a:t>[25] Determination of sequence and absolute configuration of peptide amino acids by HPLC-MS/CD-based detection of liberated N-terminus phenylthiohydantoin amino acids.. DOI 10.1038/s41598-022-14205-x. 核查：全文＋摘要；已读全文：Introduction、Results and discussion、Methods；摘要末句acid hydrolysates</a:t>
            </a:r>
          </a:p>
          <a:p>
            <a:r>
              <a:t>[26] High-throughput comprehensive analysis of D- and L-amino acids using ultra-high performance liquid chromatography with a circular dichroism (CD) detector and its application to food samples.. DOI 10.1016/j.jchromb.2011.07.025. 核查：公开摘要与书目；摘要：NBD-F was selected；does not require separation；food samples段</a:t>
            </a:r>
          </a:p>
          <a:p>
            <a:r>
              <a:t>[27] Tryptophanase-catalyzed L-tryptophan synthesis from D-serine in the presence of diammonium hydrogen phosphate.. DOI 10.3390/ijms10062578. 核查：全文＋摘要；全文：Results/Determination of optical isomeric form by circular dichroism；Figure 4；Experimental/Tryptophan analyses by use of HPLC。</a:t>
            </a:r>
          </a:p>
          <a:p>
            <a:r>
              <a:t>[28] A novel potential primary method for quantification of enantiomers by high performance liquid chromatography-circular dichroism.. DOI 10.1038/s41598-018-25682-4. 核查：全文＋摘要；全文：Instruments and reagents；Optimization of the HPLC separation conditions；Figure 3（独立手性纯度检查）；Figures 4F、5D（实际在线CD）；pINS应用。</a:t>
            </a:r>
          </a:p>
          <a:p>
            <a:r>
              <a:t>[29] Rapid analysis of amino acids using pre-column derivatization.. DOI 10.1016/s0378-4347(00)85133-6. 核查：公开摘要与书目；公开摘要：phenylthiocarbamyl derivative、primary and secondary amino acids、protein hydrolyzates、UV detection。</a:t>
            </a:r>
          </a:p>
          <a:p>
            <a:r>
              <a:t>[30] Synthesis of a fluorescent derivatizing reagent, 6-aminoquinolyl-N-hydroxysuccinimidyl carbamate, and its application for the analysis of hydrolysate amino acids via high-performance liquid chromatography.. DOI 10.1006/abio.1993.1270. 核查：公开摘要与书目；公开摘要：stable unsymmetric urea、pH range 8.2–10.0、direct injection。</a:t>
            </a:r>
          </a:p>
          <a:p>
            <a:r>
              <a:t>[31] Analysis of amino acid composition in proteins of animal tissues and foods as pre-column o-phthaldialdehyde derivatives by HPLC with fluorescence detection.. DOI 10.1016/j.jchromb.2014.03.025. 核查：公开摘要与书目；公开摘要：primary AA、2-mercaptoethanol/3-mercaptopropionic acid、rapid formation、easy automation。</a:t>
            </a:r>
          </a:p>
          <a:p>
            <a:r>
              <a:t>[32] The stability of the o-phthalaldehyde/2-mercaptoethanol derivatives of amino acids: an investigation using high-pressure liquid chromatography with a precolumn derivatization technique.. DOI 10.1016/0003-2697(84)90522-0. 核查：公开摘要与书目；公开摘要：stable on the HPLC column、optimal conditions。</a:t>
            </a:r>
          </a:p>
          <a:p>
            <a:r>
              <a:t>[33] Comparison of different derivatisation for amino acids determination of foie gras by high performance liquid chromatography (HPLC).. DOI 10.1080/00071668.2024.2375723. 核查：公开摘要与书目；公开摘要：三种衍生化组、17种氨基酸、运行时间及与自动氨基酸分析仪比较。</a:t>
            </a:r>
          </a:p>
          <a:p>
            <a:r>
              <a:t>本次新增证据[36] DOI 10.1039/d0sc05749e：OPA＋非手性对甲苯硫酚已有比色皿直接CD/UV及ee校准数据；包括Leu、Lys等，Lys浓度响应有多产物限制。仅直接CD文献不能证明在线HPLC-CD的流动相、动力学、灵敏度或混合水解液性能。此前“未查到三候选直接CD证据”不再适用于该具体OPA体系。本项目仍需在线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比较只涉及文献支持的反应/产物/流程特点及本项目的研究分工。PITC经典文献29指出快速、高效地形成PTC并用于蛋白水解物伯/仲胺UV分析，不能将用户某个1h反应/萃取方案视为PITC方法固有地慢。AQC文献30明确稳定非对称脲、快速一步反应、直接进样、pH和试剂过量影响收率；这不证明AQC在本项目CD信号最强。OPA文献31总结快速反应、自动化、非手性硫醇荧光应用；文献32指出特定OPA/ME产物柱上稳定，因此不能泛称所有OPA产物均极不稳定。等待进样稳定性需按实际硫醇/目标AA/pH测定。原文献6在手性硫醇OPA体系指出产品稳定性问题及在线衍生改善，只能作特定体系补充，不与非手性体系混同。文献33的OPA-FMOC组合、不同运行时间/基质结果不是本课题三候选直接在线CD比较。主张是互补对照，不给出没有同平台数据支持的灵敏度、成本、回收或CD排名。</a:t>
            </a:r>
          </a:p>
          <a:p/>
          <a:p>
            <a:r>
              <a:t>参考文献：</a:t>
            </a:r>
          </a:p>
          <a:p>
            <a:r>
              <a:t>[06] High-performance liquid chromatography evaluation of the enantiomeric purity of amino acids by means of automated precolumn derivatization with ortho-phthalaldehyde and chiral thiols.. DOI 10.1002/chir.22660. 核查：公开摘要与书目；摘要：N-acetyl-L-cysteine、N-isobutyryl-L-cysteine、PFP column段</a:t>
            </a:r>
          </a:p>
          <a:p>
            <a:r>
              <a:t>[11] Comprehensive Online Reversed-Phase × Chiral Two-Dimensional Liquid Chromatography-Mass Spectrometry with Data-Independent Sequential Window Acquisition of All Theoretical Fragment-Ion Spectra-Acquisition for Untargeted Enantioselective Amino Acid Analysis.. DOI 10.1021/acs.analchem.2c03042. 核查：公开摘要与书目；摘要：AQC、chiral tandem column、two peptide hydrolysate samples及oxytocin段</a:t>
            </a:r>
          </a:p>
          <a:p>
            <a:r>
              <a:t>[17] Cyclodextrin-Modified Capillary Zone Electrophoresis for the Chiral Analysis of Proline and Hydroxyproline Stereoisomers in Chicken Collagen Hydrolysates.. DOI 10.3390/ijms26125832. 核查：全文＋摘要；已读全文：2.1、2.2、2.3；3.1、3.3、3.4；Figures 2、5、6</a:t>
            </a:r>
          </a:p>
          <a:p>
            <a:r>
              <a:t>[25] Determination of sequence and absolute configuration of peptide amino acids by HPLC-MS/CD-based detection of liberated N-terminus phenylthiohydantoin amino acids.. DOI 10.1038/s41598-022-14205-x. 核查：全文＋摘要；已读全文：Introduction、Results and discussion、Methods；摘要末句acid hydrolysates</a:t>
            </a:r>
          </a:p>
          <a:p>
            <a:r>
              <a:t>[26] High-throughput comprehensive analysis of D- and L-amino acids using ultra-high performance liquid chromatography with a circular dichroism (CD) detector and its application to food samples.. DOI 10.1016/j.jchromb.2011.07.025. 核查：公开摘要与书目；摘要：NBD-F was selected；does not require separation；food samples段</a:t>
            </a:r>
          </a:p>
          <a:p>
            <a:r>
              <a:t>[27] Tryptophanase-catalyzed L-tryptophan synthesis from D-serine in the presence of diammonium hydrogen phosphate.. DOI 10.3390/ijms10062578. 核查：全文＋摘要；全文：Results/Determination of optical isomeric form by circular dichroism；Figure 4；Experimental/Tryptophan analyses by use of HPLC。</a:t>
            </a:r>
          </a:p>
          <a:p>
            <a:r>
              <a:t>[28] A novel potential primary method for quantification of enantiomers by high performance liquid chromatography-circular dichroism.. DOI 10.1038/s41598-018-25682-4. 核查：全文＋摘要；全文：Instruments and reagents；Optimization of the HPLC separation conditions；Figure 3（独立手性纯度检查）；Figures 4F、5D（实际在线CD）；pINS应用。</a:t>
            </a:r>
          </a:p>
          <a:p>
            <a:r>
              <a:t>[29] Rapid analysis of amino acids using pre-column derivatization.. DOI 10.1016/s0378-4347(00)85133-6. 核查：公开摘要与书目；公开摘要：phenylthiocarbamyl derivative、primary and secondary amino acids、protein hydrolyzates、UV detection。</a:t>
            </a:r>
          </a:p>
          <a:p>
            <a:r>
              <a:t>[30] Synthesis of a fluorescent derivatizing reagent, 6-aminoquinolyl-N-hydroxysuccinimidyl carbamate, and its application for the analysis of hydrolysate amino acids via high-performance liquid chromatography.. DOI 10.1006/abio.1993.1270. 核查：公开摘要与书目；公开摘要：stable unsymmetric urea、pH range 8.2–10.0、direct injection。</a:t>
            </a:r>
          </a:p>
          <a:p>
            <a:r>
              <a:t>[31] Analysis of amino acid composition in proteins of animal tissues and foods as pre-column o-phthaldialdehyde derivatives by HPLC with fluorescence detection.. DOI 10.1016/j.jchromb.2014.03.025. 核查：公开摘要与书目；公开摘要：primary AA、2-mercaptoethanol/3-mercaptopropionic acid、rapid formation、easy automation。</a:t>
            </a:r>
          </a:p>
          <a:p>
            <a:r>
              <a:t>[32] The stability of the o-phthalaldehyde/2-mercaptoethanol derivatives of amino acids: an investigation using high-pressure liquid chromatography with a precolumn derivatization technique.. DOI 10.1016/0003-2697(84)90522-0. 核查：公开摘要与书目；公开摘要：stable on the HPLC column、optimal conditions。</a:t>
            </a:r>
          </a:p>
          <a:p>
            <a:r>
              <a:t>[33] Comparison of different derivatisation for amino acids determination of foie gras by high performance liquid chromatography (HPLC).. DOI 10.1080/00071668.2024.2375723. 核查：公开摘要与书目；公开摘要：三种衍生化组、17种氨基酸、运行时间及与自动氨基酸分析仪比较。</a:t>
            </a:r>
          </a:p>
          <a:p>
            <a:r>
              <a:t>本次新增证据[36] DOI 10.1039/d0sc05749e：OPA＋非手性对甲苯硫酚已有比色皿直接CD/UV及ee校准数据；包括Leu、Lys等，Lys浓度响应有多产物限制。仅直接CD文献不能证明在线HPLC-CD的流动相、动力学、灵敏度或混合水解液性能。此前“未查到三候选直接CD证据”不再适用于该具体OPA体系。本项目仍需在线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500" y="1426668"/>
            <a:ext cx="6477000" cy="98442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602447"/>
            <a:ext cx="5334000" cy="117365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61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23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85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247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309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371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433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494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109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772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928" y="2951141"/>
            <a:ext cx="6477000" cy="912132"/>
          </a:xfrm>
        </p:spPr>
        <p:txBody>
          <a:bodyPr anchor="t"/>
          <a:lstStyle>
            <a:lvl1pPr algn="l">
              <a:defRPr sz="267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1928" y="1946520"/>
            <a:ext cx="6477000" cy="1004621"/>
          </a:xfrm>
        </p:spPr>
        <p:txBody>
          <a:bodyPr anchor="b"/>
          <a:lstStyle>
            <a:lvl1pPr marL="0" indent="0">
              <a:buNone/>
              <a:defRPr sz="1339">
                <a:solidFill>
                  <a:schemeClr val="tx1">
                    <a:tint val="75000"/>
                  </a:schemeClr>
                </a:solidFill>
              </a:defRPr>
            </a:lvl1pPr>
            <a:lvl2pPr marL="306187" indent="0">
              <a:buNone/>
              <a:defRPr sz="1205">
                <a:solidFill>
                  <a:schemeClr val="tx1">
                    <a:tint val="75000"/>
                  </a:schemeClr>
                </a:solidFill>
              </a:defRPr>
            </a:lvl2pPr>
            <a:lvl3pPr marL="612374" indent="0">
              <a:buNone/>
              <a:defRPr sz="1072">
                <a:solidFill>
                  <a:schemeClr val="tx1">
                    <a:tint val="75000"/>
                  </a:schemeClr>
                </a:solidFill>
              </a:defRPr>
            </a:lvl3pPr>
            <a:lvl4pPr marL="918561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4pPr>
            <a:lvl5pPr marL="1224747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5pPr>
            <a:lvl6pPr marL="1530934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6pPr>
            <a:lvl7pPr marL="1837121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7pPr>
            <a:lvl8pPr marL="2143308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8pPr>
            <a:lvl9pPr marL="2449495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749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071596"/>
            <a:ext cx="3365500" cy="3030873"/>
          </a:xfrm>
        </p:spPr>
        <p:txBody>
          <a:bodyPr/>
          <a:lstStyle>
            <a:lvl1pPr>
              <a:defRPr sz="1875"/>
            </a:lvl1pPr>
            <a:lvl2pPr>
              <a:defRPr sz="1607"/>
            </a:lvl2pPr>
            <a:lvl3pPr>
              <a:defRPr sz="1339"/>
            </a:lvl3pPr>
            <a:lvl4pPr>
              <a:defRPr sz="1205"/>
            </a:lvl4pPr>
            <a:lvl5pPr>
              <a:defRPr sz="1205"/>
            </a:lvl5pPr>
            <a:lvl6pPr>
              <a:defRPr sz="1205"/>
            </a:lvl6pPr>
            <a:lvl7pPr>
              <a:defRPr sz="1205"/>
            </a:lvl7pPr>
            <a:lvl8pPr>
              <a:defRPr sz="1205"/>
            </a:lvl8pPr>
            <a:lvl9pPr>
              <a:defRPr sz="12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73500" y="1071596"/>
            <a:ext cx="3365500" cy="3030873"/>
          </a:xfrm>
        </p:spPr>
        <p:txBody>
          <a:bodyPr/>
          <a:lstStyle>
            <a:lvl1pPr>
              <a:defRPr sz="1875"/>
            </a:lvl1pPr>
            <a:lvl2pPr>
              <a:defRPr sz="1607"/>
            </a:lvl2pPr>
            <a:lvl3pPr>
              <a:defRPr sz="1339"/>
            </a:lvl3pPr>
            <a:lvl4pPr>
              <a:defRPr sz="1205"/>
            </a:lvl4pPr>
            <a:lvl5pPr>
              <a:defRPr sz="1205"/>
            </a:lvl5pPr>
            <a:lvl6pPr>
              <a:defRPr sz="1205"/>
            </a:lvl6pPr>
            <a:lvl7pPr>
              <a:defRPr sz="1205"/>
            </a:lvl7pPr>
            <a:lvl8pPr>
              <a:defRPr sz="1205"/>
            </a:lvl8pPr>
            <a:lvl9pPr>
              <a:defRPr sz="12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0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028009"/>
            <a:ext cx="3366823" cy="428425"/>
          </a:xfrm>
        </p:spPr>
        <p:txBody>
          <a:bodyPr anchor="b"/>
          <a:lstStyle>
            <a:lvl1pPr marL="0" indent="0">
              <a:buNone/>
              <a:defRPr sz="1607" b="1"/>
            </a:lvl1pPr>
            <a:lvl2pPr marL="306187" indent="0">
              <a:buNone/>
              <a:defRPr sz="1339" b="1"/>
            </a:lvl2pPr>
            <a:lvl3pPr marL="612374" indent="0">
              <a:buNone/>
              <a:defRPr sz="1205" b="1"/>
            </a:lvl3pPr>
            <a:lvl4pPr marL="918561" indent="0">
              <a:buNone/>
              <a:defRPr sz="1072" b="1"/>
            </a:lvl4pPr>
            <a:lvl5pPr marL="1224747" indent="0">
              <a:buNone/>
              <a:defRPr sz="1072" b="1"/>
            </a:lvl5pPr>
            <a:lvl6pPr marL="1530934" indent="0">
              <a:buNone/>
              <a:defRPr sz="1072" b="1"/>
            </a:lvl6pPr>
            <a:lvl7pPr marL="1837121" indent="0">
              <a:buNone/>
              <a:defRPr sz="1072" b="1"/>
            </a:lvl7pPr>
            <a:lvl8pPr marL="2143308" indent="0">
              <a:buNone/>
              <a:defRPr sz="1072" b="1"/>
            </a:lvl8pPr>
            <a:lvl9pPr marL="2449495" indent="0">
              <a:buNone/>
              <a:defRPr sz="107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000" y="1456434"/>
            <a:ext cx="3366823" cy="2646034"/>
          </a:xfrm>
        </p:spPr>
        <p:txBody>
          <a:bodyPr/>
          <a:lstStyle>
            <a:lvl1pPr>
              <a:defRPr sz="1607"/>
            </a:lvl1pPr>
            <a:lvl2pPr>
              <a:defRPr sz="1339"/>
            </a:lvl2pPr>
            <a:lvl3pPr>
              <a:defRPr sz="1205"/>
            </a:lvl3pPr>
            <a:lvl4pPr>
              <a:defRPr sz="1072"/>
            </a:lvl4pPr>
            <a:lvl5pPr>
              <a:defRPr sz="1072"/>
            </a:lvl5pPr>
            <a:lvl6pPr>
              <a:defRPr sz="1072"/>
            </a:lvl6pPr>
            <a:lvl7pPr>
              <a:defRPr sz="1072"/>
            </a:lvl7pPr>
            <a:lvl8pPr>
              <a:defRPr sz="1072"/>
            </a:lvl8pPr>
            <a:lvl9pPr>
              <a:defRPr sz="107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70855" y="1028009"/>
            <a:ext cx="3368146" cy="428425"/>
          </a:xfrm>
        </p:spPr>
        <p:txBody>
          <a:bodyPr anchor="b"/>
          <a:lstStyle>
            <a:lvl1pPr marL="0" indent="0">
              <a:buNone/>
              <a:defRPr sz="1607" b="1"/>
            </a:lvl1pPr>
            <a:lvl2pPr marL="306187" indent="0">
              <a:buNone/>
              <a:defRPr sz="1339" b="1"/>
            </a:lvl2pPr>
            <a:lvl3pPr marL="612374" indent="0">
              <a:buNone/>
              <a:defRPr sz="1205" b="1"/>
            </a:lvl3pPr>
            <a:lvl4pPr marL="918561" indent="0">
              <a:buNone/>
              <a:defRPr sz="1072" b="1"/>
            </a:lvl4pPr>
            <a:lvl5pPr marL="1224747" indent="0">
              <a:buNone/>
              <a:defRPr sz="1072" b="1"/>
            </a:lvl5pPr>
            <a:lvl6pPr marL="1530934" indent="0">
              <a:buNone/>
              <a:defRPr sz="1072" b="1"/>
            </a:lvl6pPr>
            <a:lvl7pPr marL="1837121" indent="0">
              <a:buNone/>
              <a:defRPr sz="1072" b="1"/>
            </a:lvl7pPr>
            <a:lvl8pPr marL="2143308" indent="0">
              <a:buNone/>
              <a:defRPr sz="1072" b="1"/>
            </a:lvl8pPr>
            <a:lvl9pPr marL="2449495" indent="0">
              <a:buNone/>
              <a:defRPr sz="107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70855" y="1456434"/>
            <a:ext cx="3368146" cy="2646034"/>
          </a:xfrm>
        </p:spPr>
        <p:txBody>
          <a:bodyPr/>
          <a:lstStyle>
            <a:lvl1pPr>
              <a:defRPr sz="1607"/>
            </a:lvl1pPr>
            <a:lvl2pPr>
              <a:defRPr sz="1339"/>
            </a:lvl2pPr>
            <a:lvl3pPr>
              <a:defRPr sz="1205"/>
            </a:lvl3pPr>
            <a:lvl4pPr>
              <a:defRPr sz="1072"/>
            </a:lvl4pPr>
            <a:lvl5pPr>
              <a:defRPr sz="1072"/>
            </a:lvl5pPr>
            <a:lvl6pPr>
              <a:defRPr sz="1072"/>
            </a:lvl6pPr>
            <a:lvl7pPr>
              <a:defRPr sz="1072"/>
            </a:lvl7pPr>
            <a:lvl8pPr>
              <a:defRPr sz="1072"/>
            </a:lvl8pPr>
            <a:lvl9pPr>
              <a:defRPr sz="107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350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537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28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82851"/>
            <a:ext cx="2506928" cy="778183"/>
          </a:xfrm>
        </p:spPr>
        <p:txBody>
          <a:bodyPr anchor="b"/>
          <a:lstStyle>
            <a:lvl1pPr algn="l">
              <a:defRPr sz="133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9208" y="182852"/>
            <a:ext cx="4259792" cy="3919617"/>
          </a:xfrm>
        </p:spPr>
        <p:txBody>
          <a:bodyPr/>
          <a:lstStyle>
            <a:lvl1pPr>
              <a:defRPr sz="2143"/>
            </a:lvl1pPr>
            <a:lvl2pPr>
              <a:defRPr sz="1875"/>
            </a:lvl2pPr>
            <a:lvl3pPr>
              <a:defRPr sz="1607"/>
            </a:lvl3pPr>
            <a:lvl4pPr>
              <a:defRPr sz="1339"/>
            </a:lvl4pPr>
            <a:lvl5pPr>
              <a:defRPr sz="1339"/>
            </a:lvl5pPr>
            <a:lvl6pPr>
              <a:defRPr sz="1339"/>
            </a:lvl6pPr>
            <a:lvl7pPr>
              <a:defRPr sz="1339"/>
            </a:lvl7pPr>
            <a:lvl8pPr>
              <a:defRPr sz="1339"/>
            </a:lvl8pPr>
            <a:lvl9pPr>
              <a:defRPr sz="13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61035"/>
            <a:ext cx="2506928" cy="3141434"/>
          </a:xfrm>
        </p:spPr>
        <p:txBody>
          <a:bodyPr/>
          <a:lstStyle>
            <a:lvl1pPr marL="0" indent="0">
              <a:buNone/>
              <a:defRPr sz="938"/>
            </a:lvl1pPr>
            <a:lvl2pPr marL="306187" indent="0">
              <a:buNone/>
              <a:defRPr sz="804"/>
            </a:lvl2pPr>
            <a:lvl3pPr marL="612374" indent="0">
              <a:buNone/>
              <a:defRPr sz="670"/>
            </a:lvl3pPr>
            <a:lvl4pPr marL="918561" indent="0">
              <a:buNone/>
              <a:defRPr sz="603"/>
            </a:lvl4pPr>
            <a:lvl5pPr marL="1224747" indent="0">
              <a:buNone/>
              <a:defRPr sz="603"/>
            </a:lvl5pPr>
            <a:lvl6pPr marL="1530934" indent="0">
              <a:buNone/>
              <a:defRPr sz="603"/>
            </a:lvl6pPr>
            <a:lvl7pPr marL="1837121" indent="0">
              <a:buNone/>
              <a:defRPr sz="603"/>
            </a:lvl7pPr>
            <a:lvl8pPr marL="2143308" indent="0">
              <a:buNone/>
              <a:defRPr sz="603"/>
            </a:lvl8pPr>
            <a:lvl9pPr marL="2449495" indent="0">
              <a:buNone/>
              <a:defRPr sz="60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671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3573" y="3214787"/>
            <a:ext cx="4572000" cy="379524"/>
          </a:xfrm>
        </p:spPr>
        <p:txBody>
          <a:bodyPr anchor="b"/>
          <a:lstStyle>
            <a:lvl1pPr algn="l">
              <a:defRPr sz="133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93573" y="410353"/>
            <a:ext cx="4572000" cy="2755532"/>
          </a:xfrm>
        </p:spPr>
        <p:txBody>
          <a:bodyPr/>
          <a:lstStyle>
            <a:lvl1pPr marL="0" indent="0">
              <a:buNone/>
              <a:defRPr sz="2143"/>
            </a:lvl1pPr>
            <a:lvl2pPr marL="306187" indent="0">
              <a:buNone/>
              <a:defRPr sz="1875"/>
            </a:lvl2pPr>
            <a:lvl3pPr marL="612374" indent="0">
              <a:buNone/>
              <a:defRPr sz="1607"/>
            </a:lvl3pPr>
            <a:lvl4pPr marL="918561" indent="0">
              <a:buNone/>
              <a:defRPr sz="1339"/>
            </a:lvl4pPr>
            <a:lvl5pPr marL="1224747" indent="0">
              <a:buNone/>
              <a:defRPr sz="1339"/>
            </a:lvl5pPr>
            <a:lvl6pPr marL="1530934" indent="0">
              <a:buNone/>
              <a:defRPr sz="1339"/>
            </a:lvl6pPr>
            <a:lvl7pPr marL="1837121" indent="0">
              <a:buNone/>
              <a:defRPr sz="1339"/>
            </a:lvl7pPr>
            <a:lvl8pPr marL="2143308" indent="0">
              <a:buNone/>
              <a:defRPr sz="1339"/>
            </a:lvl8pPr>
            <a:lvl9pPr marL="2449495" indent="0">
              <a:buNone/>
              <a:defRPr sz="1339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93573" y="3594311"/>
            <a:ext cx="4572000" cy="538987"/>
          </a:xfrm>
        </p:spPr>
        <p:txBody>
          <a:bodyPr/>
          <a:lstStyle>
            <a:lvl1pPr marL="0" indent="0">
              <a:buNone/>
              <a:defRPr sz="938"/>
            </a:lvl1pPr>
            <a:lvl2pPr marL="306187" indent="0">
              <a:buNone/>
              <a:defRPr sz="804"/>
            </a:lvl2pPr>
            <a:lvl3pPr marL="612374" indent="0">
              <a:buNone/>
              <a:defRPr sz="670"/>
            </a:lvl3pPr>
            <a:lvl4pPr marL="918561" indent="0">
              <a:buNone/>
              <a:defRPr sz="603"/>
            </a:lvl4pPr>
            <a:lvl5pPr marL="1224747" indent="0">
              <a:buNone/>
              <a:defRPr sz="603"/>
            </a:lvl5pPr>
            <a:lvl6pPr marL="1530934" indent="0">
              <a:buNone/>
              <a:defRPr sz="603"/>
            </a:lvl6pPr>
            <a:lvl7pPr marL="1837121" indent="0">
              <a:buNone/>
              <a:defRPr sz="603"/>
            </a:lvl7pPr>
            <a:lvl8pPr marL="2143308" indent="0">
              <a:buNone/>
              <a:defRPr sz="603"/>
            </a:lvl8pPr>
            <a:lvl9pPr marL="2449495" indent="0">
              <a:buNone/>
              <a:defRPr sz="60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907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883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24500" y="183916"/>
            <a:ext cx="1714500" cy="391855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83916"/>
            <a:ext cx="5016500" cy="39185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0731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183915"/>
            <a:ext cx="6858000" cy="7654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071596"/>
            <a:ext cx="6858000" cy="3030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1000" y="4256616"/>
            <a:ext cx="1778000" cy="2445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03500" y="4256616"/>
            <a:ext cx="2413000" cy="2445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61000" y="4256616"/>
            <a:ext cx="1778000" cy="2445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9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306187" rtl="0" eaLnBrk="1" latinLnBrk="0" hangingPunct="1">
        <a:spcBef>
          <a:spcPct val="0"/>
        </a:spcBef>
        <a:buNone/>
        <a:defRPr sz="294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9640" indent="-229640" algn="l" defTabSz="306187" rtl="0" eaLnBrk="1" latinLnBrk="0" hangingPunct="1">
        <a:spcBef>
          <a:spcPct val="20000"/>
        </a:spcBef>
        <a:buFont typeface="Arial" panose="020B0604020202020204"/>
        <a:buChar char="•"/>
        <a:defRPr sz="2143" kern="1200">
          <a:solidFill>
            <a:schemeClr val="tx1"/>
          </a:solidFill>
          <a:latin typeface="+mn-lt"/>
          <a:ea typeface="+mn-ea"/>
          <a:cs typeface="+mn-cs"/>
        </a:defRPr>
      </a:lvl1pPr>
      <a:lvl2pPr marL="497554" indent="-191367" algn="l" defTabSz="306187" rtl="0" eaLnBrk="1" latinLnBrk="0" hangingPunct="1">
        <a:spcBef>
          <a:spcPct val="20000"/>
        </a:spcBef>
        <a:buFont typeface="Arial" panose="020B0604020202020204"/>
        <a:buChar char="–"/>
        <a:defRPr sz="1875" kern="1200">
          <a:solidFill>
            <a:schemeClr val="tx1"/>
          </a:solidFill>
          <a:latin typeface="+mn-lt"/>
          <a:ea typeface="+mn-ea"/>
          <a:cs typeface="+mn-cs"/>
        </a:defRPr>
      </a:lvl2pPr>
      <a:lvl3pPr marL="765467" indent="-153093" algn="l" defTabSz="306187" rtl="0" eaLnBrk="1" latinLnBrk="0" hangingPunct="1">
        <a:spcBef>
          <a:spcPct val="20000"/>
        </a:spcBef>
        <a:buFont typeface="Arial" panose="020B0604020202020204"/>
        <a:buChar char="•"/>
        <a:defRPr sz="1607" kern="1200">
          <a:solidFill>
            <a:schemeClr val="tx1"/>
          </a:solidFill>
          <a:latin typeface="+mn-lt"/>
          <a:ea typeface="+mn-ea"/>
          <a:cs typeface="+mn-cs"/>
        </a:defRPr>
      </a:lvl3pPr>
      <a:lvl4pPr marL="1071654" indent="-153093" algn="l" defTabSz="306187" rtl="0" eaLnBrk="1" latinLnBrk="0" hangingPunct="1">
        <a:spcBef>
          <a:spcPct val="20000"/>
        </a:spcBef>
        <a:buFont typeface="Arial" panose="020B0604020202020204"/>
        <a:buChar char="–"/>
        <a:defRPr sz="1339" kern="1200">
          <a:solidFill>
            <a:schemeClr val="tx1"/>
          </a:solidFill>
          <a:latin typeface="+mn-lt"/>
          <a:ea typeface="+mn-ea"/>
          <a:cs typeface="+mn-cs"/>
        </a:defRPr>
      </a:lvl4pPr>
      <a:lvl5pPr marL="1377841" indent="-153093" algn="l" defTabSz="306187" rtl="0" eaLnBrk="1" latinLnBrk="0" hangingPunct="1">
        <a:spcBef>
          <a:spcPct val="20000"/>
        </a:spcBef>
        <a:buFont typeface="Arial" panose="020B0604020202020204"/>
        <a:buChar char="»"/>
        <a:defRPr sz="1339" kern="1200">
          <a:solidFill>
            <a:schemeClr val="tx1"/>
          </a:solidFill>
          <a:latin typeface="+mn-lt"/>
          <a:ea typeface="+mn-ea"/>
          <a:cs typeface="+mn-cs"/>
        </a:defRPr>
      </a:lvl5pPr>
      <a:lvl6pPr marL="1684028" indent="-153093" algn="l" defTabSz="306187" rtl="0" eaLnBrk="1" latinLnBrk="0" hangingPunct="1">
        <a:spcBef>
          <a:spcPct val="20000"/>
        </a:spcBef>
        <a:buFont typeface="Arial" panose="020B0604020202020204"/>
        <a:buChar char="•"/>
        <a:defRPr sz="1339" kern="1200">
          <a:solidFill>
            <a:schemeClr val="tx1"/>
          </a:solidFill>
          <a:latin typeface="+mn-lt"/>
          <a:ea typeface="+mn-ea"/>
          <a:cs typeface="+mn-cs"/>
        </a:defRPr>
      </a:lvl6pPr>
      <a:lvl7pPr marL="1990214" indent="-153093" algn="l" defTabSz="306187" rtl="0" eaLnBrk="1" latinLnBrk="0" hangingPunct="1">
        <a:spcBef>
          <a:spcPct val="20000"/>
        </a:spcBef>
        <a:buFont typeface="Arial" panose="020B0604020202020204"/>
        <a:buChar char="•"/>
        <a:defRPr sz="1339" kern="1200">
          <a:solidFill>
            <a:schemeClr val="tx1"/>
          </a:solidFill>
          <a:latin typeface="+mn-lt"/>
          <a:ea typeface="+mn-ea"/>
          <a:cs typeface="+mn-cs"/>
        </a:defRPr>
      </a:lvl7pPr>
      <a:lvl8pPr marL="2296401" indent="-153093" algn="l" defTabSz="306187" rtl="0" eaLnBrk="1" latinLnBrk="0" hangingPunct="1">
        <a:spcBef>
          <a:spcPct val="20000"/>
        </a:spcBef>
        <a:buFont typeface="Arial" panose="020B0604020202020204"/>
        <a:buChar char="•"/>
        <a:defRPr sz="1339" kern="1200">
          <a:solidFill>
            <a:schemeClr val="tx1"/>
          </a:solidFill>
          <a:latin typeface="+mn-lt"/>
          <a:ea typeface="+mn-ea"/>
          <a:cs typeface="+mn-cs"/>
        </a:defRPr>
      </a:lvl8pPr>
      <a:lvl9pPr marL="2602588" indent="-153093" algn="l" defTabSz="306187" rtl="0" eaLnBrk="1" latinLnBrk="0" hangingPunct="1">
        <a:spcBef>
          <a:spcPct val="20000"/>
        </a:spcBef>
        <a:buFont typeface="Arial" panose="020B0604020202020204"/>
        <a:buChar char="•"/>
        <a:defRPr sz="133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1pPr>
      <a:lvl2pPr marL="306187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2pPr>
      <a:lvl3pPr marL="612374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3pPr>
      <a:lvl4pPr marL="918561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4pPr>
      <a:lvl5pPr marL="1224747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5pPr>
      <a:lvl6pPr marL="1530934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6pPr>
      <a:lvl7pPr marL="1837121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7pPr>
      <a:lvl8pPr marL="2143308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8pPr>
      <a:lvl9pPr marL="2449495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34064" y="183703"/>
            <a:ext cx="9185106" cy="27821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l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2700" b="1">
                <a:solidFill>
                  <a:srgbClr val="172F49"/>
                </a:solidFill>
                <a:latin typeface="Noto Sans CJK SC"/>
              </a:defRPr>
            </a:pPr>
            <a:r>
              <a:rPr kumimoji="0" sz="1808" b="1" i="0" u="none" strike="noStrike" kern="1200" cap="none" spc="0" normalizeH="0" baseline="0" noProof="0">
                <a:ln>
                  <a:noFill/>
                </a:ln>
                <a:solidFill>
                  <a:srgbClr val="172F49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氨基酸手性分析：有文献依据的方法—试剂对应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3714" y="673875"/>
            <a:ext cx="1233098" cy="307777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l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800" b="1">
                <a:solidFill>
                  <a:srgbClr val="617389"/>
                </a:solidFill>
                <a:latin typeface="Noto Sans CJK SC"/>
              </a:defRPr>
            </a:pP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617389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分析方法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617389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78069" y="690930"/>
            <a:ext cx="4053812" cy="307777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l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2000" b="1">
                <a:solidFill>
                  <a:srgbClr val="617389"/>
                </a:solidFill>
                <a:latin typeface="Noto Sans CJK SC"/>
              </a:defRPr>
            </a:pPr>
            <a:r>
              <a:rPr>
                <a:solidFill/>
              </a:rPr>
              <a:t>衍生化试剂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617389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3738" y="1040979"/>
            <a:ext cx="2130945" cy="1377766"/>
          </a:xfrm>
          <a:prstGeom prst="roundRect">
            <a:avLst/>
          </a:prstGeom>
          <a:solidFill>
            <a:srgbClr val="24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3342" y="1366049"/>
            <a:ext cx="1971736" cy="369332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HPLC / UPLC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4355" y="1845602"/>
            <a:ext cx="2020723" cy="246221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高效液相色谱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749241" y="1040979"/>
            <a:ext cx="6429574" cy="1377766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853339" y="1138953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83956" y="1224681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474B5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异硫氰酸酯类</a:t>
            </a:r>
            <a:endParaRPr kumimoji="0" sz="1300" b="1" i="0" u="none" strike="noStrike" kern="1200" cap="none" spc="0" normalizeH="0" baseline="0" noProof="0" dirty="0">
              <a:ln>
                <a:noFill/>
              </a:ln>
              <a:solidFill>
                <a:srgbClr val="2474B5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77832" y="1585962"/>
            <a:ext cx="1130380" cy="42575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FITC [0</a:t>
            </a:r>
            <a:r>
              <a:rPr kumimoji="0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宋体" panose="02010600030101010101" pitchFamily="2" charset="-122"/>
                <a:cs typeface="+mn-cs"/>
              </a:rPr>
              <a:t>1]</a:t>
            </a:r>
            <a:endParaRPr kumimoji="0" sz="1300" b="0" i="0" u="none" strike="noStrike" kern="1200" cap="none" spc="0" normalizeH="0" baseline="0" noProof="0" dirty="0">
              <a:ln>
                <a:noFill/>
              </a:ln>
              <a:solidFill>
                <a:srgbClr val="233A50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GITC [02]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12311" y="1138953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42928" y="1224681"/>
            <a:ext cx="1118133" cy="400110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2474B5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芳香亲核取代类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36804" y="1585962"/>
            <a:ext cx="1130380" cy="651460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FDAA [02,03]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FDLA [04]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NBD-F [05]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71282" y="1138953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401899" y="1224681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2474B5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OPA 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95776" y="1585962"/>
            <a:ext cx="1130380" cy="619144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rPr kumimoji="0" sz="123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OPA＋NAC / IBLC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rPr kumimoji="0" sz="123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OPA＋DiCys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rPr kumimoji="0" sz="123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[02,06,07]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30254" y="1138953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660871" y="1224681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2474B5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磺酰氯类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4748" y="1585962"/>
            <a:ext cx="1130380" cy="42575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Dansyl-Cl [08]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Dabsyl-Cl [09]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89226" y="1138953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919843" y="1224681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2474B5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氨基酰化类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13720" y="1585962"/>
            <a:ext cx="1130380" cy="42575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FMOC-Cl [10]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AQC [11]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3738" y="2547123"/>
            <a:ext cx="2130945" cy="1114460"/>
          </a:xfrm>
          <a:prstGeom prst="roundRect">
            <a:avLst/>
          </a:prstGeom>
          <a:solidFill>
            <a:srgbClr val="C1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92726" y="2766224"/>
            <a:ext cx="1971736" cy="369332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GC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342" y="3231546"/>
            <a:ext cx="2020723" cy="246221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气相色谱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749241" y="2528966"/>
            <a:ext cx="6429574" cy="1114460"/>
          </a:xfrm>
          <a:prstGeom prst="roundRect">
            <a:avLst/>
          </a:prstGeom>
          <a:solidFill>
            <a:srgbClr val="FB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4853339" y="2626940"/>
            <a:ext cx="3067825" cy="91851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908265" y="2627882"/>
            <a:ext cx="2920864" cy="230832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500" b="1">
                <a:solidFill>
                  <a:srgbClr val="C18129"/>
                </a:solidFill>
                <a:latin typeface="Noto Sans CJK SC"/>
              </a:defRPr>
            </a:pP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C18129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氯甲酸酯类</a:t>
            </a:r>
            <a:endParaRPr kumimoji="0" sz="1500" b="1" i="0" u="none" strike="noStrike" kern="1200" cap="none" spc="0" normalizeH="0" baseline="0" noProof="0" dirty="0">
              <a:ln>
                <a:noFill/>
              </a:ln>
              <a:solidFill>
                <a:srgbClr val="C18129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926819" y="2860291"/>
            <a:ext cx="2920864" cy="697627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氯甲酸甲酯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 [12]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五氟丙基氯甲酸酯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 [13]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七氟丁基氯甲酸酯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 [14]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00769" y="2626940"/>
            <a:ext cx="3067825" cy="91851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074249" y="2682051"/>
            <a:ext cx="2920864" cy="230832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500" b="1">
                <a:solidFill>
                  <a:srgbClr val="C18129"/>
                </a:solidFill>
                <a:latin typeface="Noto Sans CJK SC"/>
              </a:defRPr>
            </a:pP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C18129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氯甲酸酯＋手性醇</a:t>
            </a:r>
            <a:endParaRPr kumimoji="0" sz="1500" b="1" i="0" u="none" strike="noStrike" kern="1200" cap="none" spc="0" normalizeH="0" baseline="0" noProof="0" dirty="0">
              <a:ln>
                <a:noFill/>
              </a:ln>
              <a:solidFill>
                <a:srgbClr val="C18129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074249" y="2963728"/>
            <a:ext cx="2920864" cy="45653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氯甲酸乙酯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＋(S)-(+)-3-甲基-2-丁醇 [15]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3738" y="3753647"/>
            <a:ext cx="2130945" cy="1377766"/>
          </a:xfrm>
          <a:prstGeom prst="roundRect">
            <a:avLst/>
          </a:prstGeom>
          <a:solidFill>
            <a:srgbClr val="7B6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74355" y="4061588"/>
            <a:ext cx="1971736" cy="369332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2504" y="4553388"/>
            <a:ext cx="2161561" cy="492443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600" b="0">
                <a:solidFill>
                  <a:srgbClr val="FFFFFF"/>
                </a:solidFill>
                <a:latin typeface="Noto Sans CJK SC"/>
              </a:defRPr>
            </a:pPr>
            <a:r>
              <a:rPr>
                <a:solidFill/>
              </a:rPr>
              <a:t>毛细管电泳</a:t>
            </a:r>
            <a:br/>
            <a:r>
              <a:t>（CZE / MEKC）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49241" y="3753647"/>
            <a:ext cx="6429574" cy="1377766"/>
          </a:xfrm>
          <a:prstGeom prst="roundRect">
            <a:avLst/>
          </a:prstGeom>
          <a:solidFill>
            <a:srgbClr val="F0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4853339" y="3851621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883956" y="3937349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7B61A8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异硫氰酸酯类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77832" y="4298630"/>
            <a:ext cx="1130380" cy="42575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FITC [16]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(R)-NCS [17]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12311" y="3851621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142928" y="3937349"/>
            <a:ext cx="1118133" cy="400110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7B61A8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芳香亲核取代类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36804" y="4298630"/>
            <a:ext cx="1130380" cy="42575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NBD-F [18]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DTAF [19]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71282" y="3851621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401899" y="3937349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7B61A8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芳香二醛类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95776" y="4216462"/>
            <a:ext cx="1130380" cy="808426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rPr kumimoji="0" sz="123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OPA＋ME [20]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rPr kumimoji="0" sz="1230" b="0" i="0" u="none" strike="noStrike" kern="1200" cap="none" spc="0" normalizeH="0" baseline="0" noProof="0" dirty="0" err="1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OPA＋手性硫醇</a:t>
            </a:r>
            <a:r>
              <a:rPr kumimoji="0" sz="123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 [21]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rPr kumimoji="0" sz="123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NDA [22]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630254" y="3851621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660871" y="3937349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7B61A8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磺酰氯类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54748" y="4298630"/>
            <a:ext cx="1130380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Dansyl-Cl [16]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889226" y="3851621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919843" y="3937349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7B61A8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氨基酰化类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13720" y="4298630"/>
            <a:ext cx="1130380" cy="42575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FMOC-Cl [23]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FLEC [24]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43738" y="5449824"/>
            <a:ext cx="2130945" cy="1005840"/>
          </a:xfrm>
          <a:prstGeom prst="roundRect">
            <a:avLst/>
          </a:prstGeom>
          <a:solidFill>
            <a:srgbClr val="14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22118" y="5504688"/>
            <a:ext cx="1971736" cy="369332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HPLC–CD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7624" y="5934456"/>
            <a:ext cx="2020723" cy="246221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液相色谱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–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圆二色检测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4749241" y="5449824"/>
            <a:ext cx="6429574" cy="1005840"/>
          </a:xfrm>
          <a:prstGeom prst="round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4855464" y="5541264"/>
            <a:ext cx="3054096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892040" y="5605272"/>
            <a:ext cx="2980944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400">
                <a:solidFill>
                  <a:srgbClr val="148477"/>
                </a:solidFill>
                <a:latin typeface="Noto Sans CJK SC"/>
              </a:defRPr>
            </a:pPr>
            <a:r>
              <a:rPr>
                <a:solidFill/>
              </a:rPr>
              <a:t>异硫氰酸酯类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92040" y="5925312"/>
            <a:ext cx="2980944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500">
                <a:solidFill>
                  <a:srgbClr val="233A50"/>
                </a:solidFill>
                <a:latin typeface="Noto Sans CJK SC"/>
              </a:defRPr>
            </a:pPr>
            <a:r>
              <a:rPr>
                <a:solidFill/>
              </a:rPr>
              <a:t>PITC → PTH [25]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010144" y="5541264"/>
            <a:ext cx="3054096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046719" y="5605272"/>
            <a:ext cx="2980944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400">
                <a:solidFill>
                  <a:srgbClr val="148477"/>
                </a:solidFill>
                <a:latin typeface="Noto Sans CJK SC"/>
              </a:defRPr>
            </a:pPr>
            <a:r>
              <a:rPr>
                <a:solidFill/>
              </a:rPr>
              <a:t>芳香亲核取代类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46719" y="5925312"/>
            <a:ext cx="2980944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500">
                <a:solidFill>
                  <a:srgbClr val="233A50"/>
                </a:solidFill>
                <a:latin typeface="Noto Sans CJK SC"/>
              </a:defRPr>
            </a:pPr>
            <a:r>
              <a:rPr>
                <a:solidFill/>
              </a:rPr>
              <a:t>NBD-F [26]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8640" y="6547104"/>
            <a:ext cx="10972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>
                <a:solidFill>
                  <a:srgbClr val="617389"/>
                </a:solidFill>
                <a:latin typeface="Noto Sans CJK SC"/>
              </a:defRPr>
            </a:pPr>
            <a:r>
              <a:rPr>
                <a:solidFill/>
              </a:rPr>
              <a:t>未衍生化实例（非试剂）：色氨酸Trp＋手性柱[27]；苯丙氨酸Phe＋非手性柱[28]。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2688336" y="1728216"/>
            <a:ext cx="2057400" cy="0"/>
          </a:xfrm>
          <a:prstGeom prst="line">
            <a:avLst/>
          </a:prstGeom>
          <a:ln w="25400">
            <a:solidFill>
              <a:srgbClr val="24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2734056" y="1069848"/>
            <a:ext cx="196596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800" b="0">
                <a:solidFill>
                  <a:srgbClr val="2474B5"/>
                </a:solidFill>
                <a:latin typeface="Noto Sans CJK SC"/>
              </a:defRPr>
            </a:pPr>
            <a:r>
              <a:rPr>
                <a:solidFill/>
              </a:rPr>
              <a:t>①手性固定相</a:t>
            </a:r>
            <a:br/>
            <a:r>
              <a:t>②手性衍生化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734056" y="1810512"/>
            <a:ext cx="196596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600" b="0">
                <a:solidFill>
                  <a:srgbClr val="2474B5"/>
                </a:solidFill>
                <a:latin typeface="Noto Sans CJK SC"/>
              </a:defRPr>
            </a:pPr>
            <a:r>
              <a:rPr>
                <a:solidFill/>
              </a:rPr>
              <a:t>UV · 荧光 · MS/MS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2688336" y="3090672"/>
            <a:ext cx="2057400" cy="0"/>
          </a:xfrm>
          <a:prstGeom prst="line">
            <a:avLst/>
          </a:prstGeom>
          <a:ln w="25400">
            <a:solidFill>
              <a:srgbClr val="C181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2734056" y="2432304"/>
            <a:ext cx="196596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800" b="0">
                <a:solidFill>
                  <a:srgbClr val="C18129"/>
                </a:solidFill>
                <a:latin typeface="Noto Sans CJK SC"/>
              </a:defRPr>
            </a:pPr>
            <a:r>
              <a:rPr>
                <a:solidFill/>
              </a:rPr>
              <a:t>①手性固定相</a:t>
            </a:r>
            <a:br/>
            <a:r>
              <a:t>②手性衍生化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34056" y="3172968"/>
            <a:ext cx="196596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600" b="0">
                <a:solidFill>
                  <a:srgbClr val="C18129"/>
                </a:solidFill>
                <a:latin typeface="Noto Sans CJK SC"/>
              </a:defRPr>
            </a:pPr>
            <a:r>
              <a:rPr>
                <a:solidFill/>
              </a:rPr>
              <a:t>FID · MS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2688336" y="4443984"/>
            <a:ext cx="2057400" cy="0"/>
          </a:xfrm>
          <a:prstGeom prst="line">
            <a:avLst/>
          </a:prstGeom>
          <a:ln w="25400">
            <a:solidFill>
              <a:srgbClr val="7B61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2734056" y="3785616"/>
            <a:ext cx="196596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800" b="0">
                <a:solidFill>
                  <a:srgbClr val="7B61A8"/>
                </a:solidFill>
                <a:latin typeface="Noto Sans CJK SC"/>
              </a:defRPr>
            </a:pPr>
            <a:r>
              <a:rPr>
                <a:solidFill/>
              </a:rPr>
              <a:t>①手性选择剂</a:t>
            </a:r>
            <a:br/>
            <a:r>
              <a:t>②手性衍生化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734056" y="4526280"/>
            <a:ext cx="196596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600" b="0">
                <a:solidFill>
                  <a:srgbClr val="7B61A8"/>
                </a:solidFill>
                <a:latin typeface="Noto Sans CJK SC"/>
              </a:defRPr>
            </a:pPr>
            <a:r>
              <a:rPr>
                <a:solidFill/>
              </a:rPr>
              <a:t>UV · 荧光 · MS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2688336" y="5925312"/>
            <a:ext cx="2057400" cy="0"/>
          </a:xfrm>
          <a:prstGeom prst="line">
            <a:avLst/>
          </a:prstGeom>
          <a:ln w="25400">
            <a:solidFill>
              <a:srgbClr val="1484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2734056" y="5266944"/>
            <a:ext cx="196596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800" b="0">
                <a:solidFill>
                  <a:srgbClr val="148477"/>
                </a:solidFill>
                <a:latin typeface="Noto Sans CJK SC"/>
              </a:defRPr>
            </a:pPr>
            <a:r>
              <a:rPr>
                <a:solidFill/>
              </a:rPr>
              <a:t>①手性固定相</a:t>
            </a:r>
            <a:br/>
            <a:r>
              <a:t>②非手性分离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734056" y="6007608"/>
            <a:ext cx="196596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600" b="0">
                <a:solidFill>
                  <a:srgbClr val="148477"/>
                </a:solidFill>
                <a:latin typeface="Noto Sans CJK SC"/>
              </a:defRPr>
            </a:pPr>
            <a:r>
              <a:rPr>
                <a:solidFill/>
              </a:rPr>
              <a:t>CD · UV · MS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39496" y="6967728"/>
            <a:ext cx="2130552" cy="914400"/>
          </a:xfrm>
          <a:prstGeom prst="roundRect">
            <a:avLst/>
          </a:prstGeom>
          <a:solidFill>
            <a:srgbClr val="AA4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21792" y="7040880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3000"/>
              </a:lnSpc>
              <a:defRPr sz="2500">
                <a:solidFill>
                  <a:srgbClr val="FFFFFF"/>
                </a:solidFill>
                <a:latin typeface="Noto Sans CJK SC"/>
              </a:defRPr>
            </a:pPr>
            <a:r>
              <a:rPr>
                <a:solidFill/>
              </a:rPr>
              <a:t>CD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94360" y="7424927"/>
            <a:ext cx="20208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3000"/>
              </a:lnSpc>
              <a:defRPr sz="1500">
                <a:solidFill>
                  <a:srgbClr val="FFFFFF"/>
                </a:solidFill>
                <a:latin typeface="Noto Sans CJK SC"/>
              </a:defRPr>
            </a:pPr>
            <a:r>
              <a:rPr>
                <a:solidFill/>
              </a:rPr>
              <a:t>直接圆二色光谱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2688336" y="7424927"/>
            <a:ext cx="2057400" cy="0"/>
          </a:xfrm>
          <a:prstGeom prst="line">
            <a:avLst/>
          </a:prstGeom>
          <a:ln w="25400">
            <a:solidFill>
              <a:srgbClr val="AA4F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2734056" y="7031736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3000"/>
              </a:lnSpc>
              <a:defRPr sz="1500">
                <a:solidFill>
                  <a:srgbClr val="AA4F79"/>
                </a:solidFill>
                <a:latin typeface="Noto Sans CJK SC"/>
              </a:defRPr>
            </a:pPr>
            <a:r>
              <a:rPr>
                <a:solidFill/>
              </a:rPr>
              <a:t>共价标记后直接测定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734056" y="7516368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3000"/>
              </a:lnSpc>
              <a:defRPr sz="1600">
                <a:solidFill>
                  <a:srgbClr val="AA4F79"/>
                </a:solidFill>
                <a:latin typeface="Noto Sans CJK SC"/>
              </a:defRPr>
            </a:pPr>
            <a:r>
              <a:rPr>
                <a:solidFill/>
              </a:rPr>
              <a:t>CD · UV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745736" y="6967728"/>
            <a:ext cx="6428232" cy="914400"/>
          </a:xfrm>
          <a:prstGeom prst="roundRect">
            <a:avLst/>
          </a:prstGeom>
          <a:solidFill>
            <a:srgbClr val="F7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4846320" y="7040880"/>
            <a:ext cx="1508760" cy="7680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869180" y="7095744"/>
            <a:ext cx="146303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3000"/>
              </a:lnSpc>
              <a:defRPr sz="1250">
                <a:solidFill>
                  <a:srgbClr val="AA4F79"/>
                </a:solidFill>
                <a:latin typeface="Noto Sans CJK SC"/>
              </a:defRPr>
            </a:pPr>
            <a:r>
              <a:rPr>
                <a:solidFill/>
              </a:rPr>
              <a:t>芳香二醛类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869180" y="7370064"/>
            <a:ext cx="1463039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3000"/>
              </a:lnSpc>
              <a:defRPr sz="1300">
                <a:solidFill>
                  <a:srgbClr val="233A50"/>
                </a:solidFill>
                <a:latin typeface="Noto Sans CJK SC"/>
              </a:defRPr>
            </a:pPr>
            <a:r>
              <a:rPr>
                <a:solidFill/>
              </a:rPr>
              <a:t>OPA＋p-TT</a:t>
            </a:r>
          </a:p>
          <a:p>
            <a:pPr algn="ctr">
              <a:lnSpc>
                <a:spcPct val="103000"/>
              </a:lnSpc>
              <a:defRPr sz="1300">
                <a:solidFill>
                  <a:srgbClr val="233A50"/>
                </a:solidFill>
                <a:latin typeface="Noto Sans CJK SC"/>
              </a:defRPr>
            </a:pPr>
            <a:r>
              <a:rPr>
                <a:solidFill/>
              </a:rPr>
              <a:t>[36]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428232" y="7040880"/>
            <a:ext cx="1508760" cy="7680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451092" y="7095744"/>
            <a:ext cx="146303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3000"/>
              </a:lnSpc>
              <a:defRPr sz="1250">
                <a:solidFill>
                  <a:srgbClr val="AA4F79"/>
                </a:solidFill>
                <a:latin typeface="Noto Sans CJK SC"/>
              </a:defRPr>
            </a:pPr>
            <a:r>
              <a:rPr>
                <a:solidFill/>
              </a:rPr>
              <a:t>芳香亲核取代类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451092" y="7370064"/>
            <a:ext cx="1463039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3000"/>
              </a:lnSpc>
              <a:defRPr sz="1300">
                <a:solidFill>
                  <a:srgbClr val="233A50"/>
                </a:solidFill>
                <a:latin typeface="Noto Sans CJK SC"/>
              </a:defRPr>
            </a:pPr>
            <a:r>
              <a:rPr>
                <a:solidFill/>
              </a:rPr>
              <a:t>FDNB [37]</a:t>
            </a:r>
          </a:p>
          <a:p>
            <a:pPr algn="ctr">
              <a:lnSpc>
                <a:spcPct val="103000"/>
              </a:lnSpc>
              <a:defRPr sz="1300">
                <a:solidFill>
                  <a:srgbClr val="233A50"/>
                </a:solidFill>
                <a:latin typeface="Noto Sans CJK SC"/>
              </a:defRPr>
            </a:pPr>
            <a:r>
              <a:rPr>
                <a:solidFill/>
              </a:rPr>
              <a:t>芳基氟探针 [38]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8010144" y="7040880"/>
            <a:ext cx="1508760" cy="7680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033004" y="7095744"/>
            <a:ext cx="146303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3000"/>
              </a:lnSpc>
              <a:defRPr sz="1250">
                <a:solidFill>
                  <a:srgbClr val="AA4F79"/>
                </a:solidFill>
                <a:latin typeface="Noto Sans CJK SC"/>
              </a:defRPr>
            </a:pPr>
            <a:r>
              <a:rPr>
                <a:solidFill/>
              </a:rPr>
              <a:t>共轭加成–消除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033004" y="7370064"/>
            <a:ext cx="1463039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3000"/>
              </a:lnSpc>
              <a:defRPr sz="1300">
                <a:solidFill>
                  <a:srgbClr val="233A50"/>
                </a:solidFill>
                <a:latin typeface="Noto Sans CJK SC"/>
              </a:defRPr>
            </a:pPr>
            <a:r>
              <a:rPr>
                <a:solidFill/>
              </a:rPr>
              <a:t>4-氯-3-硝基</a:t>
            </a:r>
          </a:p>
          <a:p>
            <a:pPr algn="ctr">
              <a:lnSpc>
                <a:spcPct val="103000"/>
              </a:lnSpc>
              <a:defRPr sz="1300">
                <a:solidFill>
                  <a:srgbClr val="233A50"/>
                </a:solidFill>
                <a:latin typeface="Noto Sans CJK SC"/>
              </a:defRPr>
            </a:pPr>
            <a:r>
              <a:rPr>
                <a:solidFill/>
              </a:rPr>
              <a:t>香豆素 [39]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9592056" y="7040880"/>
            <a:ext cx="1481328" cy="7680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614916" y="7095744"/>
            <a:ext cx="143560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3000"/>
              </a:lnSpc>
              <a:defRPr sz="1250">
                <a:solidFill>
                  <a:srgbClr val="AA4F79"/>
                </a:solidFill>
                <a:latin typeface="Noto Sans CJK SC"/>
              </a:defRPr>
            </a:pPr>
            <a:r>
              <a:rPr>
                <a:solidFill/>
              </a:rPr>
              <a:t>醛胺缩合类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614916" y="7370064"/>
            <a:ext cx="143560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3000"/>
              </a:lnSpc>
              <a:defRPr sz="1300">
                <a:solidFill>
                  <a:srgbClr val="233A50"/>
                </a:solidFill>
                <a:latin typeface="Noto Sans CJK SC"/>
              </a:defRPr>
            </a:pPr>
            <a:r>
              <a:rPr>
                <a:solidFill/>
              </a:rPr>
              <a:t>萘基–香豆素</a:t>
            </a:r>
          </a:p>
          <a:p>
            <a:pPr algn="ctr">
              <a:lnSpc>
                <a:spcPct val="103000"/>
              </a:lnSpc>
              <a:defRPr sz="1300">
                <a:solidFill>
                  <a:srgbClr val="233A50"/>
                </a:solidFill>
                <a:latin typeface="Noto Sans CJK SC"/>
              </a:defRPr>
            </a:pPr>
            <a:r>
              <a:rPr>
                <a:solidFill/>
              </a:rPr>
              <a:t>醛探针3 [40]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57784" y="7982712"/>
            <a:ext cx="11018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3000"/>
              </a:lnSpc>
              <a:defRPr sz="1100">
                <a:solidFill>
                  <a:srgbClr val="617389"/>
                </a:solidFill>
                <a:latin typeface="Noto Sans CJK SC"/>
              </a:defRPr>
            </a:pPr>
            <a:r>
              <a:rPr>
                <a:solidFill/>
              </a:rPr>
              <a:t>p-TT＝对甲苯硫酚；单纯CD不分离混合物，完整水解液逐种氨基酸的ee需先分离或验证选择性。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896112"/>
            <a:ext cx="115397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2500" b="1">
                <a:solidFill>
                  <a:srgbClr val="172F49"/>
                </a:solidFill>
                <a:latin typeface="Noto Sans CJK SC"/>
              </a:defRPr>
            </a:pPr>
            <a:r>
              <a:t>选择原则：文献初筛 → 三条候选思路 → 实验复筛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554480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800" b="1">
                <a:solidFill>
                  <a:srgbClr val="617389"/>
                </a:solidFill>
                <a:latin typeface="Noto Sans CJK SC"/>
              </a:defRPr>
            </a:pPr>
            <a:r>
              <a:t>已有分析方法与衍生化试剂</a:t>
            </a:r>
          </a:p>
        </p:txBody>
      </p:sp>
      <p:sp>
        <p:nvSpPr>
          <p:cNvPr id="5" name="Right Brace 4"/>
          <p:cNvSpPr/>
          <p:nvPr/>
        </p:nvSpPr>
        <p:spPr>
          <a:xfrm>
            <a:off x="5129784" y="2039112"/>
            <a:ext cx="201168" cy="4142232"/>
          </a:xfrm>
          <a:prstGeom prst="rightBrace">
            <a:avLst/>
          </a:prstGeom>
          <a:noFill/>
          <a:ln w="25400">
            <a:solidFill>
              <a:srgbClr val="148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13248" y="1554480"/>
            <a:ext cx="19019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800" b="1">
                <a:solidFill>
                  <a:srgbClr val="148477"/>
                </a:solidFill>
                <a:latin typeface="Noto Sans CJK SC"/>
              </a:defRPr>
            </a:pPr>
            <a:r>
              <a:t>文献初筛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13248" y="2039112"/>
            <a:ext cx="1920240" cy="1664208"/>
          </a:xfrm>
          <a:prstGeom prst="round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13832" y="2167128"/>
            <a:ext cx="17190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700" b="1">
                <a:solidFill>
                  <a:srgbClr val="148477"/>
                </a:solidFill>
                <a:latin typeface="Noto Sans CJK SC"/>
              </a:defRPr>
            </a:pPr>
            <a:r>
              <a:t>1 选择HPLC–CD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13832" y="2606040"/>
            <a:ext cx="1719072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  <a:defRPr sz="1330" b="0">
                <a:solidFill>
                  <a:srgbClr val="243B50"/>
                </a:solidFill>
                <a:latin typeface="Noto Sans CJK SC"/>
              </a:defRPr>
            </a:pPr>
            <a:r>
              <a:t>UV/CD信息互补 [26]</a:t>
            </a:r>
          </a:p>
          <a:p>
            <a:pPr algn="l">
              <a:lnSpc>
                <a:spcPct val="105000"/>
              </a:lnSpc>
              <a:spcAft>
                <a:spcPts val="500"/>
              </a:spcAft>
              <a:defRPr sz="1330" b="0">
                <a:solidFill>
                  <a:srgbClr val="243B50"/>
                </a:solidFill>
                <a:latin typeface="Noto Sans CJK SC"/>
              </a:defRPr>
            </a:pPr>
            <a:r>
              <a:t>不拆分D/L求比例 [26]</a:t>
            </a:r>
          </a:p>
          <a:p>
            <a:pPr algn="l">
              <a:lnSpc>
                <a:spcPct val="105000"/>
              </a:lnSpc>
              <a:spcAft>
                <a:spcPts val="500"/>
              </a:spcAft>
              <a:defRPr sz="1330" b="0">
                <a:solidFill>
                  <a:srgbClr val="243B50"/>
                </a:solidFill>
                <a:latin typeface="Noto Sans CJK SC"/>
              </a:defRPr>
            </a:pPr>
            <a:r>
              <a:t>特定AA直测 [27,28]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13248" y="4361687"/>
            <a:ext cx="1920240" cy="1664208"/>
          </a:xfrm>
          <a:prstGeom prst="round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13832" y="4480560"/>
            <a:ext cx="171907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600" b="1">
                <a:solidFill>
                  <a:srgbClr val="148477"/>
                </a:solidFill>
                <a:latin typeface="Noto Sans CJK SC"/>
              </a:defRPr>
            </a:pPr>
            <a:r>
              <a:t>2 筛选衍生化试剂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13832" y="5038344"/>
            <a:ext cx="1719072" cy="905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非手性≠不会消旋</a:t>
            </a:r>
          </a:p>
          <a:p>
            <a:pPr algn="l">
              <a:lnSpc>
                <a:spcPct val="105000"/>
              </a:lnSpc>
              <a:spcAft>
                <a:spcPts val="6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UV/CD响应须实测</a:t>
            </a:r>
          </a:p>
          <a:p>
            <a:pPr algn="l">
              <a:lnSpc>
                <a:spcPct val="105000"/>
              </a:lnSpc>
              <a:spcAft>
                <a:spcPts val="6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兼顾效率与稳定性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660136" y="3858768"/>
            <a:ext cx="1975104" cy="274320"/>
          </a:xfrm>
          <a:prstGeom prst="rightArrow">
            <a:avLst/>
          </a:prstGeom>
          <a:solidFill>
            <a:srgbClr val="14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08392" y="1554480"/>
            <a:ext cx="197510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800" b="1">
                <a:solidFill>
                  <a:srgbClr val="172F49"/>
                </a:solidFill>
                <a:latin typeface="Noto Sans CJK SC"/>
              </a:defRPr>
            </a:pPr>
            <a:r>
              <a:t>三条候选思路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1856232"/>
            <a:ext cx="1975104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617389"/>
                </a:solidFill>
                <a:latin typeface="Noto Sans CJK SC"/>
              </a:defRPr>
            </a:pPr>
            <a:r>
              <a:t>拟用HPLC–UV/CD评价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08392" y="2240280"/>
            <a:ext cx="1975104" cy="11155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08975" y="2340864"/>
            <a:ext cx="1773936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2200" b="1">
                <a:solidFill>
                  <a:srgbClr val="2474B5"/>
                </a:solidFill>
                <a:latin typeface="Noto Sans CJK SC"/>
              </a:defRPr>
            </a:pPr>
            <a:r>
              <a:t>PITC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9831" y="2807208"/>
            <a:ext cx="17922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  <a:defRPr sz="1330" b="0">
                <a:solidFill>
                  <a:srgbClr val="243B50"/>
                </a:solidFill>
                <a:latin typeface="Noto Sans CJK SC"/>
              </a:defRPr>
            </a:pPr>
            <a:r>
              <a:t>现有方法作基线 [29]</a:t>
            </a:r>
          </a:p>
          <a:p>
            <a:pPr algn="ctr">
              <a:lnSpc>
                <a:spcPct val="105000"/>
              </a:lnSpc>
              <a:spcAft>
                <a:spcPts val="400"/>
              </a:spcAft>
              <a:defRPr sz="1330" b="0">
                <a:solidFill>
                  <a:srgbClr val="243B50"/>
                </a:solidFill>
                <a:latin typeface="Noto Sans CJK SC"/>
              </a:defRPr>
            </a:pPr>
            <a:r>
              <a:t>PTC的CD待验证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08392" y="3520440"/>
            <a:ext cx="1975104" cy="11155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181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08975" y="3621024"/>
            <a:ext cx="1773936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2200" b="1">
                <a:solidFill>
                  <a:srgbClr val="C18129"/>
                </a:solidFill>
                <a:latin typeface="Noto Sans CJK SC"/>
              </a:defRPr>
            </a:pPr>
            <a:r>
              <a:t>AQC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9831" y="4087368"/>
            <a:ext cx="17922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  <a:defRPr sz="1330" b="0">
                <a:solidFill>
                  <a:srgbClr val="243B50"/>
                </a:solidFill>
                <a:latin typeface="Noto Sans CJK SC"/>
              </a:defRPr>
            </a:pPr>
            <a:r>
              <a:t>稳定脲衍生物 [30]</a:t>
            </a:r>
          </a:p>
          <a:p>
            <a:pPr algn="ctr">
              <a:lnSpc>
                <a:spcPct val="105000"/>
              </a:lnSpc>
              <a:spcAft>
                <a:spcPts val="400"/>
              </a:spcAft>
              <a:defRPr sz="1330" b="0">
                <a:solidFill>
                  <a:srgbClr val="243B50"/>
                </a:solidFill>
                <a:latin typeface="Noto Sans CJK SC"/>
              </a:defRPr>
            </a:pPr>
            <a:r>
              <a:t>pH/CD需确认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08392" y="4800600"/>
            <a:ext cx="1975104" cy="11155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B6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08975" y="4901184"/>
            <a:ext cx="1773936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700" b="1">
                <a:solidFill>
                  <a:srgbClr val="7B61A8"/>
                </a:solidFill>
                <a:latin typeface="Noto Sans CJK SC"/>
              </a:defRPr>
            </a:pPr>
            <a:r>
              <a:t>OPA＋非手性硫醇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99831" y="5367528"/>
            <a:ext cx="17922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  <a:defRPr sz="1330" b="0">
                <a:solidFill>
                  <a:srgbClr val="243B50"/>
                </a:solidFill>
                <a:latin typeface="Noto Sans CJK SC"/>
              </a:defRPr>
            </a:pPr>
            <a:r>
              <a:t>快速、易自动化 [31]</a:t>
            </a:r>
          </a:p>
          <a:p>
            <a:pPr algn="ctr">
              <a:lnSpc>
                <a:spcPct val="105000"/>
              </a:lnSpc>
              <a:spcAft>
                <a:spcPts val="400"/>
              </a:spcAft>
              <a:defRPr sz="1330" b="0">
                <a:solidFill>
                  <a:srgbClr val="243B50"/>
                </a:solidFill>
                <a:latin typeface="Noto Sans CJK SC"/>
              </a:defRPr>
            </a:pPr>
            <a:r>
              <a:t>直接CD依据 [36]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738360" y="3877056"/>
            <a:ext cx="329184" cy="265176"/>
          </a:xfrm>
          <a:prstGeom prst="rightArrow">
            <a:avLst/>
          </a:prstGeom>
          <a:solidFill>
            <a:srgbClr val="C1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85832" y="155448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800" b="1">
                <a:solidFill>
                  <a:srgbClr val="C18129"/>
                </a:solidFill>
                <a:latin typeface="Noto Sans CJK SC"/>
              </a:defRPr>
            </a:pPr>
            <a:r>
              <a:t>实验复筛思路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85832" y="2039112"/>
            <a:ext cx="1920240" cy="1874519"/>
          </a:xfrm>
          <a:prstGeom prst="roundRect">
            <a:avLst/>
          </a:prstGeom>
          <a:solidFill>
            <a:srgbClr val="FB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86416" y="2167128"/>
            <a:ext cx="171907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700" b="1">
                <a:solidFill>
                  <a:srgbClr val="C18129"/>
                </a:solidFill>
                <a:latin typeface="Noto Sans CJK SC"/>
              </a:defRPr>
            </a:pPr>
            <a:r>
              <a:t>1 实际样品适用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86416" y="2679192"/>
            <a:ext cx="1719072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350" b="0">
                <a:solidFill>
                  <a:srgbClr val="243B50"/>
                </a:solidFill>
                <a:latin typeface="Noto Sans CJK SC"/>
              </a:defRPr>
            </a:pPr>
            <a:r>
              <a:t>峰归属与UV/CD信号</a:t>
            </a:r>
          </a:p>
          <a:p>
            <a:pPr algn="l">
              <a:lnSpc>
                <a:spcPct val="105000"/>
              </a:lnSpc>
              <a:spcAft>
                <a:spcPts val="400"/>
              </a:spcAft>
              <a:defRPr sz="1350" b="0">
                <a:solidFill>
                  <a:srgbClr val="243B50"/>
                </a:solidFill>
                <a:latin typeface="Noto Sans CJK SC"/>
              </a:defRPr>
            </a:pPr>
            <a:r>
              <a:t>稳定性/回收/精密度</a:t>
            </a:r>
          </a:p>
          <a:p>
            <a:pPr algn="l">
              <a:lnSpc>
                <a:spcPct val="105000"/>
              </a:lnSpc>
              <a:spcAft>
                <a:spcPts val="400"/>
              </a:spcAft>
              <a:defRPr sz="1350" b="0">
                <a:solidFill>
                  <a:srgbClr val="243B50"/>
                </a:solidFill>
                <a:latin typeface="Noto Sans CJK SC"/>
              </a:defRPr>
            </a:pPr>
            <a:r>
              <a:t>水解与衍生构型保持</a:t>
            </a:r>
          </a:p>
          <a:p>
            <a:pPr algn="l">
              <a:lnSpc>
                <a:spcPct val="105000"/>
              </a:lnSpc>
              <a:spcAft>
                <a:spcPts val="400"/>
              </a:spcAft>
              <a:defRPr sz="1350" b="0">
                <a:solidFill>
                  <a:srgbClr val="243B50"/>
                </a:solidFill>
                <a:latin typeface="Noto Sans CJK SC"/>
              </a:defRPr>
            </a:pPr>
            <a:r>
              <a:t>Phe、Leu、Lys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85832" y="4325112"/>
            <a:ext cx="1920240" cy="1874519"/>
          </a:xfrm>
          <a:prstGeom prst="roundRect">
            <a:avLst/>
          </a:prstGeom>
          <a:solidFill>
            <a:srgbClr val="FB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86416" y="4453128"/>
            <a:ext cx="171907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700" b="1">
                <a:solidFill>
                  <a:srgbClr val="C18129"/>
                </a:solidFill>
                <a:latin typeface="Noto Sans CJK SC"/>
              </a:defRPr>
            </a:pPr>
            <a:r>
              <a:t>2 D/L定量关系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86416" y="4974336"/>
            <a:ext cx="1719072" cy="1088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350" b="0">
                <a:solidFill>
                  <a:srgbClr val="243B50"/>
                </a:solidFill>
                <a:latin typeface="Noto Sans CJK SC"/>
              </a:defRPr>
            </a:pPr>
            <a:r>
              <a:t>固定总浓度混配D/L</a:t>
            </a:r>
          </a:p>
          <a:p>
            <a:pPr algn="l">
              <a:lnSpc>
                <a:spcPct val="105000"/>
              </a:lnSpc>
              <a:spcAft>
                <a:spcPts val="400"/>
              </a:spcAft>
              <a:defRPr sz="1350" b="0">
                <a:solidFill>
                  <a:srgbClr val="243B50"/>
                </a:solidFill>
                <a:latin typeface="Noto Sans CJK SC"/>
              </a:defRPr>
            </a:pPr>
            <a:r>
              <a:t>一起衍生，测CD/UV</a:t>
            </a:r>
          </a:p>
          <a:p>
            <a:pPr algn="l">
              <a:lnSpc>
                <a:spcPct val="105000"/>
              </a:lnSpc>
              <a:spcAft>
                <a:spcPts val="400"/>
              </a:spcAft>
              <a:defRPr sz="1350" b="0">
                <a:solidFill>
                  <a:srgbClr val="243B50"/>
                </a:solidFill>
                <a:latin typeface="Noto Sans CJK SC"/>
              </a:defRPr>
            </a:pPr>
            <a:r>
              <a:t>拟合响应比—ee曲线</a:t>
            </a:r>
          </a:p>
          <a:p>
            <a:pPr algn="l">
              <a:lnSpc>
                <a:spcPct val="105000"/>
              </a:lnSpc>
              <a:spcAft>
                <a:spcPts val="400"/>
              </a:spcAft>
              <a:defRPr sz="1350" b="0">
                <a:solidFill>
                  <a:srgbClr val="243B50"/>
                </a:solidFill>
                <a:latin typeface="Noto Sans CJK SC"/>
              </a:defRPr>
            </a:pPr>
            <a:r>
              <a:t>浓度挑战＋独立质控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6391656"/>
            <a:ext cx="4526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617389"/>
                </a:solidFill>
                <a:latin typeface="Noto Sans CJK SC"/>
              </a:defRPr>
            </a:pPr>
            <a:r>
              <a:t>方法图已补：单纯CD与未衍生化实例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13248" y="6419088"/>
            <a:ext cx="6592824" cy="704088"/>
          </a:xfrm>
          <a:prstGeom prst="round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0" y="6510528"/>
            <a:ext cx="63550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1">
                <a:solidFill>
                  <a:srgbClr val="148477"/>
                </a:solidFill>
                <a:latin typeface="Noto Sans CJK SC"/>
              </a:defRPr>
            </a:pPr>
            <a:r>
              <a:t>拟利用的优势：非手性标签＋UV/CD联合信息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32120" y="6821424"/>
            <a:ext cx="63550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310" b="0">
                <a:solidFill>
                  <a:srgbClr val="243B50"/>
                </a:solidFill>
                <a:latin typeface="Noto Sans CJK SC"/>
              </a:defRPr>
            </a:pPr>
            <a:r>
              <a:t>不必拆分D/L即可校准比例 [26]；D/L可呈相反CD响应 [25]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7260336"/>
            <a:ext cx="114300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050" b="0">
                <a:solidFill>
                  <a:srgbClr val="617389"/>
                </a:solidFill>
                <a:latin typeface="Noto Sans CJK SC"/>
              </a:defRPr>
            </a:pPr>
            <a:r>
              <a:t>OPA/p-TT已有直接CD依据[36]，在线HPLC-CD仍待验证。ee详细方案见第3页；三法差异见第4页。</a:t>
            </a:r>
          </a:p>
        </p:txBody>
      </p:sp>
      <p:pic>
        <p:nvPicPr>
          <p:cNvPr id="38" name="Picture 37" descr="direct_cd_ins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" y="2039112"/>
            <a:ext cx="4919472" cy="41422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896112"/>
            <a:ext cx="115397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2500" b="1">
                <a:solidFill>
                  <a:srgbClr val="172F49"/>
                </a:solidFill>
                <a:latin typeface="Noto Sans CJK SC"/>
              </a:defRPr>
            </a:pPr>
            <a:r>
              <a:t>ee校准思路：固定总浓度，建立响应比—ee关系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3560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400" b="0">
                <a:solidFill>
                  <a:srgbClr val="617389"/>
                </a:solidFill>
                <a:latin typeface="Noto Sans CJK SC"/>
              </a:defRPr>
            </a:pPr>
            <a:r>
              <a:t>适用于非手性LC上同一氨基酸的D/L共洗脱；手性柱分离时，应分别校准D、L峰。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3192" y="1947672"/>
            <a:ext cx="11384280" cy="585216"/>
          </a:xfrm>
          <a:prstGeom prst="roundRect">
            <a:avLst/>
          </a:prstGeom>
          <a:solidFill>
            <a:srgbClr val="17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084832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2100" b="1">
                <a:solidFill>
                  <a:srgbClr val="FFFFFF"/>
                </a:solidFill>
                <a:latin typeface="Noto Sans CJK SC"/>
              </a:defRPr>
            </a:pPr>
            <a:r>
              <a:t>eeD = (cD − cL) / (cD + cL) × 100%   （D为正；不代表CD峰一定为正）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26974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800" b="1">
                <a:solidFill>
                  <a:srgbClr val="148477"/>
                </a:solidFill>
                <a:latin typeface="Noto Sans CJK SC"/>
              </a:defRPr>
            </a:pPr>
            <a:r>
              <a:t>① 按物质的量配制9个比例水平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3172968"/>
            <a:ext cx="4480560" cy="256032"/>
          </a:xfrm>
          <a:prstGeom prst="roundRect">
            <a:avLst/>
          </a:prstGeom>
          <a:solidFill>
            <a:srgbClr val="17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3204972"/>
            <a:ext cx="202996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t>D:L摩尔比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15768" y="3204972"/>
            <a:ext cx="20116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t>理论eeD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3438144"/>
            <a:ext cx="448056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470148"/>
            <a:ext cx="202996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100:0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15768" y="3470148"/>
            <a:ext cx="20116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+100%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" y="3703320"/>
            <a:ext cx="4480560" cy="256032"/>
          </a:xfrm>
          <a:prstGeom prst="round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735324"/>
            <a:ext cx="202996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90:10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5768" y="3735324"/>
            <a:ext cx="20116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+80%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3968496"/>
            <a:ext cx="448056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4000500"/>
            <a:ext cx="202996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75:25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5768" y="4000500"/>
            <a:ext cx="20116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+50%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" y="4233672"/>
            <a:ext cx="4480560" cy="256032"/>
          </a:xfrm>
          <a:prstGeom prst="round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4265676"/>
            <a:ext cx="202996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60:40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15768" y="4265676"/>
            <a:ext cx="20116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+20%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" y="4498848"/>
            <a:ext cx="448056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4530852"/>
            <a:ext cx="202996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50:50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15768" y="4530852"/>
            <a:ext cx="20116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0%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" y="4764024"/>
            <a:ext cx="4480560" cy="256032"/>
          </a:xfrm>
          <a:prstGeom prst="round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4796028"/>
            <a:ext cx="202996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40:60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15768" y="4796028"/>
            <a:ext cx="20116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−20%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" y="5029200"/>
            <a:ext cx="448056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5061204"/>
            <a:ext cx="202996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25:75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15768" y="5061204"/>
            <a:ext cx="20116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−50%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" y="5294376"/>
            <a:ext cx="4480560" cy="256032"/>
          </a:xfrm>
          <a:prstGeom prst="round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5326380"/>
            <a:ext cx="202996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10:90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15768" y="5326380"/>
            <a:ext cx="20116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−80%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8912" y="5559552"/>
            <a:ext cx="448056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5591556"/>
            <a:ext cx="202996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0:100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15768" y="5591556"/>
            <a:ext cx="20116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−100%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989320"/>
            <a:ext cx="441655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CT = cD＋cL保持恒定，浓度由预实验选定。</a:t>
            </a:r>
          </a:p>
          <a:p>
            <a:pPr algn="l">
              <a:lnSpc>
                <a:spcPct val="105000"/>
              </a:lnSpc>
              <a:spcAft>
                <a:spcPts val="4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先按纯度、盐型校正，再混合并一起衍生。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30952" y="2697480"/>
            <a:ext cx="6428232" cy="1947672"/>
          </a:xfrm>
          <a:prstGeom prst="round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13832" y="2852928"/>
            <a:ext cx="60624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800" b="1">
                <a:solidFill>
                  <a:srgbClr val="148477"/>
                </a:solidFill>
                <a:latin typeface="Noto Sans CJK SC"/>
              </a:defRPr>
            </a:pPr>
            <a:r>
              <a:t>② 取带符号响应比，再检验线性模型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13832" y="3374136"/>
            <a:ext cx="6062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2100" b="1">
                <a:solidFill>
                  <a:srgbClr val="172F49"/>
                </a:solidFill>
                <a:latin typeface="Noto Sans CJK SC"/>
              </a:defRPr>
            </a:pPr>
            <a:r>
              <a:t>R = SCD / SUV；拟合 R = a·eeD＋b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13832" y="3895344"/>
            <a:ext cx="6062472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  <a:defRPr sz="1450" b="0">
                <a:solidFill>
                  <a:srgbClr val="243B50"/>
                </a:solidFill>
                <a:latin typeface="Noto Sans CJK SC"/>
              </a:defRPr>
            </a:pPr>
            <a:r>
              <a:t>S为峰面积；CD面积保留正负号，校正空白、基线与通道时延。</a:t>
            </a:r>
          </a:p>
          <a:p>
            <a:pPr algn="l">
              <a:lnSpc>
                <a:spcPct val="105000"/>
              </a:lnSpc>
              <a:spcAft>
                <a:spcPts val="500"/>
              </a:spcAft>
              <a:defRPr sz="1450" b="0">
                <a:solidFill>
                  <a:srgbClr val="243B50"/>
                </a:solidFill>
                <a:latin typeface="Noto Sans CJK SC"/>
              </a:defRPr>
            </a:pPr>
            <a:r>
              <a:t>R是经验响应比，不直接等于g因子；每个氨基酸单独校准。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30952" y="4846320"/>
            <a:ext cx="6428232" cy="1618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13832" y="4983480"/>
            <a:ext cx="60624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800" b="1">
                <a:solidFill>
                  <a:srgbClr val="148477"/>
                </a:solidFill>
                <a:latin typeface="Noto Sans CJK SC"/>
              </a:defRPr>
            </a:pPr>
            <a:r>
              <a:t>③ 用独立样品验证，不只看校准点或R²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13832" y="5458968"/>
            <a:ext cx="606247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  <a:defRPr sz="1450" b="0">
                <a:solidFill>
                  <a:srgbClr val="243B50"/>
                </a:solidFill>
                <a:latin typeface="Noto Sans CJK SC"/>
              </a:defRPr>
            </a:pPr>
            <a:r>
              <a:t>独立配制±40%、±70%等QC；固定ee改变CT，检查浓度依赖。</a:t>
            </a:r>
          </a:p>
          <a:p>
            <a:pPr algn="l">
              <a:lnSpc>
                <a:spcPct val="105000"/>
              </a:lnSpc>
              <a:spcAft>
                <a:spcPts val="500"/>
              </a:spcAft>
              <a:defRPr sz="1450" b="0">
                <a:solidFill>
                  <a:srgbClr val="243B50"/>
                </a:solidFill>
                <a:latin typeface="Noto Sans CJK SC"/>
              </a:defRPr>
            </a:pPr>
            <a:r>
              <a:t>高ee端加密；需要微量对映体结论时用手性LC复核。</a:t>
            </a:r>
          </a:p>
          <a:p>
            <a:pPr algn="l">
              <a:lnSpc>
                <a:spcPct val="105000"/>
              </a:lnSpc>
              <a:spcAft>
                <a:spcPts val="500"/>
              </a:spcAft>
              <a:defRPr sz="1450" b="0">
                <a:solidFill>
                  <a:srgbClr val="243B50"/>
                </a:solidFill>
                <a:latin typeface="Noto Sans CJK SC"/>
              </a:defRPr>
            </a:pPr>
            <a:r>
              <a:t>设置经/不经水解的对照，并用已知构型肽排查水解与衍生偏差。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8912" y="6702552"/>
            <a:ext cx="11320272" cy="438912"/>
          </a:xfrm>
          <a:prstGeom prst="round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" y="6803136"/>
            <a:ext cx="1099108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建议每点≥3份独立制备；先确认目标峰/产物与响应线性，再预设回算偏差和精密度接受标准。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" y="7269480"/>
            <a:ext cx="113385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050" b="0">
                <a:solidFill>
                  <a:srgbClr val="617389"/>
                </a:solidFill>
                <a:latin typeface="Noto Sans CJK SC"/>
              </a:defRPr>
            </a:pPr>
            <a:r>
              <a:t>依据[25–26]提出的实验方案，尚未执行；9点、QC与重复数为本项目建议，不是原文照录。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896112"/>
            <a:ext cx="115397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2500" b="1">
                <a:solidFill>
                  <a:srgbClr val="172F49"/>
                </a:solidFill>
                <a:latin typeface="Noto Sans CJK SC"/>
              </a:defRPr>
            </a:pPr>
            <a:r>
              <a:t>三条候选思路：比较的是实验分工，不是预设CD性能排名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3560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400" b="0">
                <a:solidFill>
                  <a:srgbClr val="617389"/>
                </a:solidFill>
                <a:latin typeface="Noto Sans CJK SC"/>
              </a:defRPr>
            </a:pPr>
            <a:r>
              <a:t>PITC作已有方法基线，AQC作稳定标记参照，OPA作快速流程候选；最终由同一验证框架筛选。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2011680"/>
            <a:ext cx="1920240" cy="416051"/>
          </a:xfrm>
          <a:prstGeom prst="roundRect">
            <a:avLst/>
          </a:prstGeom>
          <a:solidFill>
            <a:srgbClr val="17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103120"/>
            <a:ext cx="17373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600" b="1">
                <a:solidFill>
                  <a:srgbClr val="FFFFFF"/>
                </a:solidFill>
                <a:latin typeface="Noto Sans CJK SC"/>
              </a:defRPr>
            </a:pPr>
            <a:r>
              <a:t>比较维度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2011680"/>
            <a:ext cx="3081528" cy="416051"/>
          </a:xfrm>
          <a:prstGeom prst="roundRect">
            <a:avLst/>
          </a:prstGeom>
          <a:solidFill>
            <a:srgbClr val="17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0" y="2103120"/>
            <a:ext cx="289864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600" b="1">
                <a:solidFill>
                  <a:srgbClr val="FFFFFF"/>
                </a:solidFill>
                <a:latin typeface="Noto Sans CJK SC"/>
              </a:defRPr>
            </a:pPr>
            <a:r>
              <a:t>PITC（本项目PTC）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77256" y="2011680"/>
            <a:ext cx="3090672" cy="416051"/>
          </a:xfrm>
          <a:prstGeom prst="roundRect">
            <a:avLst/>
          </a:prstGeom>
          <a:solidFill>
            <a:srgbClr val="17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68696" y="2103120"/>
            <a:ext cx="2907791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600" b="1">
                <a:solidFill>
                  <a:srgbClr val="FFFFFF"/>
                </a:solidFill>
                <a:latin typeface="Noto Sans CJK SC"/>
              </a:defRPr>
            </a:pPr>
            <a:r>
              <a:t>AQC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86216" y="2011680"/>
            <a:ext cx="3172968" cy="416051"/>
          </a:xfrm>
          <a:prstGeom prst="roundRect">
            <a:avLst/>
          </a:prstGeom>
          <a:solidFill>
            <a:srgbClr val="17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77656" y="2103120"/>
            <a:ext cx="299008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600" b="1">
                <a:solidFill>
                  <a:srgbClr val="FFFFFF"/>
                </a:solidFill>
                <a:latin typeface="Noto Sans CJK SC"/>
              </a:defRPr>
            </a:pPr>
            <a:r>
              <a:t>OPA＋非手性硫醇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" y="2450592"/>
            <a:ext cx="1920240" cy="72694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2542031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1">
                <a:solidFill>
                  <a:srgbClr val="243B50"/>
                </a:solidFill>
                <a:latin typeface="Noto Sans CJK SC"/>
              </a:defRPr>
            </a:pPr>
            <a:r>
              <a:t>产物与检测依据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77440" y="2450592"/>
            <a:ext cx="3081528" cy="72694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0" y="2542031"/>
            <a:ext cx="289864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PTC衍生物；蛋白水解物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UV分析 [29]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77256" y="2450592"/>
            <a:ext cx="3090672" cy="72694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68696" y="2542031"/>
            <a:ext cx="290779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稳定非对称脲；水解物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荧光分析 [30]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86216" y="2450592"/>
            <a:ext cx="3172968" cy="72694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77656" y="2542031"/>
            <a:ext cx="299008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异吲哚衍生物；蛋白组成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荧光分析 [31]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" y="3200400"/>
            <a:ext cx="1920240" cy="937260"/>
          </a:xfrm>
          <a:prstGeom prst="round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3291840"/>
            <a:ext cx="1737360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1">
                <a:solidFill>
                  <a:srgbClr val="243B50"/>
                </a:solidFill>
                <a:latin typeface="Noto Sans CJK SC"/>
              </a:defRPr>
            </a:pPr>
            <a:r>
              <a:t>相对可取之处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77440" y="3200400"/>
            <a:ext cx="3081528" cy="937260"/>
          </a:xfrm>
          <a:prstGeom prst="round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68880" y="3291840"/>
            <a:ext cx="2898648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衔接已有样品/色谱条件；便于形成方法基线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77256" y="3200400"/>
            <a:ext cx="3090672" cy="937260"/>
          </a:xfrm>
          <a:prstGeom prst="round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68696" y="3291840"/>
            <a:ext cx="2907791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稳定标记，反应液可直接进样；便于评价等待进样影响 [30]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86216" y="3200400"/>
            <a:ext cx="3172968" cy="937260"/>
          </a:xfrm>
          <a:prstGeom prst="round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77656" y="3291840"/>
            <a:ext cx="2990088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快速反应、易自动化；适合比较高效率流程 [31]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" y="4160520"/>
            <a:ext cx="1920240" cy="11018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4251960"/>
            <a:ext cx="1737360" cy="10149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1">
                <a:solidFill>
                  <a:srgbClr val="243B50"/>
                </a:solidFill>
                <a:latin typeface="Noto Sans CJK SC"/>
              </a:defRPr>
            </a:pPr>
            <a:r>
              <a:t>应付出的验证工作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377440" y="4160520"/>
            <a:ext cx="3081528" cy="11018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68880" y="4251960"/>
            <a:ext cx="2898648" cy="10149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确认PTC身份、副产物与回收；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不可套用PTH的CD结论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77256" y="4160520"/>
            <a:ext cx="3090672" cy="11018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68696" y="4251960"/>
            <a:ext cx="2907791" cy="10149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量测最终反应pH；确认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反应完成后评价CD信噪比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86216" y="4160520"/>
            <a:ext cx="3172968" cy="11018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77656" y="4251960"/>
            <a:ext cx="2990088" cy="10149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不覆盖Pro等仲胺；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硫醇/计时/稳定性需验证 [31–32]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8912" y="5285231"/>
            <a:ext cx="1920240" cy="891540"/>
          </a:xfrm>
          <a:prstGeom prst="round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0352" y="5376671"/>
            <a:ext cx="173736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1">
                <a:solidFill>
                  <a:srgbClr val="243B50"/>
                </a:solidFill>
                <a:latin typeface="Noto Sans CJK SC"/>
              </a:defRPr>
            </a:pPr>
            <a:r>
              <a:t>当前CD证据边界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377440" y="5285231"/>
            <a:ext cx="3081528" cy="891540"/>
          </a:xfrm>
          <a:prstGeom prst="round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68880" y="5376671"/>
            <a:ext cx="2898648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有PTH-CD文献 [25]；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不等同PTC-CD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77256" y="5285231"/>
            <a:ext cx="3090672" cy="891540"/>
          </a:xfrm>
          <a:prstGeom prst="round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68696" y="5376671"/>
            <a:ext cx="2907791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有AQC手性LC证据 [11]；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不等同CD证据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86216" y="5285231"/>
            <a:ext cx="3172968" cy="891540"/>
          </a:xfrm>
          <a:prstGeom prst="round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77656" y="5376671"/>
            <a:ext cx="2990088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OPA/p-TT直接CD [36]；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在线CD仍需验证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8912" y="6199631"/>
            <a:ext cx="1920240" cy="571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0352" y="6291071"/>
            <a:ext cx="1737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1">
                <a:solidFill>
                  <a:srgbClr val="243B50"/>
                </a:solidFill>
                <a:latin typeface="Noto Sans CJK SC"/>
              </a:defRPr>
            </a:pPr>
            <a:r>
              <a:t>本项目研究定位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377440" y="6199631"/>
            <a:ext cx="3081528" cy="571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468880" y="6291071"/>
            <a:ext cx="2898648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现有方法基线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77256" y="6199631"/>
            <a:ext cx="3090672" cy="571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568696" y="6291071"/>
            <a:ext cx="2907791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稳定定量/批量分析参照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586216" y="6199631"/>
            <a:ext cx="3172968" cy="571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77656" y="6291071"/>
            <a:ext cx="2990088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快速衍生化候选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995160"/>
            <a:ext cx="1120140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617389"/>
                </a:solidFill>
                <a:latin typeface="Noto Sans CJK SC"/>
              </a:defRPr>
            </a:pPr>
            <a:r>
              <a:t>[33]比较的是特定基质中的OPA–FMOC/PITC/AQC组成分析；不能外推为OPA单独体系或CD的优劣排名。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2346</Words>
  <Application>Microsoft Office PowerPoint</Application>
  <PresentationFormat>宽屏</PresentationFormat>
  <Paragraphs>111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Noto Sans CJK SC</vt:lpstr>
      <vt:lpstr>等线</vt:lpstr>
      <vt:lpstr>Arial</vt:lpstr>
      <vt:lpstr>Calibri</vt:lpstr>
      <vt:lpstr>1_Office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婧文 徐</cp:lastModifiedBy>
  <cp:revision>5</cp:revision>
  <dcterms:created xsi:type="dcterms:W3CDTF">2023-08-09T12:44:00Z</dcterms:created>
  <dcterms:modified xsi:type="dcterms:W3CDTF">2026-10-27T11:33:40Z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