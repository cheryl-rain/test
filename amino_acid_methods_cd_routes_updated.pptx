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36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0F858-5A8C-46F9-9D7B-06ACCACED253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D835F-F6BE-4282-94CE-31CB0B36F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6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独立文献核查版。第1页为主图，方块后的编号与配套文献表一致。不是全部试剂或全部氨基酸的兼容性清单。真实蛋白/肽水解液、游离氨基酸实样和标准品研究分别在配套报告标明。CD中AQC、OPA、PTC不保留。GC中的硅烷化及酸酐酯化未放入主图，见限制性文献29、30。HPLC-CD是HPLC的联用子类，单列仅为突出研究路线。</a:t>
            </a:r>
          </a:p>
          <a:p>
            <a:r>
              <a:t>HPLC/UHPLC｜异硫氰酸酯类｜FITC → [01]</a:t>
            </a:r>
          </a:p>
          <a:p>
            <a:r>
              <a:t>HPLC/UHPLC｜异硫氰酸酯类｜GITC → [02]</a:t>
            </a:r>
          </a:p>
          <a:p>
            <a:r>
              <a:t>HPLC/UHPLC｜芳香亲核取代类｜FDAA → [02],[03]</a:t>
            </a:r>
          </a:p>
          <a:p>
            <a:r>
              <a:t>HPLC/UHPLC｜芳香亲核取代类｜FDLA → [04]</a:t>
            </a:r>
          </a:p>
          <a:p>
            <a:r>
              <a:t>HPLC/UHPLC｜芳香亲核取代类｜NBD-F → [05]</a:t>
            </a:r>
          </a:p>
          <a:p>
            <a:r>
              <a:t>HPLC/UHPLC｜OPA类｜OPA＋NAC → [06]</a:t>
            </a:r>
          </a:p>
          <a:p>
            <a:r>
              <a:t>HPLC/UHPLC｜OPA类｜OPA＋IBLC → [02],[06]</a:t>
            </a:r>
          </a:p>
          <a:p>
            <a:r>
              <a:t>HPLC/UHPLC｜OPA类｜OPA＋DiCys → [07]</a:t>
            </a:r>
          </a:p>
          <a:p>
            <a:r>
              <a:t>HPLC/UHPLC｜磺酰氯类｜Dansyl-Cl → [08]</a:t>
            </a:r>
          </a:p>
          <a:p>
            <a:r>
              <a:t>HPLC/UHPLC｜磺酰氯类｜Dabsyl-Cl → [09]</a:t>
            </a:r>
          </a:p>
          <a:p>
            <a:r>
              <a:t>HPLC/UHPLC｜氨基酰化类｜FMOC-Cl → [10]</a:t>
            </a:r>
          </a:p>
          <a:p>
            <a:r>
              <a:t>HPLC/UHPLC｜氨基酰化类｜AQC → [11]</a:t>
            </a:r>
          </a:p>
          <a:p>
            <a:r>
              <a:t>GC｜氯甲酸酯类｜氯甲酸甲酯（MCF） → [12]</a:t>
            </a:r>
          </a:p>
          <a:p>
            <a:r>
              <a:t>GC｜氯甲酸酯类｜五氟丙基氯甲酸酯（PFPCF） → [13]</a:t>
            </a:r>
          </a:p>
          <a:p>
            <a:r>
              <a:t>GC｜氯甲酸酯类｜七氟丁基氯甲酸酯（HFBCF） → [14]</a:t>
            </a:r>
          </a:p>
          <a:p>
            <a:r>
              <a:t>GC｜氯甲酸酯＋手性醇组合｜氯甲酸乙酯＋(S)-(+)-3-甲基-2-丁醇 → [15]</a:t>
            </a:r>
          </a:p>
          <a:p>
            <a:r>
              <a:t>CE｜异硫氰酸酯类｜FITC → [16]</a:t>
            </a:r>
          </a:p>
          <a:p>
            <a:r>
              <a:t>CE｜异硫氰酸酯类｜(R)-NCS → [17]</a:t>
            </a:r>
          </a:p>
          <a:p>
            <a:r>
              <a:t>CE｜芳香亲核取代类｜NBD-F → [18]</a:t>
            </a:r>
          </a:p>
          <a:p>
            <a:r>
              <a:t>CE｜芳香亲核取代类｜DTAF → [19]</a:t>
            </a:r>
          </a:p>
          <a:p>
            <a:r>
              <a:t>CE｜芳香二醛类｜OPA＋2-巯基乙醇（ME） → [20]</a:t>
            </a:r>
          </a:p>
          <a:p>
            <a:r>
              <a:t>CE｜芳香二醛类｜OPA＋手性硫醇 → [21]</a:t>
            </a:r>
          </a:p>
          <a:p>
            <a:r>
              <a:t>CE｜芳香二醛类｜NDA → [22]</a:t>
            </a:r>
          </a:p>
          <a:p>
            <a:r>
              <a:t>CE｜磺酰氯类｜Dansyl-Cl → [16]</a:t>
            </a:r>
          </a:p>
          <a:p>
            <a:r>
              <a:t>CE｜氨基酰化类｜FMOC-Cl → [23]</a:t>
            </a:r>
          </a:p>
          <a:p>
            <a:r>
              <a:t>CE｜氨基酰化类｜FLEC → [24]</a:t>
            </a:r>
          </a:p>
          <a:p>
            <a:r>
              <a:t>HPLC–CD｜异硫氰酸酯/后续转化路线｜PITC–PTH → [25]</a:t>
            </a:r>
          </a:p>
          <a:p>
            <a:r>
              <a:t>HPLC–CD｜芳香亲核取代类｜NBD-F → [26]</a:t>
            </a:r>
          </a:p>
          <a:p>
            <a:r>
              <a:t>[01] Chiral nano-liquid chromatography-mass spectrometry applied to amino acids analysis for orange juice profiling. (2008). DOI 10.1016/j.foodchem.2007.11.062. HPLC：FITC标记后在万古霉素手性固定相上进行nano-LC–MS分析。 核查层级：公开摘要与书目。证据位置：摘要：FITC、vancomycin-modified silica-diol、orange juice段。</a:t>
            </a:r>
          </a:p>
          <a:p>
            <a:r>
              <a:t>[02] Chirality determination of unusual amino acids using precolumn derivatization and liquid chromatography-electrospray ionization mass spectrometry. (2004). DOI 10.1016/j.chroma.2004.02.068. HPLC：直接比较FDAA、GITC、S-NIFE及OPA–IBLC；经反相HPLC–UV/ESI-MS分析非常见氨基酸立体异构体。 核查层级：公开摘要与书目。证据位置：摘要首句四种试剂及RP-HPLC/UV/MS段。</a:t>
            </a:r>
          </a:p>
          <a:p>
            <a:r>
              <a:t>[03] LC-MS/MS-Based Separation and Quantification of Marfey's Reagent Derivatized Proteinogenic Amino Acid DL-Stereoisomers. (2019). DOI 10.1007/s13361-018-2093-9. HPLC：FDAA/Marfey衍生化结合反相LC–MS/MS，实现19对常见手性氨基酸的分离定量。 核查层级：公开摘要与书目。证据位置：摘要：Marfey derivatization、19 pairs、MRSA extracts段。</a:t>
            </a:r>
          </a:p>
          <a:p>
            <a:r>
              <a:t>[04] Reliable and sensitive analysis of amino acids in the peptidoglycan of actinomycetes using the advanced Marfey's method. (2007). DOI 10.1016/j.mimet.2007.05.003. HPLC：L-/D-FDLA advanced Marfey法，结合LC/MS确定细胞壁氨基酸构型。 核查层级：公开摘要与书目。证据位置：摘要：L-FDLA/D-FDLA、acid hydrolysis、cell wall段。</a:t>
            </a:r>
          </a:p>
          <a:p>
            <a:r>
              <a:t>[05] Simultaneous determination of hydrophilic amino acid enantiomers in mammalian tissues and physiological fluids applying a fully automated micro-two-dimensional high-performance liquid chromatographic concept. (2010). DOI 10.1016/j.chroma.2009.09.002. HPLC：NBD-F标记后，反相一维分离组分，Pirkle型手性二维拆分对映体。 核查层级：公开摘要与书目。证据位置：摘要：NBD-F、Pirkle type enantioselective column、rat plasma/urine段。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 (2016). DOI 10.1002/chir.22660. HPLC：OPA＋NAC或IBLC自动柱前衍生化，普通PFP柱分离非对映衍生物并评价对映体杂质。 核查层级：公开摘要与书目。证据位置：摘要：N-acetyl-L-cysteine、N-isobutyryl-L-cysteine、PFP column段。</a:t>
            </a:r>
          </a:p>
          <a:p>
            <a:r>
              <a:t>[07] Dimethylcysteine (DiCys)/o-Phthalaldehyde Derivatization for Chiral Metabolite Analyses: Cross-Comparison of Six Chiral Thiols. (2021). DOI 10.3390/molecules26247416. HPLC：OPA＋DiCys与其他五种手性硫醇比较；LC-MS分析氨基酸对映体。 核查层级：公开摘要与书目。证据位置：摘要：DiCys/OPA、six chiral thiols、rice extracts段。</a:t>
            </a:r>
          </a:p>
          <a:p>
            <a:r>
              <a:t>[08] Enantioseparation of dansyl amino acids by HPLC on a monolithic column dynamically coated with a vancomycin derivative. (2010). DOI 10.1002/bmc.1430. HPLC：Dansyl氨基酸在万古霉素衍生物动态涂覆的整体柱上实现对映体分离。 核查层级：公开摘要与书目。证据位置：摘要：Dansyl amino acids、All investigated compounds were separated段。</a:t>
            </a:r>
          </a:p>
          <a:p>
            <a:r>
              <a:t>[09] Simultaneous analysis of D- and L-serine in cerebrospinal fluid by use of HPLC. (2007). DOI 10.1373/clinchem.2007.086702. HPLC：Dabsyl-serine经预分离、脱盐，再在Sumichiral柱上拆分D/L并以UV–Vis检测。 核查层级：公开摘要与书目。证据位置：摘要Methods、Results及Conclusion。</a:t>
            </a:r>
          </a:p>
          <a:p>
            <a:r>
              <a:t>[10] Imaging Peptide and Protein Chirality via Amino Acid Analysis by Chiral × Chiral Two-Dimensional Correlation Liquid Chromatography. (2018). DOI 10.1021/acs.analchem.8b00676. HPLC：FMOC氨基酸经奎宁/奎尼丁两维手性色谱分析，给出肽水解物组成与构型图。 核查层级：公开摘要与书目。证据位置：摘要：FMOC-derivatized…peptide hydrolysates；gramicidin and bacitracin段。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 (2022). DOI 10.1021/acs.analchem.2c03042. HPLC：AQC标记结合反相×手性二维LC–MS/MS，用于治疗肽水解液的组成和构型指认。 核查层级：公开摘要与书目。证据位置：摘要：AQC、chiral tandem column、two peptide hydrolysate samples及oxytocin段。</a:t>
            </a:r>
          </a:p>
          <a:p>
            <a:r>
              <a:t>[12] Gas chromatography-mass spectrometry analysis of amino acid enantiomers as methyl chloroformate derivatives: application to space analysis. (2007). DOI 10.1016/j.chroma.2006.12.033. GC：氯甲酸甲酯/醇/吡啶衍生化，结合Chirasil-L-Val及SIM-MS，实现多对氨基酸对映体分析。 核查层级：公开摘要与书目。证据位置：摘要：methyl/alkyl chloroformate、Chirasil-L-Val、16 pairs段。</a:t>
            </a:r>
          </a:p>
          <a:p>
            <a:r>
              <a:t>[13] Gas chromatographic analysis of amino acid enantiomers in Carbetocin peptide hydrolysates after fast derivatization with pentafluoropropyl chloroformate. (2008). DOI 10.1007/s00726-007-0577-1. GC：五氟丙基氯甲酸酯快速衍生化，结合手性柱GC/FID分析肽水解液。 核查层级：公开摘要与书目。证据位置：题名；摘要：traditional acid hydrolysis、GC/FID、Carbetocin段。</a:t>
            </a:r>
          </a:p>
          <a:p>
            <a:r>
              <a:t>[14] GC separation of amino acid enantiomers via derivatization with heptafluorobutyl chloroformate and Chirasil-L-Val column. (2009). DOI 10.1002/jssc.200900400. GC：七氟丁基氯甲酸酯（HFBCF）衍生化后，在Chirasil-Val柱评价氨基酸对映体分离。 核查层级：公开摘要与书目。证据位置：摘要：HFBCF、19 AA enantiomers、except proline/arginine/cystine段。</a:t>
            </a:r>
          </a:p>
          <a:p>
            <a:r>
              <a:t>[15] Enantioseparation of chiral amino acids as the N(O,S)-ethoxycarbonylated diastereomeric esters by achiral dual-capillary column gas chromatography. (2001). DOI 10.1039/b106610m. GC：氯甲酸乙酯引入EOC保护，再用(S)-(+)-3-甲基-2-丁醇等手性醇酯化；在非手性DB-5/DB-17柱拆分非对映异构体。 核查层级：公开摘要与书目。证据位置：摘要：ethyl chloroformate、chiral alcohol、achiral columns及Yakult段。</a:t>
            </a:r>
          </a:p>
          <a:p>
            <a:r>
              <a:t>[16] Analysis of amino acid enantiomers derived from antitumor antibiotics using chiral capillary electrophoresis. (1997). DOI 10.1016/s0731-7085(97)00020-4. CE：FITC和Dansyl-Cl。文中分别用于LIF及UV检测，结合金属螯合CE和环糊精MEKC分析抗肿瘤缩肽完全水解液。 核查层级：公开摘要与书目。证据位置：摘要中hydrolysate、dansyl chloride、fluorescein isothiocyanate及应用段。</a:t>
            </a:r>
          </a:p>
          <a:p>
            <a:r>
              <a:t>[17] Cyclodextrin-Modified Capillary Zone Electrophoresis for the Chiral Analysis of Proline and Hydroxyproline Stereoisomers in Chicken Collagen Hydrolysates. (2025). DOI 10.3390/ijms26125832. CZE：(R)-NCS为手性异硫氰酸酯；结合β-CD/DM-β-CD分离Pro及羟脯氨酸异构体。OPA/ME在本法中是预封闭伯胺步骤，不是目标仲胺的主标记试剂。 核查层级：全文＋摘要。证据位置：已读全文：2.1、2.2、2.3；3.1、3.3、3.4；Figures 2、5、6。</a:t>
            </a:r>
          </a:p>
          <a:p>
            <a:r>
              <a:t>[18] Chiral separation and determination of excitatory amino acids in brain samples by CE-LIF using dual cyclodextrin system. (2012). DOI 10.1007/s00216-012-6384-x. CE：NBD-F标记Asp/Glu；双环糊精CE-LIF分离并测定脑样品中的对映体。 核查层级：公开摘要与书目。证据位置：摘要：fluorescent derivatization with 4-fluoro-7-nitro…及brain samples段。</a:t>
            </a:r>
          </a:p>
          <a:p>
            <a:r>
              <a:t>[19] CE-LIF chiral separation of aspartic acid and glutamic acid enantiomers using human serum albumin and sodium cholate as dual selectors. (2009). DOI 10.1002/jssc.200900341. CE：DTAF标记Asp/Glu，HSA/胆酸钠双选择剂辅助对映体分离。DTAF属于芳香亲核取代标记，不是异硫氰酸酯。 核查层级：公开摘要与书目。证据位置：摘要：DTAF全名、HSA and SC、compound amino acids injection段。</a:t>
            </a:r>
          </a:p>
          <a:p>
            <a:r>
              <a:t>[20] Method for on-line derivatization and separation of aspartic acid enantiomer in pharmaceuticals application by the coupling of flow injection with micellar electrokinetic chromatography. (2005). DOI 10.1016/j.chroma.2005.03.019. MEKC：OPA＋2-巯基乙醇（ME）标记，β-CD提供手性识别，SDS提供胶束体系。 核查层级：公开摘要与书目。证据位置：摘要：derivatization reagents、chiral selector、micellar chemical及real sample段。</a:t>
            </a:r>
          </a:p>
          <a:p>
            <a:r>
              <a:t>[21] Separation and enantiomer determination ofOPA-derivatised amino acids by using capillary zone electrophoresis. (1992). DOI 10.1007/bf00806080. CE：OPA＋手性硫醇生成非对映异构体；文中研究自由溶液CE和SDS-MECC。 核查层级：公开摘要与书目。证据位置：摘要首句及MECC/free solution段。</a:t>
            </a:r>
          </a:p>
          <a:p>
            <a:r>
              <a:t>[22] 3-[(3-Dehydroabietamidopropyl)dimethylammonio]-1-propane-sulfonate as a new type of chiral surfactant for enantiomer separation in micellar electrokinetic chromatography. (2007). DOI 10.1016/j.chroma.2007.01.139. MEKC：NDA标记氨基酸，DHAMAP手性表面活性剂提供手性分离。 核查层级：公开摘要与书目。证据位置：摘要：NDA-D/L-amino acids、chiral surfactant及6 pairs段。</a:t>
            </a:r>
          </a:p>
          <a:p>
            <a:r>
              <a:t>[23] Chiral capillary electrophoresis with UV-excited fluorescence detection for the enantioselective analysis of 9-fluorenylmethoxycarbonyl-derivatized amino acids. (2018). DOI 10.1007/s00216-018-1148-x. CE：FMOC-Cl；β-CD辅助手性分离，并用UV激发荧光检测，应用于脑脊液。 核查层级：全文＋摘要。证据位置：已读全文：Introduction、Chemicals、AA derivatization、Results and discussion/CSF application。</a:t>
            </a:r>
          </a:p>
          <a:p>
            <a:r>
              <a:t>[24] Enantiomeric separation of amino acids using micellar electrokinetic chromatography after pre-column derivatization with the chiral reagent 1-(9-fluorenyl)-ethyl chloroformate. (1995). DOI 10.1002/elps.1150160183. MEKC：手性FLEC衍生化后用SDS体系分离非对映异构体；同时比较FMOC＋环糊精的直接分离路线。 核查层级：公开摘要与书目。证据位置：摘要：(+)-/(-)-FLEC、SDS、diastereomers及FMOC比较段。</a:t>
            </a:r>
          </a:p>
          <a:p>
            <a:r>
              <a:t>[25] Determination of sequence and absolute configuration of peptide amino acids by HPLC-MS/CD-based detection of liberated N-terminus phenylthiohydantoin amino acids. (2022). DOI 10.1038/s41598-022-14205-x. HPLC–MS/CD：PITC经Edman路线生成PTH-AA，建立对照并用于合成肽和天然缩肽；另分析合成肽酸水解液。 核查层级：全文＋摘要。证据位置：已读全文：Introduction、Results and discussion、Methods；摘要末句acid hydrolysates。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 (2011). DOI 10.1016/j.jchromb.2011.07.025. UHPLC–CD：筛选后选择NBD-F，利用g-factor计算%D，无需在柱上拆分同种氨基酸D/L。 核查层级：公开摘要与书目。证据位置：摘要：NBD-F was selected；does not require separation；food samples段。</a:t>
            </a:r>
          </a:p>
          <a:p>
            <a:r>
              <a:t>[29] Enantioselective separation of amino acids as biomarkers indicating life in extraterrestrial environments. (2013). DOI 10.1007/s00216-013-6915-0. GC删除项审查：综述区分普通GC挥发化和对映体测定；常用MTBSTFA硅烷化被明确指出不适于其讨论的homochirality检测。不能把所有硅烷化剂概括为成熟手性氨基酸方案。 核查层级：公开摘要与书目。证据位置：摘要中silylation reagent…unsuitable for detection of homochirality段。</a:t>
            </a:r>
          </a:p>
          <a:p>
            <a:r>
              <a:t>[30] Comparison of derivatization and chromatographic methods for GC-MS analysis of amino acid enantiomers in physiological samples. (2010). DOI 10.1016/j.jchromb.2010.03.021. GC限制性证据：比较氟化/非氟化酸酐及氯甲酸酯；PFPA/七氟丁醇虽灵敏，但衍生化消旋妨碍准确对映体定量，MCF路线可避免其问题。 核查层级：公开摘要与书目。证据位置：摘要：racemization during derivatization precluded accurate quantification及MCF段。</a:t>
            </a:r>
          </a:p>
          <a:p/>
          <a:p>
            <a:r>
              <a:t>连接线机制标签核查（文献编号沿用上一版按出现顺序排序）：</a:t>
            </a:r>
          </a:p>
          <a:p>
            <a:r>
              <a:t>HPLC：①手性固定相有[01]FITC＋万古霉素固定相支持，DOI 10.1016/j.foodchem.2007.11.062；②手性衍生化有[02]FDAA/GITC/OPA-IBLC＋反相HPLC支持，DOI 10.1016/j.chroma.2004.02.068，也有[03]Marfey证据。两路线为平台层面概括，不表示右侧每种试剂都适配两种路线。</a:t>
            </a:r>
          </a:p>
          <a:p>
            <a:r>
              <a:t>GC：①手性固定相有[12]MCF＋Chirasil-L-Val支持，DOI 10.1016/j.chroma.2006.12.033；②手性衍生化有[15]ECF＋手性醇＋非手性DB-5/DB-17支持，DOI 10.1039/b106610m。</a:t>
            </a:r>
          </a:p>
          <a:p>
            <a:r>
              <a:t>CE：不能将现有CZE/MEKC路线称为手性固定相。①手性选择剂有[16]金属螯合/环糊精CE-MEKC支持，DOI 10.1016/S0731-7085(97)00020-4；②手性衍生化有[21]OPA＋手性硫醇支持，DOI 10.1007/BF00806080；[24]FLEC＋SDS-MEKC支持，DOI 10.1002/elps.1150160183。手性选择剂与手性衍生化可合用，例如[17](R)-NCS＋DM-beta-CD，不是互斥条件。毛细管电色谱等可固定化选择剂的其他模式不由这里的CZE/MEKC文献自动证明。</a:t>
            </a:r>
          </a:p>
          <a:p>
            <a:r>
              <a:t>HPLC-CD：现有[25]PITC-PTH文献（DOI 10.1038/s41598-022-14205-x）和[26]NBD-F文献（DOI 10.1016/j.jchromb.2011.07.025）均支持非手性衍生化/反相分离＋CD手性响应。它们不能证明本图所列方法采用了手性固定相或手性衍生试剂；因此该行线上方标为非手性衍生化，下方标为CD、UV、MS检测，不是两个并列手性分离备选策略。不据此断言其他HPLC-CD组合不存在。</a:t>
            </a:r>
          </a:p>
          <a:p>
            <a:r>
              <a:t>版式：基于用户上传的13.333×7.5英寸版本；原有字号和方块大小保留，新增线上的策略标签18pt、线下检测标签16pt。</a:t>
            </a:r>
          </a:p>
          <a:p>
            <a:r>
              <a:t>检测方式核查：HPLC列UV（原[02]明确UV/ESI-MS）、荧光（补充D1：10.1016/j.jchromb.2006.07.022，题名Determination of d-serine and related neuroactive amino acids in human plasma by high-performance liquid chromatography with fluorimetric detection，摘要明确OPA/IBLC＋HPLC荧光检测）、MS/MS（原[11]AQC/2D-LC-MS/MS）。GC列FID（原[13]卡贝缩宫素水解液论文明确GC/FID）与MS（原[12]GC-MS），不泛列未明确的MS/MS。CE列UV及荧光（原[16]分别对Dansyl和FITC采用UV/LIF；原[17]为LEDIF）与MS（补充D2：10.1002/elps.201600015，Enantioselective analysis of proteinogenic amino acids in cerebrospinal fluid by capillary electrophoresis-mass spectrometry，摘要明确FMOC/β-CD/CE-MS）。HPLC-CD列CD与UV（原[26]NBD-F）以及MS（原[25]PTH/HPLC-MS-CD）。图中荧光是FLD/LIF/LEDIF的上位简称，不意味着各平台共用同一荧光检测器。检测方式为文献中的代表例，不能推定每种试剂均适配所列全部检测器；未因仪器理论兼容性自行补入DAD、CAD等。</a:t>
            </a:r>
          </a:p>
          <a:p/>
          <a:p>
            <a:r>
              <a:t>2026-10-28补充核查：原文献25/26仅覆盖非手性衍生化，不能据此限制整个HPLC-CD平台。新增[27]明确用CROWNPAK CR(+)拆分未衍生化D/L-Trp，并用CD-1595在233nm在线检测；Figure4给出相反CD峰。DOI 10.3390/ijms10062578。其对象为标准品和酶反应液，不是蛋白水解液。[28]采用非手性HSS T3直接分离未衍生化Phe并在线CD测猪胰岛素水解液；同文CROWNPAK手性柱只用于D-Phe光学纯度检查，不能把两步混同。DOI 10.1038/s41598-018-25682-4。因此上方两种路线改为手性固定相/非手性分离，下方列CD、UV、MS。样品可未衍生化，也可经文献支持的非手性衍生化；该图不据此增加手性衍生化＋CD支线，不把Trp响应外推到Leu/Lys等。新29/30为原删除项限制性来源，见配套全文献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426668"/>
            <a:ext cx="6477000" cy="98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02447"/>
            <a:ext cx="5334000" cy="11736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6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2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24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30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3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43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49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2951141"/>
            <a:ext cx="6477000" cy="912132"/>
          </a:xfrm>
        </p:spPr>
        <p:txBody>
          <a:bodyPr anchor="t"/>
          <a:lstStyle>
            <a:lvl1pPr algn="l">
              <a:defRPr sz="26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1946520"/>
            <a:ext cx="6477000" cy="1004621"/>
          </a:xfrm>
        </p:spPr>
        <p:txBody>
          <a:bodyPr anchor="b"/>
          <a:lstStyle>
            <a:lvl1pPr marL="0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1pPr>
            <a:lvl2pPr marL="306187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2pPr>
            <a:lvl3pPr marL="612374" indent="0">
              <a:buNone/>
              <a:defRPr sz="1072">
                <a:solidFill>
                  <a:schemeClr val="tx1">
                    <a:tint val="75000"/>
                  </a:schemeClr>
                </a:solidFill>
              </a:defRPr>
            </a:lvl3pPr>
            <a:lvl4pPr marL="91856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4pPr>
            <a:lvl5pPr marL="1224747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5pPr>
            <a:lvl6pPr marL="1530934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6pPr>
            <a:lvl7pPr marL="183712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7pPr>
            <a:lvl8pPr marL="2143308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8pPr>
            <a:lvl9pPr marL="2449495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28009"/>
            <a:ext cx="3366823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456434"/>
            <a:ext cx="3366823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028009"/>
            <a:ext cx="3368146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456434"/>
            <a:ext cx="3368146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51"/>
            <a:ext cx="2506928" cy="778183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182852"/>
            <a:ext cx="4259792" cy="3919617"/>
          </a:xfrm>
        </p:spPr>
        <p:txBody>
          <a:bodyPr/>
          <a:lstStyle>
            <a:lvl1pPr>
              <a:defRPr sz="2143"/>
            </a:lvl1pPr>
            <a:lvl2pPr>
              <a:defRPr sz="1875"/>
            </a:lvl2pPr>
            <a:lvl3pPr>
              <a:defRPr sz="1607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61035"/>
            <a:ext cx="2506928" cy="3141434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3214787"/>
            <a:ext cx="4572000" cy="379524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410353"/>
            <a:ext cx="4572000" cy="2755532"/>
          </a:xfrm>
        </p:spPr>
        <p:txBody>
          <a:bodyPr/>
          <a:lstStyle>
            <a:lvl1pPr marL="0" indent="0">
              <a:buNone/>
              <a:defRPr sz="2143"/>
            </a:lvl1pPr>
            <a:lvl2pPr marL="306187" indent="0">
              <a:buNone/>
              <a:defRPr sz="1875"/>
            </a:lvl2pPr>
            <a:lvl3pPr marL="612374" indent="0">
              <a:buNone/>
              <a:defRPr sz="1607"/>
            </a:lvl3pPr>
            <a:lvl4pPr marL="918561" indent="0">
              <a:buNone/>
              <a:defRPr sz="1339"/>
            </a:lvl4pPr>
            <a:lvl5pPr marL="1224747" indent="0">
              <a:buNone/>
              <a:defRPr sz="1339"/>
            </a:lvl5pPr>
            <a:lvl6pPr marL="1530934" indent="0">
              <a:buNone/>
              <a:defRPr sz="1339"/>
            </a:lvl6pPr>
            <a:lvl7pPr marL="1837121" indent="0">
              <a:buNone/>
              <a:defRPr sz="1339"/>
            </a:lvl7pPr>
            <a:lvl8pPr marL="2143308" indent="0">
              <a:buNone/>
              <a:defRPr sz="1339"/>
            </a:lvl8pPr>
            <a:lvl9pPr marL="2449495" indent="0">
              <a:buNone/>
              <a:defRPr sz="133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3594311"/>
            <a:ext cx="4572000" cy="538987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183916"/>
            <a:ext cx="1714500" cy="39185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83916"/>
            <a:ext cx="5016500" cy="3918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3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83915"/>
            <a:ext cx="6858000" cy="76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71596"/>
            <a:ext cx="6858000" cy="303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4256616"/>
            <a:ext cx="2413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06187" rtl="0" eaLnBrk="1" latinLnBrk="0" hangingPunct="1">
        <a:spcBef>
          <a:spcPct val="0"/>
        </a:spcBef>
        <a:buNone/>
        <a:defRPr sz="29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640" indent="-229640" algn="l" defTabSz="306187" rtl="0" eaLnBrk="1" latinLnBrk="0" hangingPunct="1">
        <a:spcBef>
          <a:spcPct val="20000"/>
        </a:spcBef>
        <a:buFont typeface="Arial" panose="020B0604020202020204"/>
        <a:buChar char="•"/>
        <a:defRPr sz="2143" kern="1200">
          <a:solidFill>
            <a:schemeClr val="tx1"/>
          </a:solidFill>
          <a:latin typeface="+mn-lt"/>
          <a:ea typeface="+mn-ea"/>
          <a:cs typeface="+mn-cs"/>
        </a:defRPr>
      </a:lvl1pPr>
      <a:lvl2pPr marL="497554" indent="-191367" algn="l" defTabSz="306187" rtl="0" eaLnBrk="1" latinLnBrk="0" hangingPunct="1">
        <a:spcBef>
          <a:spcPct val="20000"/>
        </a:spcBef>
        <a:buFont typeface="Arial" panose="020B0604020202020204"/>
        <a:buChar char="–"/>
        <a:defRPr sz="1875" kern="1200">
          <a:solidFill>
            <a:schemeClr val="tx1"/>
          </a:solidFill>
          <a:latin typeface="+mn-lt"/>
          <a:ea typeface="+mn-ea"/>
          <a:cs typeface="+mn-cs"/>
        </a:defRPr>
      </a:lvl2pPr>
      <a:lvl3pPr marL="765467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607" kern="1200">
          <a:solidFill>
            <a:schemeClr val="tx1"/>
          </a:solidFill>
          <a:latin typeface="+mn-lt"/>
          <a:ea typeface="+mn-ea"/>
          <a:cs typeface="+mn-cs"/>
        </a:defRPr>
      </a:lvl3pPr>
      <a:lvl4pPr marL="1071654" indent="-153093" algn="l" defTabSz="306187" rtl="0" eaLnBrk="1" latinLnBrk="0" hangingPunct="1">
        <a:spcBef>
          <a:spcPct val="20000"/>
        </a:spcBef>
        <a:buFont typeface="Arial" panose="020B0604020202020204"/>
        <a:buChar char="–"/>
        <a:defRPr sz="1339" kern="1200">
          <a:solidFill>
            <a:schemeClr val="tx1"/>
          </a:solidFill>
          <a:latin typeface="+mn-lt"/>
          <a:ea typeface="+mn-ea"/>
          <a:cs typeface="+mn-cs"/>
        </a:defRPr>
      </a:lvl4pPr>
      <a:lvl5pPr marL="1377841" indent="-153093" algn="l" defTabSz="306187" rtl="0" eaLnBrk="1" latinLnBrk="0" hangingPunct="1">
        <a:spcBef>
          <a:spcPct val="20000"/>
        </a:spcBef>
        <a:buFont typeface="Arial" panose="020B0604020202020204"/>
        <a:buChar char="»"/>
        <a:defRPr sz="1339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6pPr>
      <a:lvl7pPr marL="1990214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7pPr>
      <a:lvl8pPr marL="2296401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8pPr>
      <a:lvl9pPr marL="260258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18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37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56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74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93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712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3308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9495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4064" y="183703"/>
            <a:ext cx="9185106" cy="27821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700" b="1">
                <a:solidFill>
                  <a:srgbClr val="172F49"/>
                </a:solidFill>
                <a:latin typeface="Noto Sans CJK SC"/>
              </a:defRPr>
            </a:pPr>
            <a:r>
              <a:rPr kumimoji="0" sz="1808" b="1" i="0" u="none" strike="noStrike" kern="1200" cap="none" spc="0" normalizeH="0" baseline="0" noProof="0">
                <a:ln>
                  <a:noFill/>
                </a:ln>
                <a:solidFill>
                  <a:srgbClr val="172F4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氨基酸手性分析：有文献依据的方法—试剂对应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714" y="673875"/>
            <a:ext cx="1233098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1738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分析方法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78069" y="690930"/>
            <a:ext cx="4053812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000" b="1">
                <a:solidFill>
                  <a:srgbClr val="617389"/>
                </a:solidFill>
                <a:latin typeface="Noto Sans CJK SC"/>
              </a:defRPr>
            </a:pPr>
            <a:r>
              <a:t>衍生化试剂／直接分析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3738" y="1040979"/>
            <a:ext cx="2130945" cy="1377766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42" y="1366049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 / UPLC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355" y="1845602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高效液相色谱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49241" y="1040979"/>
            <a:ext cx="6429574" cy="1377766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53339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83956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474B5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7832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[0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宋体" panose="02010600030101010101" pitchFamily="2" charset="-122"/>
                <a:cs typeface="+mn-cs"/>
              </a:rPr>
              <a:t>1]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233A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GITC [02]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2311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42928" y="1224681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6804" y="1585962"/>
            <a:ext cx="1130380" cy="65146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FDAA [02,03]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FDLA [04]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[05]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1282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1899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5776" y="1585962"/>
            <a:ext cx="1130380" cy="619144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OPA＋NAC / IBLC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OPA＋DiCys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[02,06,07]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0254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60871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4748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[08]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Dabsyl-Cl [09]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89226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19843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3720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[10]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AQC [11]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738" y="2547123"/>
            <a:ext cx="2130945" cy="1114460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2726" y="2766224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42" y="323154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气相色谱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749241" y="2528966"/>
            <a:ext cx="6429574" cy="111446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85333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08265" y="2627882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氯甲酸酯类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26819" y="2860291"/>
            <a:ext cx="2920864" cy="69762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氯甲酸甲酯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[12]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五氟丙基氯甲酸酯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七氟丁基氯甲酸酯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[14]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076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74249" y="2682051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氯甲酸酯＋手性醇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74249" y="2963728"/>
            <a:ext cx="2920864" cy="45653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氯甲酸乙酯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＋(S)-(+)-3-甲基-2-丁醇 [15]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3738" y="3753647"/>
            <a:ext cx="2130945" cy="1377766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4355" y="40615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504" y="4553388"/>
            <a:ext cx="2161561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毛细管电泳</a:t>
            </a:r>
            <a:br/>
            <a:r>
              <a:t>（CZE / MEKC）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9241" y="3753647"/>
            <a:ext cx="6429574" cy="1377766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853339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83956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7832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[16]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(R)-NCS [17]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2311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42928" y="3937349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6804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[18]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DTAF [19]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71282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01899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芳香二醛类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95776" y="4216462"/>
            <a:ext cx="1130380" cy="808426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OPA＋ME [20]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OPA＋手性硫醇</a:t>
            </a: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[21]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NDA [22]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30254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60871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4748" y="4298630"/>
            <a:ext cx="1130380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[16]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89226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19843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13720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[23]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FLEC [24]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3738" y="5449824"/>
            <a:ext cx="2130945" cy="1005840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2118" y="55046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HPLC–CD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624" y="593445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液相色谱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–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圆二色检测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749241" y="5449824"/>
            <a:ext cx="6429574" cy="1005840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855464" y="5541264"/>
            <a:ext cx="200253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92040" y="560527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2040" y="592531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t>PITC–PTH [25]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958584" y="5541264"/>
            <a:ext cx="200253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95160" y="560527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95160" y="592531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t>NBD-F [26]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61704" y="5541264"/>
            <a:ext cx="200253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98280" y="560527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t>无需衍生化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98280" y="592531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t>Trp [27] · Phe [28]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547104"/>
            <a:ext cx="10972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17389"/>
                </a:solidFill>
                <a:latin typeface="Noto Sans CJK SC"/>
              </a:defRPr>
            </a:pPr>
            <a:r>
              <a:t>直接分析：Trp采用手性柱[27]；Phe采用非手性柱[28]。适用性须逐个氨基酸验证。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688336" y="1728216"/>
            <a:ext cx="2057400" cy="0"/>
          </a:xfrm>
          <a:prstGeom prst="line">
            <a:avLst/>
          </a:prstGeom>
          <a:ln w="254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734056" y="1069848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2474B5"/>
                </a:solidFill>
                <a:latin typeface="Noto Sans CJK SC"/>
              </a:defRPr>
            </a:pPr>
            <a:r>
              <a:t>①手性固定相</a:t>
            </a:r>
            <a:br/>
            <a:r>
              <a:t>②手性衍生化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4056" y="1810512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2474B5"/>
                </a:solidFill>
                <a:latin typeface="Noto Sans CJK SC"/>
              </a:defRPr>
            </a:pPr>
            <a:r>
              <a:t>UV · 荧光 · MS/MS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688336" y="3090672"/>
            <a:ext cx="2057400" cy="0"/>
          </a:xfrm>
          <a:prstGeom prst="line">
            <a:avLst/>
          </a:prstGeom>
          <a:ln w="254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734056" y="243230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C18129"/>
                </a:solidFill>
                <a:latin typeface="Noto Sans CJK SC"/>
              </a:defRPr>
            </a:pPr>
            <a:r>
              <a:t>①手性固定相</a:t>
            </a:r>
            <a:br/>
            <a:r>
              <a:t>②手性衍生化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34056" y="317296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C18129"/>
                </a:solidFill>
                <a:latin typeface="Noto Sans CJK SC"/>
              </a:defRPr>
            </a:pPr>
            <a:r>
              <a:t>FID · MS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688336" y="4443984"/>
            <a:ext cx="2057400" cy="0"/>
          </a:xfrm>
          <a:prstGeom prst="line">
            <a:avLst/>
          </a:prstGeom>
          <a:ln w="254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734056" y="3785616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7B61A8"/>
                </a:solidFill>
                <a:latin typeface="Noto Sans CJK SC"/>
              </a:defRPr>
            </a:pPr>
            <a:r>
              <a:t>①手性选择剂</a:t>
            </a:r>
            <a:br/>
            <a:r>
              <a:t>②手性衍生化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4056" y="452628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7B61A8"/>
                </a:solidFill>
                <a:latin typeface="Noto Sans CJK SC"/>
              </a:defRPr>
            </a:pPr>
            <a:r>
              <a:t>UV · 荧光 · MS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688336" y="5925312"/>
            <a:ext cx="2057400" cy="0"/>
          </a:xfrm>
          <a:prstGeom prst="line">
            <a:avLst/>
          </a:prstGeom>
          <a:ln w="254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734056" y="526694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148477"/>
                </a:solidFill>
                <a:latin typeface="Noto Sans CJK SC"/>
              </a:defRPr>
            </a:pPr>
            <a:r>
              <a:t>①手性固定相</a:t>
            </a:r>
            <a:br/>
            <a:r>
              <a:t>②非手性分离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34056" y="600760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148477"/>
                </a:solidFill>
                <a:latin typeface="Noto Sans CJK SC"/>
              </a:defRPr>
            </a:pPr>
            <a:r>
              <a:t>CD · UV · 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Microsoft Office PowerPoint</Application>
  <PresentationFormat>宽屏</PresentationFormat>
  <Paragraphs>111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Noto Sans CJK SC</vt:lpstr>
      <vt:lpstr>等线</vt:lpstr>
      <vt:lpstr>Arial</vt:lpstr>
      <vt:lpstr>Calibri</vt:lpstr>
      <vt:lpstr>1_Office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婧文 徐</cp:lastModifiedBy>
  <cp:revision>5</cp:revision>
  <dcterms:created xsi:type="dcterms:W3CDTF">2023-08-09T12:44:00Z</dcterms:created>
  <dcterms:modified xsi:type="dcterms:W3CDTF">2026-10-27T11:33:40Z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