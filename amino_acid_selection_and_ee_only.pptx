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3"/>
  </p:notesMasterIdLst>
  <p:sldIdLst>
    <p:sldId id="364" r:id="rId8"/>
    <p:sldId id="365" r:id="rId9"/>
    <p:sldId id="366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4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0F858-5A8C-46F9-9D7B-06ACCACED253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D835F-F6BE-4282-94CE-31CB0B36F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761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依据用户第二页的左图/大括号/文献初筛/三个候选/实验复筛布局重整。文献初筛并非排除所有无现成CD文献的研究候选，而是将“已有UV/反应依据”与“待验证CD假设”区分。将原文“非手性试剂不会导致消旋”修正：非手性只表示不另引固定手性中心，消旋必须考察。已有手性柱/原生CD路线[27,28]并入左图，平台不再被描述为仅可非手性衍生化。PITC是原有PTC基线，不能沿用PTH的CD判断；AQC稳定脲和直接进样依据[30]；OPA快速/自动化依据[31]，稳定性需条件化[32]。三个方案的CD信号强弱/稳定性排名尚无本课题实测对比，不预设最优者。EE简要方案为拟议设计：固定总摩尔浓度、先混D/L后一起衍生、带符号CD/UV峰面积比拟合ee、独立质控/浓度挑战。UV/CD互补与不拆分比例思路参考[26]，镜像响应参考[25]，不是各候选的既定能力。</a:t>
            </a:r>
          </a:p>
          <a:p/>
          <a:p>
            <a:r>
              <a:t>参考文献：</a:t>
            </a:r>
          </a:p>
          <a:p>
            <a:r>
              <a:t>[06] High-performance liquid chromatography evaluation of the enantiomeric purity of amino acids by means of automated precolumn derivatization with ortho-phthalaldehyde and chiral thiols.. DOI 10.1002/chir.22660. 核查：公开摘要与书目；摘要：N-acetyl-L-cysteine、N-isobutyryl-L-cysteine、PFP column段</a:t>
            </a:r>
          </a:p>
          <a:p>
            <a:r>
              <a:t>[11] Comprehensive Online Reversed-Phase × Chiral Two-Dimensional Liquid Chromatography-Mass Spectrometry with Data-Independent Sequential Window Acquisition of All Theoretical Fragment-Ion Spectra-Acquisition for Untargeted Enantioselective Amino Acid Analysis.. DOI 10.1021/acs.analchem.2c03042. 核查：公开摘要与书目；摘要：AQC、chiral tandem column、two peptide hydrolysate samples及oxytocin段</a:t>
            </a:r>
          </a:p>
          <a:p>
            <a:r>
              <a:t>[17] Cyclodextrin-Modified Capillary Zone Electrophoresis for the Chiral Analysis of Proline and Hydroxyproline Stereoisomers in Chicken Collagen Hydrolysates.. DOI 10.3390/ijms26125832. 核查：全文＋摘要；已读全文：2.1、2.2、2.3；3.1、3.3、3.4；Figures 2、5、6</a:t>
            </a:r>
          </a:p>
          <a:p>
            <a:r>
              <a:t>[25] Determination of sequence and absolute configuration of peptide amino acids by HPLC-MS/CD-based detection of liberated N-terminus phenylthiohydantoin amino acids.. DOI 10.1038/s41598-022-14205-x. 核查：全文＋摘要；已读全文：Introduction、Results and discussion、Methods；摘要末句acid hydrolysates</a:t>
            </a:r>
          </a:p>
          <a:p>
            <a:r>
              <a:t>[26] High-throughput comprehensive analysis of D- and L-amino acids using ultra-high performance liquid chromatography with a circular dichroism (CD) detector and its application to food samples.. DOI 10.1016/j.jchromb.2011.07.025. 核查：公开摘要与书目；摘要：NBD-F was selected；does not require separation；food samples段</a:t>
            </a:r>
          </a:p>
          <a:p>
            <a:r>
              <a:t>[27] Tryptophanase-catalyzed L-tryptophan synthesis from D-serine in the presence of diammonium hydrogen phosphate.. DOI 10.3390/ijms10062578. 核查：全文＋摘要；全文：Results/Determination of optical isomeric form by circular dichroism；Figure 4；Experimental/Tryptophan analyses by use of HPLC。</a:t>
            </a:r>
          </a:p>
          <a:p>
            <a:r>
              <a:t>[28] A novel potential primary method for quantification of enantiomers by high performance liquid chromatography-circular dichroism.. DOI 10.1038/s41598-018-25682-4. 核查：全文＋摘要；全文：Instruments and reagents；Optimization of the HPLC separation conditions；Figure 3（独立手性纯度检查）；Figures 4F、5D（实际在线CD）；pINS应用。</a:t>
            </a:r>
          </a:p>
          <a:p>
            <a:r>
              <a:t>[29] Rapid analysis of amino acids using pre-column derivatization.. DOI 10.1016/s0378-4347(00)85133-6. 核查：公开摘要与书目；公开摘要：phenylthiocarbamyl derivative、primary and secondary amino acids、protein hydrolyzates、UV detection。</a:t>
            </a:r>
          </a:p>
          <a:p>
            <a:r>
              <a:t>[30] Synthesis of a fluorescent derivatizing reagent, 6-aminoquinolyl-N-hydroxysuccinimidyl carbamate, and its application for the analysis of hydrolysate amino acids via high-performance liquid chromatography.. DOI 10.1006/abio.1993.1270. 核查：公开摘要与书目；公开摘要：stable unsymmetric urea、pH range 8.2–10.0、direct injection。</a:t>
            </a:r>
          </a:p>
          <a:p>
            <a:r>
              <a:t>[31] Analysis of amino acid composition in proteins of animal tissues and foods as pre-column o-phthaldialdehyde derivatives by HPLC with fluorescence detection.. DOI 10.1016/j.jchromb.2014.03.025. 核查：公开摘要与书目；公开摘要：primary AA、2-mercaptoethanol/3-mercaptopropionic acid、rapid formation、easy automation。</a:t>
            </a:r>
          </a:p>
          <a:p>
            <a:r>
              <a:t>[32] The stability of the o-phthalaldehyde/2-mercaptoethanol derivatives of amino acids: an investigation using high-pressure liquid chromatography with a precolumn derivatization technique.. DOI 10.1016/0003-2697(84)90522-0. 核查：公开摘要与书目；公开摘要：stable on the HPLC column、optimal conditions。</a:t>
            </a:r>
          </a:p>
          <a:p>
            <a:r>
              <a:t>[33] Comparison of different derivatisation for amino acids determination of foie gras by high performance liquid chromatography (HPLC).. DOI 10.1080/00071668.2024.2375723. 核查：公开摘要与书目；公开摘要：三种衍生化组、17种氨基酸、运行时间及与自动氨基酸分析仪比较。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本页明确为尚未实施的实验设计，不包含测定数据或虚构回归系数。CT固定、已校正纯度/盐型的D/L标液按物质的量配比后统一衍生，避免仅事后混合衍生物掩盖反应选择性。eeD百分数范围-100至+100，R=a eeD+b中的ee单位始终用百分数；未知样品eeD=(R-b)/a。S_CD必须是带符号峰面积，不可取绝对值；S_UV反映同一目标衍生物总量，不能混入其他共洗脱组分。若两个检测器串联，校正流路时延并一致积分，CD和UV检测波长/增益固定。经验R不是未经单位/光程换算的无量纲g。每种氨基酸、试剂、产物和条件独立建模；先检验D/L镜像、外消旋抵消、相同反应效率及无消旋，检查残差/失拟，不应仅以高R²接受。Lys多位点产物先确认单/双衍生物身份与定量峰。独立QC与浓度挑战用于证实模型可转移。高ee的少量反对映体不能仅凭相减法认为达到痕量定量能力，须与手性分离正交验证。UV/CD低于适用定量/信噪范围时不报告可靠ee。水解对照的游离氨基酸不能完全替代已知构型肽的真实释放/消旋过程，因此两类对照互补。文献25证明标准PTH响应及水解液应用，文献26证明NBD-F/CD-g因子比例方法；本页具体水平和QC为研究建议，并非对PTC/AQC/OPA既定线性性能的承诺。</a:t>
            </a:r>
          </a:p>
          <a:p/>
          <a:p>
            <a:r>
              <a:t>参考文献：</a:t>
            </a:r>
          </a:p>
          <a:p>
            <a:r>
              <a:t>[06] High-performance liquid chromatography evaluation of the enantiomeric purity of amino acids by means of automated precolumn derivatization with ortho-phthalaldehyde and chiral thiols.. DOI 10.1002/chir.22660. 核查：公开摘要与书目；摘要：N-acetyl-L-cysteine、N-isobutyryl-L-cysteine、PFP column段</a:t>
            </a:r>
          </a:p>
          <a:p>
            <a:r>
              <a:t>[11] Comprehensive Online Reversed-Phase × Chiral Two-Dimensional Liquid Chromatography-Mass Spectrometry with Data-Independent Sequential Window Acquisition of All Theoretical Fragment-Ion Spectra-Acquisition for Untargeted Enantioselective Amino Acid Analysis.. DOI 10.1021/acs.analchem.2c03042. 核查：公开摘要与书目；摘要：AQC、chiral tandem column、two peptide hydrolysate samples及oxytocin段</a:t>
            </a:r>
          </a:p>
          <a:p>
            <a:r>
              <a:t>[17] Cyclodextrin-Modified Capillary Zone Electrophoresis for the Chiral Analysis of Proline and Hydroxyproline Stereoisomers in Chicken Collagen Hydrolysates.. DOI 10.3390/ijms26125832. 核查：全文＋摘要；已读全文：2.1、2.2、2.3；3.1、3.3、3.4；Figures 2、5、6</a:t>
            </a:r>
          </a:p>
          <a:p>
            <a:r>
              <a:t>[25] Determination of sequence and absolute configuration of peptide amino acids by HPLC-MS/CD-based detection of liberated N-terminus phenylthiohydantoin amino acids.. DOI 10.1038/s41598-022-14205-x. 核查：全文＋摘要；已读全文：Introduction、Results and discussion、Methods；摘要末句acid hydrolysates</a:t>
            </a:r>
          </a:p>
          <a:p>
            <a:r>
              <a:t>[26] High-throughput comprehensive analysis of D- and L-amino acids using ultra-high performance liquid chromatography with a circular dichroism (CD) detector and its application to food samples.. DOI 10.1016/j.jchromb.2011.07.025. 核查：公开摘要与书目；摘要：NBD-F was selected；does not require separation；food samples段</a:t>
            </a:r>
          </a:p>
          <a:p>
            <a:r>
              <a:t>[27] Tryptophanase-catalyzed L-tryptophan synthesis from D-serine in the presence of diammonium hydrogen phosphate.. DOI 10.3390/ijms10062578. 核查：全文＋摘要；全文：Results/Determination of optical isomeric form by circular dichroism；Figure 4；Experimental/Tryptophan analyses by use of HPLC。</a:t>
            </a:r>
          </a:p>
          <a:p>
            <a:r>
              <a:t>[28] A novel potential primary method for quantification of enantiomers by high performance liquid chromatography-circular dichroism.. DOI 10.1038/s41598-018-25682-4. 核查：全文＋摘要；全文：Instruments and reagents；Optimization of the HPLC separation conditions；Figure 3（独立手性纯度检查）；Figures 4F、5D（实际在线CD）；pINS应用。</a:t>
            </a:r>
          </a:p>
          <a:p>
            <a:r>
              <a:t>[29] Rapid analysis of amino acids using pre-column derivatization.. DOI 10.1016/s0378-4347(00)85133-6. 核查：公开摘要与书目；公开摘要：phenylthiocarbamyl derivative、primary and secondary amino acids、protein hydrolyzates、UV detection。</a:t>
            </a:r>
          </a:p>
          <a:p>
            <a:r>
              <a:t>[30] Synthesis of a fluorescent derivatizing reagent, 6-aminoquinolyl-N-hydroxysuccinimidyl carbamate, and its application for the analysis of hydrolysate amino acids via high-performance liquid chromatography.. DOI 10.1006/abio.1993.1270. 核查：公开摘要与书目；公开摘要：stable unsymmetric urea、pH range 8.2–10.0、direct injection。</a:t>
            </a:r>
          </a:p>
          <a:p>
            <a:r>
              <a:t>[31] Analysis of amino acid composition in proteins of animal tissues and foods as pre-column o-phthaldialdehyde derivatives by HPLC with fluorescence detection.. DOI 10.1016/j.jchromb.2014.03.025. 核查：公开摘要与书目；公开摘要：primary AA、2-mercaptoethanol/3-mercaptopropionic acid、rapid formation、easy automation。</a:t>
            </a:r>
          </a:p>
          <a:p>
            <a:r>
              <a:t>[32] The stability of the o-phthalaldehyde/2-mercaptoethanol derivatives of amino acids: an investigation using high-pressure liquid chromatography with a precolumn derivatization technique.. DOI 10.1016/0003-2697(84)90522-0. 核查：公开摘要与书目；公开摘要：stable on the HPLC column、optimal conditions。</a:t>
            </a:r>
          </a:p>
          <a:p>
            <a:r>
              <a:t>[33] Comparison of different derivatisation for amino acids determination of foie gras by high performance liquid chromatography (HPLC).. DOI 10.1080/00071668.2024.2375723. 核查：公开摘要与书目；公开摘要：三种衍生化组、17种氨基酸、运行时间及与自动氨基酸分析仪比较。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较只涉及文献支持的反应/产物/流程特点及本项目的研究分工。PITC经典文献29指出快速、高效地形成PTC并用于蛋白水解物伯/仲胺UV分析，不能将用户某个1h反应/萃取方案视为PITC方法固有地慢。AQC文献30明确稳定非对称脲、快速一步反应、直接进样、pH和试剂过量影响收率；这不证明AQC在本项目CD信号最强。OPA文献31总结快速反应、自动化、非手性硫醇荧光应用；文献32指出特定OPA/ME产物柱上稳定，因此不能泛称所有OPA产物均极不稳定。等待进样稳定性需按实际硫醇/目标AA/pH测定。原文献6在手性硫醇OPA体系指出产品稳定性问题及在线衍生改善，只能作特定体系补充，不与非手性体系混同。文献33的OPA-FMOC组合、不同运行时间/基质结果不是本课题三候选直接在线CD比较。主张是互补对照，不给出没有同平台数据支持的灵敏度、成本、回收或CD排名。</a:t>
            </a:r>
          </a:p>
          <a:p/>
          <a:p>
            <a:r>
              <a:t>参考文献：</a:t>
            </a:r>
          </a:p>
          <a:p>
            <a:r>
              <a:t>[06] High-performance liquid chromatography evaluation of the enantiomeric purity of amino acids by means of automated precolumn derivatization with ortho-phthalaldehyde and chiral thiols.. DOI 10.1002/chir.22660. 核查：公开摘要与书目；摘要：N-acetyl-L-cysteine、N-isobutyryl-L-cysteine、PFP column段</a:t>
            </a:r>
          </a:p>
          <a:p>
            <a:r>
              <a:t>[11] Comprehensive Online Reversed-Phase × Chiral Two-Dimensional Liquid Chromatography-Mass Spectrometry with Data-Independent Sequential Window Acquisition of All Theoretical Fragment-Ion Spectra-Acquisition for Untargeted Enantioselective Amino Acid Analysis.. DOI 10.1021/acs.analchem.2c03042. 核查：公开摘要与书目；摘要：AQC、chiral tandem column、two peptide hydrolysate samples及oxytocin段</a:t>
            </a:r>
          </a:p>
          <a:p>
            <a:r>
              <a:t>[17] Cyclodextrin-Modified Capillary Zone Electrophoresis for the Chiral Analysis of Proline and Hydroxyproline Stereoisomers in Chicken Collagen Hydrolysates.. DOI 10.3390/ijms26125832. 核查：全文＋摘要；已读全文：2.1、2.2、2.3；3.1、3.3、3.4；Figures 2、5、6</a:t>
            </a:r>
          </a:p>
          <a:p>
            <a:r>
              <a:t>[25] Determination of sequence and absolute configuration of peptide amino acids by HPLC-MS/CD-based detection of liberated N-terminus phenylthiohydantoin amino acids.. DOI 10.1038/s41598-022-14205-x. 核查：全文＋摘要；已读全文：Introduction、Results and discussion、Methods；摘要末句acid hydrolysates</a:t>
            </a:r>
          </a:p>
          <a:p>
            <a:r>
              <a:t>[26] High-throughput comprehensive analysis of D- and L-amino acids using ultra-high performance liquid chromatography with a circular dichroism (CD) detector and its application to food samples.. DOI 10.1016/j.jchromb.2011.07.025. 核查：公开摘要与书目；摘要：NBD-F was selected；does not require separation；food samples段</a:t>
            </a:r>
          </a:p>
          <a:p>
            <a:r>
              <a:t>[27] Tryptophanase-catalyzed L-tryptophan synthesis from D-serine in the presence of diammonium hydrogen phosphate.. DOI 10.3390/ijms10062578. 核查：全文＋摘要；全文：Results/Determination of optical isomeric form by circular dichroism；Figure 4；Experimental/Tryptophan analyses by use of HPLC。</a:t>
            </a:r>
          </a:p>
          <a:p>
            <a:r>
              <a:t>[28] A novel potential primary method for quantification of enantiomers by high performance liquid chromatography-circular dichroism.. DOI 10.1038/s41598-018-25682-4. 核查：全文＋摘要；全文：Instruments and reagents；Optimization of the HPLC separation conditions；Figure 3（独立手性纯度检查）；Figures 4F、5D（实际在线CD）；pINS应用。</a:t>
            </a:r>
          </a:p>
          <a:p>
            <a:r>
              <a:t>[29] Rapid analysis of amino acids using pre-column derivatization.. DOI 10.1016/s0378-4347(00)85133-6. 核查：公开摘要与书目；公开摘要：phenylthiocarbamyl derivative、primary and secondary amino acids、protein hydrolyzates、UV detection。</a:t>
            </a:r>
          </a:p>
          <a:p>
            <a:r>
              <a:t>[30] Synthesis of a fluorescent derivatizing reagent, 6-aminoquinolyl-N-hydroxysuccinimidyl carbamate, and its application for the analysis of hydrolysate amino acids via high-performance liquid chromatography.. DOI 10.1006/abio.1993.1270. 核查：公开摘要与书目；公开摘要：stable unsymmetric urea、pH range 8.2–10.0、direct injection。</a:t>
            </a:r>
          </a:p>
          <a:p>
            <a:r>
              <a:t>[31] Analysis of amino acid composition in proteins of animal tissues and foods as pre-column o-phthaldialdehyde derivatives by HPLC with fluorescence detection.. DOI 10.1016/j.jchromb.2014.03.025. 核查：公开摘要与书目；公开摘要：primary AA、2-mercaptoethanol/3-mercaptopropionic acid、rapid formation、easy automation。</a:t>
            </a:r>
          </a:p>
          <a:p>
            <a:r>
              <a:t>[32] The stability of the o-phthalaldehyde/2-mercaptoethanol derivatives of amino acids: an investigation using high-pressure liquid chromatography with a precolumn derivatization technique.. DOI 10.1016/0003-2697(84)90522-0. 核查：公开摘要与书目；公开摘要：stable on the HPLC column、optimal conditions。</a:t>
            </a:r>
          </a:p>
          <a:p>
            <a:r>
              <a:t>[33] Comparison of different derivatisation for amino acids determination of foie gras by high performance liquid chromatography (HPLC).. DOI 10.1080/00071668.2024.2375723. 核查：公开摘要与书目；公开摘要：三种衍生化组、17种氨基酸、运行时间及与自动氨基酸分析仪比较。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426668"/>
            <a:ext cx="6477000" cy="9844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602447"/>
            <a:ext cx="5334000" cy="117365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61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23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24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309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371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43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494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09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72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28" y="2951141"/>
            <a:ext cx="6477000" cy="912132"/>
          </a:xfrm>
        </p:spPr>
        <p:txBody>
          <a:bodyPr anchor="t"/>
          <a:lstStyle>
            <a:lvl1pPr algn="l">
              <a:defRPr sz="267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928" y="1946520"/>
            <a:ext cx="6477000" cy="1004621"/>
          </a:xfrm>
        </p:spPr>
        <p:txBody>
          <a:bodyPr anchor="b"/>
          <a:lstStyle>
            <a:lvl1pPr marL="0" indent="0">
              <a:buNone/>
              <a:defRPr sz="1339">
                <a:solidFill>
                  <a:schemeClr val="tx1">
                    <a:tint val="75000"/>
                  </a:schemeClr>
                </a:solidFill>
              </a:defRPr>
            </a:lvl1pPr>
            <a:lvl2pPr marL="306187" indent="0">
              <a:buNone/>
              <a:defRPr sz="1205">
                <a:solidFill>
                  <a:schemeClr val="tx1">
                    <a:tint val="75000"/>
                  </a:schemeClr>
                </a:solidFill>
              </a:defRPr>
            </a:lvl2pPr>
            <a:lvl3pPr marL="612374" indent="0">
              <a:buNone/>
              <a:defRPr sz="1072">
                <a:solidFill>
                  <a:schemeClr val="tx1">
                    <a:tint val="75000"/>
                  </a:schemeClr>
                </a:solidFill>
              </a:defRPr>
            </a:lvl3pPr>
            <a:lvl4pPr marL="918561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4pPr>
            <a:lvl5pPr marL="1224747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5pPr>
            <a:lvl6pPr marL="1530934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6pPr>
            <a:lvl7pPr marL="1837121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7pPr>
            <a:lvl8pPr marL="2143308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8pPr>
            <a:lvl9pPr marL="2449495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49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071596"/>
            <a:ext cx="3365500" cy="3030873"/>
          </a:xfrm>
        </p:spPr>
        <p:txBody>
          <a:bodyPr/>
          <a:lstStyle>
            <a:lvl1pPr>
              <a:defRPr sz="1875"/>
            </a:lvl1pPr>
            <a:lvl2pPr>
              <a:defRPr sz="1607"/>
            </a:lvl2pPr>
            <a:lvl3pPr>
              <a:defRPr sz="1339"/>
            </a:lvl3pPr>
            <a:lvl4pPr>
              <a:defRPr sz="1205"/>
            </a:lvl4pPr>
            <a:lvl5pPr>
              <a:defRPr sz="1205"/>
            </a:lvl5pPr>
            <a:lvl6pPr>
              <a:defRPr sz="1205"/>
            </a:lvl6pPr>
            <a:lvl7pPr>
              <a:defRPr sz="1205"/>
            </a:lvl7pPr>
            <a:lvl8pPr>
              <a:defRPr sz="1205"/>
            </a:lvl8pPr>
            <a:lvl9pPr>
              <a:defRPr sz="1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3500" y="1071596"/>
            <a:ext cx="3365500" cy="3030873"/>
          </a:xfrm>
        </p:spPr>
        <p:txBody>
          <a:bodyPr/>
          <a:lstStyle>
            <a:lvl1pPr>
              <a:defRPr sz="1875"/>
            </a:lvl1pPr>
            <a:lvl2pPr>
              <a:defRPr sz="1607"/>
            </a:lvl2pPr>
            <a:lvl3pPr>
              <a:defRPr sz="1339"/>
            </a:lvl3pPr>
            <a:lvl4pPr>
              <a:defRPr sz="1205"/>
            </a:lvl4pPr>
            <a:lvl5pPr>
              <a:defRPr sz="1205"/>
            </a:lvl5pPr>
            <a:lvl6pPr>
              <a:defRPr sz="1205"/>
            </a:lvl6pPr>
            <a:lvl7pPr>
              <a:defRPr sz="1205"/>
            </a:lvl7pPr>
            <a:lvl8pPr>
              <a:defRPr sz="1205"/>
            </a:lvl8pPr>
            <a:lvl9pPr>
              <a:defRPr sz="1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28009"/>
            <a:ext cx="3366823" cy="428425"/>
          </a:xfrm>
        </p:spPr>
        <p:txBody>
          <a:bodyPr anchor="b"/>
          <a:lstStyle>
            <a:lvl1pPr marL="0" indent="0">
              <a:buNone/>
              <a:defRPr sz="1607" b="1"/>
            </a:lvl1pPr>
            <a:lvl2pPr marL="306187" indent="0">
              <a:buNone/>
              <a:defRPr sz="1339" b="1"/>
            </a:lvl2pPr>
            <a:lvl3pPr marL="612374" indent="0">
              <a:buNone/>
              <a:defRPr sz="1205" b="1"/>
            </a:lvl3pPr>
            <a:lvl4pPr marL="918561" indent="0">
              <a:buNone/>
              <a:defRPr sz="1072" b="1"/>
            </a:lvl4pPr>
            <a:lvl5pPr marL="1224747" indent="0">
              <a:buNone/>
              <a:defRPr sz="1072" b="1"/>
            </a:lvl5pPr>
            <a:lvl6pPr marL="1530934" indent="0">
              <a:buNone/>
              <a:defRPr sz="1072" b="1"/>
            </a:lvl6pPr>
            <a:lvl7pPr marL="1837121" indent="0">
              <a:buNone/>
              <a:defRPr sz="1072" b="1"/>
            </a:lvl7pPr>
            <a:lvl8pPr marL="2143308" indent="0">
              <a:buNone/>
              <a:defRPr sz="1072" b="1"/>
            </a:lvl8pPr>
            <a:lvl9pPr marL="2449495" indent="0">
              <a:buNone/>
              <a:defRPr sz="10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000" y="1456434"/>
            <a:ext cx="3366823" cy="2646034"/>
          </a:xfrm>
        </p:spPr>
        <p:txBody>
          <a:bodyPr/>
          <a:lstStyle>
            <a:lvl1pPr>
              <a:defRPr sz="1607"/>
            </a:lvl1pPr>
            <a:lvl2pPr>
              <a:defRPr sz="1339"/>
            </a:lvl2pPr>
            <a:lvl3pPr>
              <a:defRPr sz="1205"/>
            </a:lvl3pPr>
            <a:lvl4pPr>
              <a:defRPr sz="1072"/>
            </a:lvl4pPr>
            <a:lvl5pPr>
              <a:defRPr sz="1072"/>
            </a:lvl5pPr>
            <a:lvl6pPr>
              <a:defRPr sz="1072"/>
            </a:lvl6pPr>
            <a:lvl7pPr>
              <a:defRPr sz="1072"/>
            </a:lvl7pPr>
            <a:lvl8pPr>
              <a:defRPr sz="1072"/>
            </a:lvl8pPr>
            <a:lvl9pPr>
              <a:defRPr sz="10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70855" y="1028009"/>
            <a:ext cx="3368146" cy="428425"/>
          </a:xfrm>
        </p:spPr>
        <p:txBody>
          <a:bodyPr anchor="b"/>
          <a:lstStyle>
            <a:lvl1pPr marL="0" indent="0">
              <a:buNone/>
              <a:defRPr sz="1607" b="1"/>
            </a:lvl1pPr>
            <a:lvl2pPr marL="306187" indent="0">
              <a:buNone/>
              <a:defRPr sz="1339" b="1"/>
            </a:lvl2pPr>
            <a:lvl3pPr marL="612374" indent="0">
              <a:buNone/>
              <a:defRPr sz="1205" b="1"/>
            </a:lvl3pPr>
            <a:lvl4pPr marL="918561" indent="0">
              <a:buNone/>
              <a:defRPr sz="1072" b="1"/>
            </a:lvl4pPr>
            <a:lvl5pPr marL="1224747" indent="0">
              <a:buNone/>
              <a:defRPr sz="1072" b="1"/>
            </a:lvl5pPr>
            <a:lvl6pPr marL="1530934" indent="0">
              <a:buNone/>
              <a:defRPr sz="1072" b="1"/>
            </a:lvl6pPr>
            <a:lvl7pPr marL="1837121" indent="0">
              <a:buNone/>
              <a:defRPr sz="1072" b="1"/>
            </a:lvl7pPr>
            <a:lvl8pPr marL="2143308" indent="0">
              <a:buNone/>
              <a:defRPr sz="1072" b="1"/>
            </a:lvl8pPr>
            <a:lvl9pPr marL="2449495" indent="0">
              <a:buNone/>
              <a:defRPr sz="10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70855" y="1456434"/>
            <a:ext cx="3368146" cy="2646034"/>
          </a:xfrm>
        </p:spPr>
        <p:txBody>
          <a:bodyPr/>
          <a:lstStyle>
            <a:lvl1pPr>
              <a:defRPr sz="1607"/>
            </a:lvl1pPr>
            <a:lvl2pPr>
              <a:defRPr sz="1339"/>
            </a:lvl2pPr>
            <a:lvl3pPr>
              <a:defRPr sz="1205"/>
            </a:lvl3pPr>
            <a:lvl4pPr>
              <a:defRPr sz="1072"/>
            </a:lvl4pPr>
            <a:lvl5pPr>
              <a:defRPr sz="1072"/>
            </a:lvl5pPr>
            <a:lvl6pPr>
              <a:defRPr sz="1072"/>
            </a:lvl6pPr>
            <a:lvl7pPr>
              <a:defRPr sz="1072"/>
            </a:lvl7pPr>
            <a:lvl8pPr>
              <a:defRPr sz="1072"/>
            </a:lvl8pPr>
            <a:lvl9pPr>
              <a:defRPr sz="10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350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3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28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82851"/>
            <a:ext cx="2506928" cy="778183"/>
          </a:xfrm>
        </p:spPr>
        <p:txBody>
          <a:bodyPr anchor="b"/>
          <a:lstStyle>
            <a:lvl1pPr algn="l">
              <a:defRPr sz="133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9208" y="182852"/>
            <a:ext cx="4259792" cy="3919617"/>
          </a:xfrm>
        </p:spPr>
        <p:txBody>
          <a:bodyPr/>
          <a:lstStyle>
            <a:lvl1pPr>
              <a:defRPr sz="2143"/>
            </a:lvl1pPr>
            <a:lvl2pPr>
              <a:defRPr sz="1875"/>
            </a:lvl2pPr>
            <a:lvl3pPr>
              <a:defRPr sz="1607"/>
            </a:lvl3pPr>
            <a:lvl4pPr>
              <a:defRPr sz="1339"/>
            </a:lvl4pPr>
            <a:lvl5pPr>
              <a:defRPr sz="1339"/>
            </a:lvl5pPr>
            <a:lvl6pPr>
              <a:defRPr sz="1339"/>
            </a:lvl6pPr>
            <a:lvl7pPr>
              <a:defRPr sz="1339"/>
            </a:lvl7pPr>
            <a:lvl8pPr>
              <a:defRPr sz="1339"/>
            </a:lvl8pPr>
            <a:lvl9pPr>
              <a:defRPr sz="13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61035"/>
            <a:ext cx="2506928" cy="3141434"/>
          </a:xfrm>
        </p:spPr>
        <p:txBody>
          <a:bodyPr/>
          <a:lstStyle>
            <a:lvl1pPr marL="0" indent="0">
              <a:buNone/>
              <a:defRPr sz="938"/>
            </a:lvl1pPr>
            <a:lvl2pPr marL="306187" indent="0">
              <a:buNone/>
              <a:defRPr sz="804"/>
            </a:lvl2pPr>
            <a:lvl3pPr marL="612374" indent="0">
              <a:buNone/>
              <a:defRPr sz="670"/>
            </a:lvl3pPr>
            <a:lvl4pPr marL="918561" indent="0">
              <a:buNone/>
              <a:defRPr sz="603"/>
            </a:lvl4pPr>
            <a:lvl5pPr marL="1224747" indent="0">
              <a:buNone/>
              <a:defRPr sz="603"/>
            </a:lvl5pPr>
            <a:lvl6pPr marL="1530934" indent="0">
              <a:buNone/>
              <a:defRPr sz="603"/>
            </a:lvl6pPr>
            <a:lvl7pPr marL="1837121" indent="0">
              <a:buNone/>
              <a:defRPr sz="603"/>
            </a:lvl7pPr>
            <a:lvl8pPr marL="2143308" indent="0">
              <a:buNone/>
              <a:defRPr sz="603"/>
            </a:lvl8pPr>
            <a:lvl9pPr marL="2449495" indent="0">
              <a:buNone/>
              <a:defRPr sz="6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71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3573" y="3214787"/>
            <a:ext cx="4572000" cy="379524"/>
          </a:xfrm>
        </p:spPr>
        <p:txBody>
          <a:bodyPr anchor="b"/>
          <a:lstStyle>
            <a:lvl1pPr algn="l">
              <a:defRPr sz="133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93573" y="410353"/>
            <a:ext cx="4572000" cy="2755532"/>
          </a:xfrm>
        </p:spPr>
        <p:txBody>
          <a:bodyPr/>
          <a:lstStyle>
            <a:lvl1pPr marL="0" indent="0">
              <a:buNone/>
              <a:defRPr sz="2143"/>
            </a:lvl1pPr>
            <a:lvl2pPr marL="306187" indent="0">
              <a:buNone/>
              <a:defRPr sz="1875"/>
            </a:lvl2pPr>
            <a:lvl3pPr marL="612374" indent="0">
              <a:buNone/>
              <a:defRPr sz="1607"/>
            </a:lvl3pPr>
            <a:lvl4pPr marL="918561" indent="0">
              <a:buNone/>
              <a:defRPr sz="1339"/>
            </a:lvl4pPr>
            <a:lvl5pPr marL="1224747" indent="0">
              <a:buNone/>
              <a:defRPr sz="1339"/>
            </a:lvl5pPr>
            <a:lvl6pPr marL="1530934" indent="0">
              <a:buNone/>
              <a:defRPr sz="1339"/>
            </a:lvl6pPr>
            <a:lvl7pPr marL="1837121" indent="0">
              <a:buNone/>
              <a:defRPr sz="1339"/>
            </a:lvl7pPr>
            <a:lvl8pPr marL="2143308" indent="0">
              <a:buNone/>
              <a:defRPr sz="1339"/>
            </a:lvl8pPr>
            <a:lvl9pPr marL="2449495" indent="0">
              <a:buNone/>
              <a:defRPr sz="133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3573" y="3594311"/>
            <a:ext cx="4572000" cy="538987"/>
          </a:xfrm>
        </p:spPr>
        <p:txBody>
          <a:bodyPr/>
          <a:lstStyle>
            <a:lvl1pPr marL="0" indent="0">
              <a:buNone/>
              <a:defRPr sz="938"/>
            </a:lvl1pPr>
            <a:lvl2pPr marL="306187" indent="0">
              <a:buNone/>
              <a:defRPr sz="804"/>
            </a:lvl2pPr>
            <a:lvl3pPr marL="612374" indent="0">
              <a:buNone/>
              <a:defRPr sz="670"/>
            </a:lvl3pPr>
            <a:lvl4pPr marL="918561" indent="0">
              <a:buNone/>
              <a:defRPr sz="603"/>
            </a:lvl4pPr>
            <a:lvl5pPr marL="1224747" indent="0">
              <a:buNone/>
              <a:defRPr sz="603"/>
            </a:lvl5pPr>
            <a:lvl6pPr marL="1530934" indent="0">
              <a:buNone/>
              <a:defRPr sz="603"/>
            </a:lvl6pPr>
            <a:lvl7pPr marL="1837121" indent="0">
              <a:buNone/>
              <a:defRPr sz="603"/>
            </a:lvl7pPr>
            <a:lvl8pPr marL="2143308" indent="0">
              <a:buNone/>
              <a:defRPr sz="603"/>
            </a:lvl8pPr>
            <a:lvl9pPr marL="2449495" indent="0">
              <a:buNone/>
              <a:defRPr sz="6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0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83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24500" y="183916"/>
            <a:ext cx="1714500" cy="39185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83916"/>
            <a:ext cx="5016500" cy="39185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073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183915"/>
            <a:ext cx="6858000" cy="765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71596"/>
            <a:ext cx="6858000" cy="303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1000" y="4256616"/>
            <a:ext cx="1778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3500" y="4256616"/>
            <a:ext cx="2413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61000" y="4256616"/>
            <a:ext cx="1778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306187" rtl="0" eaLnBrk="1" latinLnBrk="0" hangingPunct="1">
        <a:spcBef>
          <a:spcPct val="0"/>
        </a:spcBef>
        <a:buNone/>
        <a:defRPr sz="29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9640" indent="-229640" algn="l" defTabSz="306187" rtl="0" eaLnBrk="1" latinLnBrk="0" hangingPunct="1">
        <a:spcBef>
          <a:spcPct val="20000"/>
        </a:spcBef>
        <a:buFont typeface="Arial" panose="020B0604020202020204"/>
        <a:buChar char="•"/>
        <a:defRPr sz="2143" kern="1200">
          <a:solidFill>
            <a:schemeClr val="tx1"/>
          </a:solidFill>
          <a:latin typeface="+mn-lt"/>
          <a:ea typeface="+mn-ea"/>
          <a:cs typeface="+mn-cs"/>
        </a:defRPr>
      </a:lvl1pPr>
      <a:lvl2pPr marL="497554" indent="-191367" algn="l" defTabSz="306187" rtl="0" eaLnBrk="1" latinLnBrk="0" hangingPunct="1">
        <a:spcBef>
          <a:spcPct val="20000"/>
        </a:spcBef>
        <a:buFont typeface="Arial" panose="020B0604020202020204"/>
        <a:buChar char="–"/>
        <a:defRPr sz="1875" kern="1200">
          <a:solidFill>
            <a:schemeClr val="tx1"/>
          </a:solidFill>
          <a:latin typeface="+mn-lt"/>
          <a:ea typeface="+mn-ea"/>
          <a:cs typeface="+mn-cs"/>
        </a:defRPr>
      </a:lvl2pPr>
      <a:lvl3pPr marL="765467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607" kern="1200">
          <a:solidFill>
            <a:schemeClr val="tx1"/>
          </a:solidFill>
          <a:latin typeface="+mn-lt"/>
          <a:ea typeface="+mn-ea"/>
          <a:cs typeface="+mn-cs"/>
        </a:defRPr>
      </a:lvl3pPr>
      <a:lvl4pPr marL="1071654" indent="-153093" algn="l" defTabSz="306187" rtl="0" eaLnBrk="1" latinLnBrk="0" hangingPunct="1">
        <a:spcBef>
          <a:spcPct val="20000"/>
        </a:spcBef>
        <a:buFont typeface="Arial" panose="020B0604020202020204"/>
        <a:buChar char="–"/>
        <a:defRPr sz="1339" kern="1200">
          <a:solidFill>
            <a:schemeClr val="tx1"/>
          </a:solidFill>
          <a:latin typeface="+mn-lt"/>
          <a:ea typeface="+mn-ea"/>
          <a:cs typeface="+mn-cs"/>
        </a:defRPr>
      </a:lvl4pPr>
      <a:lvl5pPr marL="1377841" indent="-153093" algn="l" defTabSz="306187" rtl="0" eaLnBrk="1" latinLnBrk="0" hangingPunct="1">
        <a:spcBef>
          <a:spcPct val="20000"/>
        </a:spcBef>
        <a:buFont typeface="Arial" panose="020B0604020202020204"/>
        <a:buChar char="»"/>
        <a:defRPr sz="1339" kern="1200">
          <a:solidFill>
            <a:schemeClr val="tx1"/>
          </a:solidFill>
          <a:latin typeface="+mn-lt"/>
          <a:ea typeface="+mn-ea"/>
          <a:cs typeface="+mn-cs"/>
        </a:defRPr>
      </a:lvl5pPr>
      <a:lvl6pPr marL="1684028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6pPr>
      <a:lvl7pPr marL="1990214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7pPr>
      <a:lvl8pPr marL="2296401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8pPr>
      <a:lvl9pPr marL="2602588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1pPr>
      <a:lvl2pPr marL="306187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2pPr>
      <a:lvl3pPr marL="612374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3pPr>
      <a:lvl4pPr marL="918561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224747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530934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837121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143308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449495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0312"/>
            <a:ext cx="11539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500" b="1">
                <a:solidFill>
                  <a:srgbClr val="172F49"/>
                </a:solidFill>
                <a:latin typeface="Noto Sans CJK SC"/>
              </a:defRPr>
            </a:pPr>
            <a:r>
              <a:t>选择原则：文献初筛 → 三条候选思路 → 实验复筛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t>已有分析方法与衍生化试剂</a:t>
            </a:r>
          </a:p>
        </p:txBody>
      </p:sp>
      <p:pic>
        <p:nvPicPr>
          <p:cNvPr id="4" name="Picture 3" descr="selection_updated_method_in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353312"/>
            <a:ext cx="4919472" cy="4142232"/>
          </a:xfrm>
          <a:prstGeom prst="rect">
            <a:avLst/>
          </a:prstGeom>
        </p:spPr>
      </p:pic>
      <p:sp>
        <p:nvSpPr>
          <p:cNvPr id="5" name="Right Brace 4"/>
          <p:cNvSpPr/>
          <p:nvPr/>
        </p:nvSpPr>
        <p:spPr>
          <a:xfrm>
            <a:off x="5129784" y="1353312"/>
            <a:ext cx="201168" cy="4142232"/>
          </a:xfrm>
          <a:prstGeom prst="rightBrace">
            <a:avLst/>
          </a:prstGeom>
          <a:noFill/>
          <a:ln w="25400">
            <a:solidFill>
              <a:srgbClr val="148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13248" y="868680"/>
            <a:ext cx="19019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148477"/>
                </a:solidFill>
                <a:latin typeface="Noto Sans CJK SC"/>
              </a:defRPr>
            </a:pPr>
            <a:r>
              <a:t>文献初筛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13248" y="1353312"/>
            <a:ext cx="1920240" cy="1664208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13832" y="1481328"/>
            <a:ext cx="17190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148477"/>
                </a:solidFill>
                <a:latin typeface="Noto Sans CJK SC"/>
              </a:defRPr>
            </a:pPr>
            <a:r>
              <a:t>1 选择HPLC–CD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3832" y="1920240"/>
            <a:ext cx="1719072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UV/CD信息互补 [26]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不拆分D/L求比例 [26]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特定AA直测 [27,28]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13248" y="3675887"/>
            <a:ext cx="1920240" cy="1664208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13832" y="3794760"/>
            <a:ext cx="171907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148477"/>
                </a:solidFill>
                <a:latin typeface="Noto Sans CJK SC"/>
              </a:defRPr>
            </a:pPr>
            <a:r>
              <a:t>2 筛选衍生化试剂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13832" y="4352544"/>
            <a:ext cx="1719072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非手性≠不会消旋</a:t>
            </a:r>
          </a:p>
          <a:p>
            <a:pPr algn="l">
              <a:lnSpc>
                <a:spcPct val="105000"/>
              </a:lnSpc>
              <a:spcAft>
                <a:spcPts val="6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UV/CD响应须实测</a:t>
            </a:r>
          </a:p>
          <a:p>
            <a:pPr algn="l">
              <a:lnSpc>
                <a:spcPct val="105000"/>
              </a:lnSpc>
              <a:spcAft>
                <a:spcPts val="6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兼顾效率与稳定性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60136" y="3172968"/>
            <a:ext cx="1975104" cy="274320"/>
          </a:xfrm>
          <a:prstGeom prst="rightArrow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08392" y="868680"/>
            <a:ext cx="19751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172F49"/>
                </a:solidFill>
                <a:latin typeface="Noto Sans CJK SC"/>
              </a:defRPr>
            </a:pPr>
            <a:r>
              <a:t>三条候选思路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1170432"/>
            <a:ext cx="1975104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617389"/>
                </a:solidFill>
                <a:latin typeface="Noto Sans CJK SC"/>
              </a:defRPr>
            </a:pPr>
            <a:r>
              <a:t>拟用HPLC–UV/CD评价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1554480"/>
            <a:ext cx="1975104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08975" y="1655064"/>
            <a:ext cx="177393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2200" b="1">
                <a:solidFill>
                  <a:srgbClr val="2474B5"/>
                </a:solidFill>
                <a:latin typeface="Noto Sans CJK SC"/>
              </a:defRPr>
            </a:pPr>
            <a:r>
              <a:t>PITC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9831" y="2121408"/>
            <a:ext cx="17922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现有方法作基线 [29]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PTC的CD待验证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08392" y="2834640"/>
            <a:ext cx="1975104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181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08975" y="2935224"/>
            <a:ext cx="177393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2200" b="1">
                <a:solidFill>
                  <a:srgbClr val="C18129"/>
                </a:solidFill>
                <a:latin typeface="Noto Sans CJK SC"/>
              </a:defRPr>
            </a:pPr>
            <a:r>
              <a:t>AQC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1" y="3401568"/>
            <a:ext cx="17922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稳定脲衍生物 [30]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pH/CD需确认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08392" y="4114800"/>
            <a:ext cx="1975104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08975" y="4215384"/>
            <a:ext cx="177393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7B61A8"/>
                </a:solidFill>
                <a:latin typeface="Noto Sans CJK SC"/>
              </a:defRPr>
            </a:pPr>
            <a:r>
              <a:t>OPA＋非手性硫醇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9831" y="4681728"/>
            <a:ext cx="17922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快速、易自动化 [31]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稳定性依条件 [32]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738360" y="3191256"/>
            <a:ext cx="329184" cy="265176"/>
          </a:xfrm>
          <a:prstGeom prst="rightArrow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85832" y="86868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C18129"/>
                </a:solidFill>
                <a:latin typeface="Noto Sans CJK SC"/>
              </a:defRPr>
            </a:pPr>
            <a:r>
              <a:t>实验复筛思路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85832" y="1353312"/>
            <a:ext cx="1920240" cy="1874519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86416" y="1481328"/>
            <a:ext cx="171907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C18129"/>
                </a:solidFill>
                <a:latin typeface="Noto Sans CJK SC"/>
              </a:defRPr>
            </a:pPr>
            <a:r>
              <a:t>1 实际样品适用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86416" y="1993392"/>
            <a:ext cx="1719072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峰归属与UV/CD信号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稳定性/回收/精密度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水解与衍生构型保持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Phe、Leu、Lys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85832" y="3639312"/>
            <a:ext cx="1920240" cy="1874519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86416" y="3767328"/>
            <a:ext cx="171907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C18129"/>
                </a:solidFill>
                <a:latin typeface="Noto Sans CJK SC"/>
              </a:defRPr>
            </a:pPr>
            <a:r>
              <a:t>2 D/L定量关系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6416" y="4288536"/>
            <a:ext cx="1719072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固定总浓度混配D/L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一起衍生，测CD/UV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拟合响应比—ee曲线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浓度挑战＋独立质控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5705856"/>
            <a:ext cx="4526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617389"/>
                </a:solidFill>
                <a:latin typeface="Noto Sans CJK SC"/>
              </a:defRPr>
            </a:pPr>
            <a:r>
              <a:t>方法图已补：手性柱与未衍生化直接分析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13248" y="5733288"/>
            <a:ext cx="6592824" cy="704088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0" y="5824728"/>
            <a:ext cx="6355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148477"/>
                </a:solidFill>
                <a:latin typeface="Noto Sans CJK SC"/>
              </a:defRPr>
            </a:pPr>
            <a:r>
              <a:t>拟利用的优势：非手性标签＋UV/CD联合信息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6135624"/>
            <a:ext cx="6355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310" b="0">
                <a:solidFill>
                  <a:srgbClr val="243B50"/>
                </a:solidFill>
                <a:latin typeface="Noto Sans CJK SC"/>
              </a:defRPr>
            </a:pPr>
            <a:r>
              <a:t>不必拆分D/L即可校准比例 [26]；D/L可呈相反CD响应 [25]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574536"/>
            <a:ext cx="114300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050" b="0">
                <a:solidFill>
                  <a:srgbClr val="617389"/>
                </a:solidFill>
                <a:latin typeface="Noto Sans CJK SC"/>
              </a:defRPr>
            </a:pPr>
            <a:r>
              <a:t>上述CD优势来自NBD-F/PTH文献，不代表三候选已验证。ee详细方案见第3页；三法差异见第4页。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0312"/>
            <a:ext cx="11539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500" b="1">
                <a:solidFill>
                  <a:srgbClr val="172F49"/>
                </a:solidFill>
                <a:latin typeface="Noto Sans CJK SC"/>
              </a:defRPr>
            </a:pPr>
            <a:r>
              <a:t>ee校准思路：固定总浓度，建立响应比—ee关系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617389"/>
                </a:solidFill>
                <a:latin typeface="Noto Sans CJK SC"/>
              </a:defRPr>
            </a:pPr>
            <a:r>
              <a:t>适用于非手性LC上同一氨基酸的D/L共洗脱；手性柱分离时，应分别校准D、L峰。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" y="1261872"/>
            <a:ext cx="11384280" cy="585216"/>
          </a:xfrm>
          <a:prstGeom prst="roundRect">
            <a:avLst/>
          </a:prstGeom>
          <a:solidFill>
            <a:srgbClr val="17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9903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2100" b="1">
                <a:solidFill>
                  <a:srgbClr val="FFFFFF"/>
                </a:solidFill>
                <a:latin typeface="Noto Sans CJK SC"/>
              </a:defRPr>
            </a:pPr>
            <a:r>
              <a:t>eeD = (cD − cL) / (cD + cL) × 100%   （D为正；不代表CD峰一定为正）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148477"/>
                </a:solidFill>
                <a:latin typeface="Noto Sans CJK SC"/>
              </a:defRPr>
            </a:pPr>
            <a:r>
              <a:t>① 按物质的量配制9个比例水平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2487168"/>
            <a:ext cx="4480560" cy="256032"/>
          </a:xfrm>
          <a:prstGeom prst="roundRect">
            <a:avLst/>
          </a:prstGeom>
          <a:solidFill>
            <a:srgbClr val="17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519172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D:L摩尔比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5768" y="2519172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理论eeD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752344"/>
            <a:ext cx="448056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784348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100:0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5768" y="2784348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+100%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3017520"/>
            <a:ext cx="4480560" cy="256032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049524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90:10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3049524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+80%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3282696"/>
            <a:ext cx="448056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314700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75:25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5768" y="3314700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+50%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" y="3547872"/>
            <a:ext cx="4480560" cy="256032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579876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60:40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5768" y="3579876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+20%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" y="3813048"/>
            <a:ext cx="448056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845052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50:50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5768" y="3845052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" y="4078224"/>
            <a:ext cx="4480560" cy="256032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4110228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40:60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110228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−20%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" y="4343400"/>
            <a:ext cx="448056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375404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25:75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5768" y="4375404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−50%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" y="4608576"/>
            <a:ext cx="4480560" cy="256032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640580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10:90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15768" y="4640580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−80%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" y="4873752"/>
            <a:ext cx="448056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4905756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0:100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15768" y="4905756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−100%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303520"/>
            <a:ext cx="44165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CT = cD＋cL保持恒定，浓度由预实验选定。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先按纯度、盐型校正，再混合并一起衍生。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30952" y="2011680"/>
            <a:ext cx="6428232" cy="1947672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13832" y="2167128"/>
            <a:ext cx="60624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148477"/>
                </a:solidFill>
                <a:latin typeface="Noto Sans CJK SC"/>
              </a:defRPr>
            </a:pPr>
            <a:r>
              <a:t>② 取带符号响应比，再检验线性模型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13832" y="2688336"/>
            <a:ext cx="6062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100" b="1">
                <a:solidFill>
                  <a:srgbClr val="172F49"/>
                </a:solidFill>
                <a:latin typeface="Noto Sans CJK SC"/>
              </a:defRPr>
            </a:pPr>
            <a:r>
              <a:t>R = SCD / SUV；拟合 R = a·eeD＋b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13832" y="3209544"/>
            <a:ext cx="6062472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  <a:defRPr sz="1450" b="0">
                <a:solidFill>
                  <a:srgbClr val="243B50"/>
                </a:solidFill>
                <a:latin typeface="Noto Sans CJK SC"/>
              </a:defRPr>
            </a:pPr>
            <a:r>
              <a:t>S为峰面积；CD面积保留正负号，校正空白、基线与通道时延。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defRPr sz="1450" b="0">
                <a:solidFill>
                  <a:srgbClr val="243B50"/>
                </a:solidFill>
                <a:latin typeface="Noto Sans CJK SC"/>
              </a:defRPr>
            </a:pPr>
            <a:r>
              <a:t>R是经验响应比，不直接等于g因子；每个氨基酸单独校准。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30952" y="4160520"/>
            <a:ext cx="6428232" cy="1618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13832" y="4297680"/>
            <a:ext cx="60624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148477"/>
                </a:solidFill>
                <a:latin typeface="Noto Sans CJK SC"/>
              </a:defRPr>
            </a:pPr>
            <a:r>
              <a:t>③ 用独立样品验证，不只看校准点或R²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13832" y="4773168"/>
            <a:ext cx="60624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  <a:defRPr sz="1450" b="0">
                <a:solidFill>
                  <a:srgbClr val="243B50"/>
                </a:solidFill>
                <a:latin typeface="Noto Sans CJK SC"/>
              </a:defRPr>
            </a:pPr>
            <a:r>
              <a:t>独立配制±40%、±70%等QC；固定ee改变CT，检查浓度依赖。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defRPr sz="1450" b="0">
                <a:solidFill>
                  <a:srgbClr val="243B50"/>
                </a:solidFill>
                <a:latin typeface="Noto Sans CJK SC"/>
              </a:defRPr>
            </a:pPr>
            <a:r>
              <a:t>高ee端加密；需要微量对映体结论时用手性LC复核。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defRPr sz="1450" b="0">
                <a:solidFill>
                  <a:srgbClr val="243B50"/>
                </a:solidFill>
                <a:latin typeface="Noto Sans CJK SC"/>
              </a:defRPr>
            </a:pPr>
            <a:r>
              <a:t>设置经/不经水解的对照，并用已知构型肽排查水解与衍生偏差。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8912" y="6016752"/>
            <a:ext cx="11320272" cy="438912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6117336"/>
            <a:ext cx="109910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建议每点≥3份独立制备；先确认目标峰/产物与响应线性，再预设回算偏差和精密度接受标准。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583680"/>
            <a:ext cx="11338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050" b="0">
                <a:solidFill>
                  <a:srgbClr val="617389"/>
                </a:solidFill>
                <a:latin typeface="Noto Sans CJK SC"/>
              </a:defRPr>
            </a:pPr>
            <a:r>
              <a:t>依据[25–26]提出的实验方案，尚未执行；9点、QC与重复数为本项目建议，不是原文照录。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0312"/>
            <a:ext cx="11539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500" b="1">
                <a:solidFill>
                  <a:srgbClr val="172F49"/>
                </a:solidFill>
                <a:latin typeface="Noto Sans CJK SC"/>
              </a:defRPr>
            </a:pPr>
            <a:r>
              <a:t>三条候选思路：比较的是实验分工，不是预设CD性能排名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617389"/>
                </a:solidFill>
                <a:latin typeface="Noto Sans CJK SC"/>
              </a:defRPr>
            </a:pPr>
            <a:r>
              <a:t>PITC作已有方法基线，AQC作稳定标记参照，OPA作快速流程候选；最终由同一验证框架筛选。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325880"/>
            <a:ext cx="1920240" cy="416051"/>
          </a:xfrm>
          <a:prstGeom prst="roundRect">
            <a:avLst/>
          </a:prstGeom>
          <a:solidFill>
            <a:srgbClr val="17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7373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比较维度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325880"/>
            <a:ext cx="3081528" cy="416051"/>
          </a:xfrm>
          <a:prstGeom prst="roundRect">
            <a:avLst/>
          </a:prstGeom>
          <a:solidFill>
            <a:srgbClr val="17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417320"/>
            <a:ext cx="28986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PITC（本项目PTC）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77256" y="1325880"/>
            <a:ext cx="3090672" cy="416051"/>
          </a:xfrm>
          <a:prstGeom prst="roundRect">
            <a:avLst/>
          </a:prstGeom>
          <a:solidFill>
            <a:srgbClr val="17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68696" y="1417320"/>
            <a:ext cx="290779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AQC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86216" y="1325880"/>
            <a:ext cx="3172968" cy="416051"/>
          </a:xfrm>
          <a:prstGeom prst="roundRect">
            <a:avLst/>
          </a:prstGeom>
          <a:solidFill>
            <a:srgbClr val="17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1417320"/>
            <a:ext cx="2990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OPA＋非手性硫醇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1764792"/>
            <a:ext cx="1920240" cy="72694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856231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产物与检测依据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40" y="1764792"/>
            <a:ext cx="3081528" cy="72694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1856231"/>
            <a:ext cx="28986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PTC衍生物；蛋白水解物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UV分析 [29]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77256" y="1764792"/>
            <a:ext cx="3090672" cy="72694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68696" y="1856231"/>
            <a:ext cx="290779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稳定非对称脲；水解物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荧光分析 [30]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86216" y="1764792"/>
            <a:ext cx="3172968" cy="72694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77656" y="1856231"/>
            <a:ext cx="299008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异吲哚衍生物；蛋白组成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荧光分析 [31]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" y="2514600"/>
            <a:ext cx="1920240" cy="93726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2606040"/>
            <a:ext cx="1737360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相对可取之处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77440" y="2514600"/>
            <a:ext cx="3081528" cy="93726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2606040"/>
            <a:ext cx="2898648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衔接已有样品/色谱条件；便于形成方法基线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77256" y="2514600"/>
            <a:ext cx="3090672" cy="93726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68696" y="2606040"/>
            <a:ext cx="2907791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稳定标记，反应液可直接进样；便于评价等待进样影响 [30]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86216" y="2514600"/>
            <a:ext cx="3172968" cy="93726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77656" y="2606040"/>
            <a:ext cx="2990088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快速反应、易自动化；适合比较高效率流程 [31]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" y="3474720"/>
            <a:ext cx="1920240" cy="11018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3566160"/>
            <a:ext cx="1737360" cy="10149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应付出的验证工作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77440" y="3474720"/>
            <a:ext cx="3081528" cy="11018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0" y="3566160"/>
            <a:ext cx="2898648" cy="10149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确认PTC身份、副产物与回收；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不可套用PTH的CD结论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77256" y="3474720"/>
            <a:ext cx="3090672" cy="11018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68696" y="3566160"/>
            <a:ext cx="2907791" cy="10149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量测最终反应pH；确认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反应完成后评价CD信噪比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86216" y="3474720"/>
            <a:ext cx="3172968" cy="11018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77656" y="3566160"/>
            <a:ext cx="2990088" cy="10149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硫醇与计时需锁定；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稳定性依具体条件 [32]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" y="4599431"/>
            <a:ext cx="1920240" cy="89154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4690871"/>
            <a:ext cx="17373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当前CD证据边界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77440" y="4599431"/>
            <a:ext cx="3081528" cy="89154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68880" y="4690871"/>
            <a:ext cx="2898648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有PTH-CD文献 [25]；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不等同PTC-CD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77256" y="4599431"/>
            <a:ext cx="3090672" cy="89154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68696" y="4690871"/>
            <a:ext cx="2907791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有AQC手性LC证据 [11]；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不等同CD证据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86216" y="4599431"/>
            <a:ext cx="3172968" cy="89154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77656" y="4690871"/>
            <a:ext cx="2990088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常规HPLC/FLD证据 [31]；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不等同在线CD证据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" y="5513831"/>
            <a:ext cx="1920240" cy="57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" y="5605271"/>
            <a:ext cx="1737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本项目研究定位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77440" y="5513831"/>
            <a:ext cx="3081528" cy="57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68880" y="5605271"/>
            <a:ext cx="2898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现有方法基线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77256" y="5513831"/>
            <a:ext cx="3090672" cy="57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68696" y="5605271"/>
            <a:ext cx="2907791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稳定定量/批量分析参照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86216" y="5513831"/>
            <a:ext cx="3172968" cy="57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77656" y="5605271"/>
            <a:ext cx="299008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快速衍生化候选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309360"/>
            <a:ext cx="112014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617389"/>
                </a:solidFill>
                <a:latin typeface="Noto Sans CJK SC"/>
              </a:defRPr>
            </a:pPr>
            <a:r>
              <a:t>[33]比较的是特定基质中的OPA–FMOC/PITC/AQC组成分析；不能外推为OPA单独体系或CD的优劣排名。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2346</Words>
  <Application>Microsoft Office PowerPoint</Application>
  <PresentationFormat>宽屏</PresentationFormat>
  <Paragraphs>111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Noto Sans CJK SC</vt:lpstr>
      <vt:lpstr>等线</vt:lpstr>
      <vt:lpstr>Arial</vt:lpstr>
      <vt:lpstr>Calibri</vt:lpstr>
      <vt:lpstr>1_Office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婧文 徐</cp:lastModifiedBy>
  <cp:revision>5</cp:revision>
  <dcterms:created xsi:type="dcterms:W3CDTF">2023-08-09T12:44:00Z</dcterms:created>
  <dcterms:modified xsi:type="dcterms:W3CDTF">2026-10-27T11:33:40Z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