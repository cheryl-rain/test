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条独立方法泳道替代多对多交叉连线。同一试剂可在多个方法行重复出现，对应关系只在本行内解读。仅列代表性体系，不表示所有试剂组合均已在蛋白质水解液中验证。GC列的是酯化/酰化示例而非全部衍生体系。HPLC包括手性固定相路线与手性衍生化路线，非手性衍生化本身不使普通反相柱拆分D/L。CE中的标记试剂并不等同手性选择剂。HPLC-CD仅列附件有直接文献线索的PITC-PTH与NBD-F，不将候选AQC、OPA、常规PITC-PTC标成成熟CD方法。氨基酰化类合并FMOC-Cl和AQC，但两者分别生成氨基甲酸酯与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37160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172F49"/>
                </a:solidFill>
                <a:latin typeface="Noto Sans CJK SC"/>
              </a:defRPr>
            </a:pPr>
            <a:r>
              <a:t>氨基酸手性分析：分析方法与衍生化试剂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69848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69848"/>
            <a:ext cx="9509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对应衍生化试剂（按反应大类归并）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182112" cy="196596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18003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839211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6472" y="2720339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3964" y="2688335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737360"/>
            <a:ext cx="9601200" cy="19659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883664"/>
            <a:ext cx="1761134" cy="16733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1669694" cy="10058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 · PITC–PTH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 · GITC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883664"/>
            <a:ext cx="1761134" cy="16733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20116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726" y="2542032"/>
            <a:ext cx="1669694" cy="10058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 · DNFB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FDAA · FDLA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883664"/>
            <a:ext cx="1761134" cy="16733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20116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2542032"/>
            <a:ext cx="1669694" cy="10058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883664"/>
            <a:ext cx="1761134" cy="16733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20116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7739" y="2542032"/>
            <a:ext cx="1669694" cy="10058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Dabsyl-Cl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883664"/>
            <a:ext cx="1761134" cy="16733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20116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37745" y="2542032"/>
            <a:ext cx="1669694" cy="10058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950208"/>
            <a:ext cx="3182112" cy="1078992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087368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608576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489704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283964" y="4457700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6552" y="3950208"/>
            <a:ext cx="9601200" cy="1078992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4096512"/>
            <a:ext cx="9281160" cy="7863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169664"/>
            <a:ext cx="352684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酯化／酰化组合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169664"/>
            <a:ext cx="5290261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异丙醇＋三氟乙酸酐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276088"/>
            <a:ext cx="3182112" cy="178308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65291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6286499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76472" y="6167627"/>
            <a:ext cx="630936" cy="0"/>
          </a:xfrm>
          <a:prstGeom prst="line">
            <a:avLst/>
          </a:prstGeom>
          <a:ln w="381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283964" y="6135623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16552" y="5276088"/>
            <a:ext cx="9601200" cy="178308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0" y="5422392"/>
            <a:ext cx="1761134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5550407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6080759"/>
            <a:ext cx="1669694" cy="82295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52006" y="5422392"/>
            <a:ext cx="1761134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7726" y="5550407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7726" y="6080759"/>
            <a:ext cx="1669694" cy="82295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32012" y="5422392"/>
            <a:ext cx="1761134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7732" y="5550407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7732" y="6080759"/>
            <a:ext cx="1669694" cy="82295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12019" y="5422392"/>
            <a:ext cx="1761134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57739" y="5550407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7739" y="6080759"/>
            <a:ext cx="1669694" cy="82295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092025" y="5422392"/>
            <a:ext cx="1761134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137745" y="5550407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37745" y="6080759"/>
            <a:ext cx="1669694" cy="82295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7306056"/>
            <a:ext cx="3182112" cy="1078992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7443216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" y="7964424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76472" y="7845552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283964" y="7813548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416552" y="7306056"/>
            <a:ext cx="9601200" cy="107899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72000" y="7452360"/>
            <a:ext cx="4581144" cy="7863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7525512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4457" y="7525512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PITC–PTH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72016" y="7452360"/>
            <a:ext cx="4581144" cy="7863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09176" y="7525512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04473" y="7525512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8668512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5788D"/>
                </a:solidFill>
                <a:latin typeface="Noto Sans CJK SC"/>
              </a:defRPr>
            </a:pPr>
            <a:r>
              <a:t>代表性对应，非穷尽；PITC–PTH 为 PITC 的后续转化路线。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