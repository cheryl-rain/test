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图只展示代表性对应，不表示某一试剂只能用于所连接的方法，也不表示所有连接都已在蛋白质水解液中验证。HPLC包括直接手性与间接手性路线；CE包括CZE和MEKC；普通非手性HPLC并不因使用非手性试剂就能拆分D/L。HPLC-CD只连接附件提供直接文献线索的NBD-F和PITC-PTH，不把本课题候选AQC/OPA/常规PITC-PTC画成成熟CD方法。PITC-PTH不是独立试剂，而是为避免把PTC与PTH混淆而单列的路线标签。GC例为羧基异丙酯化及氨基三氟乙酰化的组合，不意味着仅加入两试剂即可完成全部操作。CE所列FITC/NBD/OPA/Dansyl/FMOC为代表性标记体系；具体手性识别需由选择剂或手性衍生化提供。NITC因本轮缺乏明确方法匹配依据未纳入。完整图非兼容性数据库，具体条件须查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37160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172F49"/>
                </a:solidFill>
                <a:latin typeface="Noto Sans CJK SC"/>
              </a:defRPr>
            </a:pPr>
            <a:r>
              <a:t>氨基酸手性分析：分析方法与衍生化试剂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338328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分析方法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24128"/>
            <a:ext cx="7772400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衍生化试剂（按反应大类归并）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44768" y="1536192"/>
            <a:ext cx="7955279" cy="1005840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95628"/>
            <a:ext cx="7406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617389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2651760"/>
            <a:ext cx="7955279" cy="1005840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711196"/>
            <a:ext cx="7406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617389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3767328"/>
            <a:ext cx="7955279" cy="1005840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826764"/>
            <a:ext cx="7406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617389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4882896"/>
            <a:ext cx="7955279" cy="1005840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942332"/>
            <a:ext cx="7406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617389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5998464"/>
            <a:ext cx="7955279" cy="1005840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6057900"/>
            <a:ext cx="7406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617389"/>
                </a:solidFill>
                <a:latin typeface="Noto Sans CJK SC"/>
              </a:defRPr>
            </a:pPr>
            <a:r>
              <a:t>氨基酰化衍生试剂类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7114031"/>
            <a:ext cx="7955279" cy="1005840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7173468"/>
            <a:ext cx="7406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617389"/>
                </a:solidFill>
                <a:latin typeface="Noto Sans CJK SC"/>
              </a:defRPr>
            </a:pPr>
            <a:r>
              <a:t>酯化／酰化衍生化组合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67328" y="2514600"/>
            <a:ext cx="530352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97680" y="1975104"/>
            <a:ext cx="0" cy="4462272"/>
          </a:xfrm>
          <a:prstGeom prst="line">
            <a:avLst/>
          </a:prstGeom>
          <a:ln w="2032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0" y="1975104"/>
            <a:ext cx="2752344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50024" y="1975104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97680" y="1975104"/>
            <a:ext cx="4636008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33688" y="1975104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97680" y="1975104"/>
            <a:ext cx="6519672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17352" y="1975104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97680" y="1975104"/>
            <a:ext cx="8403335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701015" y="1975104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97680" y="3090672"/>
            <a:ext cx="2752344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50024" y="3090672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97680" y="3090672"/>
            <a:ext cx="4636008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33688" y="3090672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297680" y="3090672"/>
            <a:ext cx="6519672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17352" y="3090672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97680" y="3090672"/>
            <a:ext cx="8403335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701015" y="3090672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97680" y="4206240"/>
            <a:ext cx="3698748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96428" y="4206240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97680" y="4206240"/>
            <a:ext cx="7484364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782044" y="4206240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97680" y="5321808"/>
            <a:ext cx="3698748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996428" y="5321808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297680" y="5321808"/>
            <a:ext cx="7484364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782044" y="5321808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97680" y="6437376"/>
            <a:ext cx="3698748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96428" y="6437376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97680" y="6437376"/>
            <a:ext cx="7484364" cy="0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782044" y="6437376"/>
            <a:ext cx="0" cy="118872"/>
          </a:xfrm>
          <a:prstGeom prst="line">
            <a:avLst/>
          </a:prstGeom>
          <a:ln w="1524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767328" y="4206240"/>
            <a:ext cx="932688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00016" y="4206240"/>
            <a:ext cx="0" cy="3369563"/>
          </a:xfrm>
          <a:prstGeom prst="line">
            <a:avLst/>
          </a:prstGeom>
          <a:ln w="2032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00016" y="7575803"/>
            <a:ext cx="5303520" cy="0"/>
          </a:xfrm>
          <a:prstGeom prst="line">
            <a:avLst/>
          </a:prstGeom>
          <a:ln w="1524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03536" y="7575803"/>
            <a:ext cx="0" cy="96012"/>
          </a:xfrm>
          <a:prstGeom prst="line">
            <a:avLst/>
          </a:prstGeom>
          <a:ln w="1524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67328" y="5897880"/>
            <a:ext cx="1335024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102352" y="2020824"/>
            <a:ext cx="0" cy="4462272"/>
          </a:xfrm>
          <a:prstGeom prst="line">
            <a:avLst/>
          </a:prstGeom>
          <a:ln w="2032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02352" y="2020824"/>
            <a:ext cx="5934456" cy="0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036808" y="2020824"/>
            <a:ext cx="0" cy="73152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02352" y="3136391"/>
            <a:ext cx="2167128" cy="0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69480" y="3136391"/>
            <a:ext cx="0" cy="73153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102352" y="4251960"/>
            <a:ext cx="3113532" cy="0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215884" y="4251960"/>
            <a:ext cx="0" cy="73152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02352" y="4251960"/>
            <a:ext cx="6899148" cy="0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2001500" y="4251960"/>
            <a:ext cx="0" cy="73152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102352" y="5367528"/>
            <a:ext cx="3113532" cy="0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215884" y="5367528"/>
            <a:ext cx="0" cy="73152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102352" y="6483096"/>
            <a:ext cx="3113532" cy="0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215884" y="6483096"/>
            <a:ext cx="0" cy="73152"/>
          </a:xfrm>
          <a:prstGeom prst="line">
            <a:avLst/>
          </a:prstGeom>
          <a:ln w="1524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767328" y="7589520"/>
            <a:ext cx="173736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504688" y="2043684"/>
            <a:ext cx="0" cy="5545836"/>
          </a:xfrm>
          <a:prstGeom prst="line">
            <a:avLst/>
          </a:prstGeom>
          <a:ln w="2032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504688" y="2043684"/>
            <a:ext cx="3758184" cy="0"/>
          </a:xfrm>
          <a:prstGeom prst="line">
            <a:avLst/>
          </a:prstGeom>
          <a:ln w="1524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262872" y="2043684"/>
            <a:ext cx="0" cy="50292"/>
          </a:xfrm>
          <a:prstGeom prst="line">
            <a:avLst/>
          </a:prstGeom>
          <a:ln w="1524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504688" y="3159252"/>
            <a:ext cx="1874520" cy="0"/>
          </a:xfrm>
          <a:prstGeom prst="line">
            <a:avLst/>
          </a:prstGeom>
          <a:ln w="1524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379208" y="3159252"/>
            <a:ext cx="0" cy="50292"/>
          </a:xfrm>
          <a:prstGeom prst="line">
            <a:avLst/>
          </a:prstGeom>
          <a:ln w="1524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66928" y="2057400"/>
            <a:ext cx="3200400" cy="987552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8" y="2185416"/>
            <a:ext cx="292608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t>HPLC / UHPLC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4088" y="2642616"/>
            <a:ext cx="292608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t>高效液相色谱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6928" y="3749039"/>
            <a:ext cx="3200400" cy="987552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4088" y="3877055"/>
            <a:ext cx="292608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t>GC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4088" y="4334255"/>
            <a:ext cx="292608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t>气相色谱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6928" y="5440680"/>
            <a:ext cx="3200400" cy="987552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4088" y="5568696"/>
            <a:ext cx="292608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t>CE（CZE / MEKC）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4088" y="6025896"/>
            <a:ext cx="292608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t>毛细管电泳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6928" y="7132320"/>
            <a:ext cx="3200400" cy="987552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4088" y="7260336"/>
            <a:ext cx="292608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t>HPLC–CD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4088" y="7717536"/>
            <a:ext cx="292608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FFFFFF"/>
                </a:solidFill>
                <a:latin typeface="Noto Sans CJK SC"/>
              </a:defRPr>
            </a:pPr>
            <a:r>
              <a:t>液相色谱–圆二色检测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55080" y="2093976"/>
            <a:ext cx="1719072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82512" y="2144268"/>
            <a:ext cx="1664207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238744" y="2093976"/>
            <a:ext cx="1719072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66175" y="2144268"/>
            <a:ext cx="1664207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PITC–PTH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122408" y="2093976"/>
            <a:ext cx="1719072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49840" y="2144268"/>
            <a:ext cx="1664207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FITC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2006072" y="2093976"/>
            <a:ext cx="1719072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033503" y="2144268"/>
            <a:ext cx="1664207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GITC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355080" y="3209544"/>
            <a:ext cx="1719072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82512" y="3259836"/>
            <a:ext cx="1664207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NBD-F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38744" y="3209544"/>
            <a:ext cx="1719072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66175" y="3259836"/>
            <a:ext cx="1664207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DNFB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122408" y="3209544"/>
            <a:ext cx="1719072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149840" y="3259836"/>
            <a:ext cx="1664207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FDAA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2006072" y="3209544"/>
            <a:ext cx="1719072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2033503" y="3259836"/>
            <a:ext cx="1664207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t>FDLA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355080" y="4325112"/>
            <a:ext cx="36118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82512" y="4375404"/>
            <a:ext cx="3557016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233A50"/>
                </a:solidFill>
                <a:latin typeface="Noto Sans CJK SC"/>
              </a:defRPr>
            </a:pPr>
            <a:r>
              <a:t>OPA＋非手性硫醇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140696" y="4325112"/>
            <a:ext cx="36118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168128" y="4375404"/>
            <a:ext cx="3557016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233A50"/>
                </a:solidFill>
                <a:latin typeface="Noto Sans CJK SC"/>
              </a:defRPr>
            </a:pPr>
            <a:r>
              <a:t>OPA＋手性硫醇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355080" y="5440680"/>
            <a:ext cx="36118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82512" y="5490972"/>
            <a:ext cx="3557016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233A50"/>
                </a:solidFill>
                <a:latin typeface="Noto Sans CJK SC"/>
              </a:defRPr>
            </a:pPr>
            <a:r>
              <a:t>Dansyl-Cl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140696" y="5440680"/>
            <a:ext cx="36118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168128" y="5490972"/>
            <a:ext cx="3557016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233A50"/>
                </a:solidFill>
                <a:latin typeface="Noto Sans CJK SC"/>
              </a:defRPr>
            </a:pPr>
            <a:r>
              <a:t>Dabsyl-Cl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55080" y="6556248"/>
            <a:ext cx="36118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82512" y="6606540"/>
            <a:ext cx="3557016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233A50"/>
                </a:solidFill>
                <a:latin typeface="Noto Sans CJK SC"/>
              </a:defRPr>
            </a:pPr>
            <a:r>
              <a:t>FMOC-Cl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140696" y="6556248"/>
            <a:ext cx="36118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68128" y="6606540"/>
            <a:ext cx="3557016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233A50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355080" y="7671815"/>
            <a:ext cx="740664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82512" y="7722107"/>
            <a:ext cx="7351775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500" b="0">
                <a:solidFill>
                  <a:srgbClr val="233A50"/>
                </a:solidFill>
                <a:latin typeface="Noto Sans CJK SC"/>
              </a:defRPr>
            </a:pPr>
            <a:r>
              <a:t>异丙醇＋三氟乙酸酐</a:t>
            </a:r>
          </a:p>
        </p:txBody>
      </p:sp>
      <p:sp>
        <p:nvSpPr>
          <p:cNvPr id="113" name="Oval 112"/>
          <p:cNvSpPr/>
          <p:nvPr/>
        </p:nvSpPr>
        <p:spPr>
          <a:xfrm>
            <a:off x="7018020" y="2061972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901684" y="2061972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785348" y="2061972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2669011" y="2061972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018020" y="3177539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901684" y="3177539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785348" y="3177539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2669011" y="3177539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964424" y="4293108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750040" y="4293108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964424" y="5408676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750040" y="5408676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964424" y="6524244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750040" y="6524244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971532" y="7639811"/>
            <a:ext cx="64008" cy="64008"/>
          </a:xfrm>
          <a:prstGeom prst="ellipse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004804" y="2061972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237476" y="3177539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183880" y="4293108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1969496" y="4293108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183880" y="5408676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183880" y="6524244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230867" y="2061972"/>
            <a:ext cx="64008" cy="64008"/>
          </a:xfrm>
          <a:prstGeom prst="ellipse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347204" y="3177539"/>
            <a:ext cx="64008" cy="64008"/>
          </a:xfrm>
          <a:prstGeom prst="ellipse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85216" y="8458200"/>
            <a:ext cx="13533120" cy="34747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65788D"/>
                </a:solidFill>
                <a:latin typeface="Noto Sans CJK SC"/>
              </a:defRPr>
            </a:pPr>
            <a:r>
              <a:t>连线表示代表性应用，非全部适用组合；PITC–PTH 为 PITC 的后续转化路线。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