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本汇报根据用户提供的四份资料制作，目标为解释方法选择，而非宣称三种方法均已建立。附件中的既往建议是研究背景，不作为用户本次选择范围的指令。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适用条件包括非手性反应环境、D/L等衍生效率、无消旋、无共洗脱干扰、同一检测条件及足够信噪比。CD/UV比例须考虑通道时延和峰积分，不能直接将原始mdeg除以mAU当作无量纲g因子。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反应示意：AA–NH2 + Ph–N=C=S → Ph–NH–C(=S)–NH–AA。PTH文献路线由附件引用题名提供，未在线核验原文；不得据此保证本课题PTC的CD信号。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AQC全称6-aminoquinolyl-N-hydroxysuccinimidyl carbamate。简化反应：AQ–NH–CO–ONSu + H2N–AA → AQ–NH–CO–NH–AA + HOSu。紫外及荧光成熟不等于CD构型判据成熟。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不把原汇报的勾叉理解成定量结论。反应条件参考附件：pH8.8硼酸盐，55℃10min；具体配比须按实际方法和试剂说明优化。不得把附件单列CD245nm当作已验证通用波长。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OPA+硫醇的产物不宜仅表述为亚胺。附件中的OPA无硫醇离线ECD专利路线与本课题OPA-对甲苯硫酚HPLC路线不同，不混用反应原理及操作。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NBD-F在附件旧汇总中曾被优先推荐；本次遵照用户要求纳入PITC/AQC/OPA，仍如实保留NBD-F作为竞争方法。如果研究唯一终点变为成熟UHPLC-CD，需重新评估优先级。不把个别FMOC文献中的萃取步骤视为全部FMOC方法必需。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GC-MS、CZE、MEKC属于分离检测平台而非单一衍生化试剂。非手性体系一般不能拆分对映体；这些路线并非没有价值，可在定量微量对映体时作为独立验证。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酸水解会使Asn/Gln转为Asp/Glu，Trp等可能不稳定；本项目应围绕目标Phe/Leu/Lys验证。不能直接由完全水解后的组成和ee推断重复残基在原肽链上的具体位置。各方法检测波长不同，应比较满足目标定量限时的表现，不能仅比较不同波长下原始峰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是仪器经验比值，不直接称为无量纲g因子。UV/CD串联需校正通道时延并采用一致积分。ee(D为正)与CD信号正负无必然关系，校准斜率由具体氨基酸、波长和条件决定。cD=(c总)(1+eeD/100)/2，cL=(c总)(1-eeD/100)/2，仅在校准成立时使用。高ee端主量差分误差可能限制微量对映体估计，应以手性分离方法正交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本页为所提供资料的归纳与方法学分析；拟议实验和验证项目不代表已完成结果。资料来源见页脚与末页。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附件不是已确认SOP，原文存在占位、笔误和算术问题。配液计算必须考虑对照品纯度、盐型与实际物质的量浓度。所列温度异常未作擅自修正。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外部Crossref元数据请求遭代理403拒绝，未能核验DOI、作者、年份和原文，因此不编造书目信息。另有附件引述Comparative study of five different amine-derivatization methods for metabolite analyses by liquid chromatography-tandem mass spectrometry，可作为进一步检索线索。所有建议验证项目均为拟议，未暗示已执行；未引用原汇报中的截图当作新实验结果。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9856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955279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73D2D7"/>
                </a:solidFill>
                <a:latin typeface="Noto Sans CJK SC"/>
              </a:defRPr>
            </a:pPr>
            <a:r>
              <a:t>研究方法汇报  /  HPLC–UV · FLD · 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8229600" cy="1508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900" b="1">
                <a:solidFill>
                  <a:srgbClr val="FFFFFF"/>
                </a:solidFill>
                <a:latin typeface="Noto Sans CJK SC"/>
              </a:defRPr>
            </a:pPr>
            <a:r>
              <a:t>氨基酸衍生化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3900" b="1">
                <a:solidFill>
                  <a:srgbClr val="FFFFFF"/>
                </a:solidFill>
                <a:latin typeface="Noto Sans CJK SC"/>
              </a:defRPr>
            </a:pPr>
            <a:r>
              <a:t>分析方法的比较与选择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337560"/>
            <a:ext cx="7498079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600" b="1">
                <a:solidFill>
                  <a:srgbClr val="EAB56D"/>
                </a:solidFill>
                <a:latin typeface="Noto Sans CJK SC"/>
              </a:defRPr>
            </a:pPr>
            <a:r>
              <a:t>为什么选择 PITC、AQC 和 OPA？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434840"/>
            <a:ext cx="7406640" cy="1143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D6E5F0"/>
                </a:solidFill>
                <a:latin typeface="Noto Sans CJK SC"/>
              </a:defRPr>
            </a:pPr>
            <a:r>
              <a:t>围绕 Phe、Leu、Lys 的组成分析、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2100" b="0">
                <a:solidFill>
                  <a:srgbClr val="D6E5F0"/>
                </a:solidFill>
                <a:latin typeface="Noto Sans CJK SC"/>
              </a:defRPr>
            </a:pPr>
            <a:r>
              <a:t>构型识别与对映体过量评价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62288" y="1325880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62288" y="1920240"/>
            <a:ext cx="27432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已有方法基础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2288" y="2834639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3429000"/>
            <a:ext cx="27432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稳定衍生化参照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4343400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4937760"/>
            <a:ext cx="27432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快速响应路线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309360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0">
                <a:solidFill>
                  <a:srgbClr val="B9CAD8"/>
                </a:solidFill>
                <a:latin typeface="Noto Sans CJK SC"/>
              </a:defRPr>
            </a:pPr>
            <a:r>
              <a:t>依据所提供实验记录与汇报资料整理｜不将候选方法等同于验证结论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先明确目标：组成、构型与 ee 是三个不同问题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现有研究对象为肽水解后的 Phe、Leu、Lys；方法选择需要同时照顾定量与手性信息。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[3] 第7、10、13页；[4] 对映体过量溶液设计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01 / 组成分析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每种氨基酸有多少？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用 UV / FLD 峰面积定量。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各氨基酸分别建立校准，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换算物质的量后计算比例。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02 / 构型识别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主要是 D 型还是 L 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用 D、L 对照品建立 CD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响应关系；同一条件比较，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不能把正负号直接套用。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03 / 光学纯度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D 与 L 各占多少？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以 CD / UV 归一化响应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建立 ee 校准；另外评价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低含量对映体的检出能力。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同一方法可以支持多种目标，但每一种结论都需要对应的验证证据。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选择三种方法，是为了形成互补的实验比较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选择逻辑：非手性试剂 → 不同发色团与产物结构 → 兼顾已有基础、稳定性与反应效率。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[1–4]；选题依据归纳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承接已有工作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已有衍生化及色谱条件。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检验硫脲型发色团的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UV / CD 响应和方法延续性。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提供稳定参照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可反应伯胺与仲胺。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衍生物稳定，便于批量分析；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用于检验稳定性与覆盖优势。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突出快速与灵敏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OPA + 非手性硫醇。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反应快，荧光响应强；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已有本课题实验记录支持。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这是具有代表性的候选组合；最终优选仍由目标氨基酸的实测结果决定。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手性检测的关键：非手性衍生化不会自动分开 D /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普通非手性反相柱可分离不同种氨基酸，但通常不能拆分同种氨基酸的 D / L 对映体。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[1–3]；CD检测原理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UV / FLD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看到总量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D 与 L 通常具有相同的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非手性检测响应。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共洗脱时主要反映 cD + cL。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CD / ECD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看到净手性信号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同一对纯对映体在相同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条件下呈镜像 CD 响应。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等量外消旋体净信号抵消。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方法边界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ee 需要校准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CD / UV 可用于估算 ee，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前提是身份、纯度、响应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线性和衍生效率已验证。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D / L 与 CD 正负号没有普遍对应关系；本研究应逐个氨基酸建立对照。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PITC：先区分常规 PTC 定量与 PTH 构型研究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两条路线共用 PITC 试剂，但终产物、前处理和可引用的 CD 证据不同。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[2] PITC–PTH章节；[3] 第7、9、12页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路线 A / 本课题已有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PITC → PTC-AA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氨基与异硫氰酸酯加成，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生成苯基硫氨甲酰衍生物。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常用于反相 HPLC–UV 定量。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路线 B / 文献参考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PTC → ATZ → 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经环化、转化获得 PTH-AA。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附件整理了 HPLC–MS/CD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及肽序列、构型研究案例。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为什么纳入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基础明确、可衔接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已有实验条件可作基线。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若拓展 PTH 路线，应作为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独立方法重新开发和验证。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PTH 衍生物的 CD 判据不能直接移植到常规 PTC 衍生物。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PITC 的优势与代价：已有基础，操作负担较大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现有 PPT 记录：三乙胺 / 乙腈体系，30 ℃ 反应 1 h，再经正己烷萃取。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[3] 第7、9、12页；[1–2]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适合作为基线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Phe、Leu、Lys 已有研究基础。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紫外检测成熟，便于衔接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组成分析与方法间比较。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局限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过程变量较多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反应时间、试剂过量和萃取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均可能影响回收与重复性。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Lys 双氨基产物需确认。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验证重点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证明信号归属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检查空白、副产物与峰纯度。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分别验证 D/L 的 CD 响应。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不能仅凭 UV 有峰判断成功。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选择理由：沿用已有基础、形成可靠参照；并非认定它操作最简单或 CD 最强。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AQC：稳定性与覆盖面，是纳入比较的主要理由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AQC 是活性氨基甲酸酯试剂；与胺反应后形成稳定的非对称脲衍生物。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[2] AQC章节；[3] 第9、12页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反应覆盖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伯胺与仲胺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可覆盖常见伯胺氨基酸，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也可反应 Pro 等仲胺。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适合作为扩展性参照。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分析优势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更利于批量检测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有成熟 UV / FLD 应用。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过量试剂可水解，通常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无需有机萃取去除试剂。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研究定位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稳定定量候选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用于比较保存、进样等待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和重复性对结果的影响。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CD 有效性需单独验证。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AQC 不是 FMOC-Cl：两者试剂类别、反应离去基团与衍生产物不能混写。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AQC 现有异常：先查反应体系，再评价方法本身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原汇报将 AQC 标为“未成功”，并提出残酸可能影响反应 pH；这仍是待验证假设。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[3] 第11–12页；故障诊断建议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排查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量测实际 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测混合后的反应体系，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检查残酸是否超出缓冲容量，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不能只看缓冲液标称 pH。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排查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分离试剂与基质问题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比较标准品、空白、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水解基质加标与真实样品；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核查试剂溶解和保存状态。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排查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分层判断“成功”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先确认产物与 UV / FLD 峰，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再采集 CD 光谱与信噪比。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无 CD 不等于未衍生化。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先验证衍生化是否成功，再判断 AQC 是否满足本课题的 CD 检测要求。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OPA：快速反应路线，必须说明硫醇的身份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常规 OPA 氨基酸荧光法是 OPA + 伯胺 + 硫醇的三组分反应，生成异吲哚衍生物。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[4] 试剂和对照品制备；[3] 第9、12页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本课题体系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OPA + 对甲苯硫酚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实验记录所列硫醇为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非手性的对甲苯硫酚。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不额外引入试剂手性中心。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主要优点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反应快、响应强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现有记录为室温反应 1 min。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典型 OPA 法荧光灵敏度高，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适合快速筛查与自动化。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适用边界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伯胺覆盖与稳定性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常规体系不直接适用 Pro。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需控制反应至进样间隔，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并确认 Lys 多位点反应。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OPA + NAC 等手性硫醇属于另一类手性衍生化体系，不应与本课题混同。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三种方法的直接比较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定性比较用于确定研究分工；本表不替代同一平台上的灵敏度、稳定性及回收率实测。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[1–4]；时间为附件条件，不是方法固有常数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057400"/>
            <a:ext cx="1897380" cy="549293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48840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2057400"/>
            <a:ext cx="3086100" cy="549293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2148840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PITC（常规 PTC）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3831" y="2057400"/>
            <a:ext cx="3086100" cy="549293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1" y="2148840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22792" y="2057400"/>
            <a:ext cx="3040380" cy="549293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14232" y="2148840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OPA + 非手性硫醇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2629553"/>
            <a:ext cx="189738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720993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243B50"/>
                </a:solidFill>
                <a:latin typeface="Noto Sans CJK SC"/>
              </a:defRPr>
            </a:pPr>
            <a:r>
              <a:t>主要产物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2629553"/>
            <a:ext cx="308610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2720993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硫脲型 PTC 衍生物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13831" y="2629553"/>
            <a:ext cx="308610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1" y="2720993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非对称脲衍生物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2792" y="2629553"/>
            <a:ext cx="304038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2720993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异吲哚衍生物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3201706"/>
            <a:ext cx="189738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293146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243B50"/>
                </a:solidFill>
                <a:latin typeface="Noto Sans CJK SC"/>
              </a:defRPr>
            </a:pPr>
            <a:r>
              <a:t>氨基覆盖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4872" y="3201706"/>
            <a:ext cx="308610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6312" y="3293146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伯胺、仲胺可反应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13831" y="3201706"/>
            <a:ext cx="308610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05271" y="3293146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伯胺、仲胺可反应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2792" y="3201706"/>
            <a:ext cx="304038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3293146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主要为伯胺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3773859"/>
            <a:ext cx="189738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865299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243B50"/>
                </a:solidFill>
                <a:latin typeface="Noto Sans CJK SC"/>
              </a:defRPr>
            </a:pPr>
            <a:r>
              <a:t>操作特征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04872" y="3773859"/>
            <a:ext cx="308610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6312" y="3865299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本课题 1 h + 萃取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13831" y="3773859"/>
            <a:ext cx="308610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05271" y="3865299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参考 55 ℃ / 10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22792" y="3773859"/>
            <a:ext cx="304038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4232" y="3865299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本课题室温 / 1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4346012"/>
            <a:ext cx="189738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437452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243B50"/>
                </a:solidFill>
                <a:latin typeface="Noto Sans CJK SC"/>
              </a:defRPr>
            </a:pPr>
            <a:r>
              <a:t>主要优势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04872" y="4346012"/>
            <a:ext cx="308610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96312" y="4437452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已有基础；UV 方法成熟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13831" y="4346012"/>
            <a:ext cx="308610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05271" y="4437452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稳定；批量分析友好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22792" y="4346012"/>
            <a:ext cx="304038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14232" y="4437452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快速；典型荧光响应强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" y="4918165"/>
            <a:ext cx="189738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5009605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243B50"/>
                </a:solidFill>
                <a:latin typeface="Noto Sans CJK SC"/>
              </a:defRPr>
            </a:pPr>
            <a:r>
              <a:t>主要风险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04872" y="4918165"/>
            <a:ext cx="308610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96312" y="5009605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副产物、回收与多位点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13831" y="4918165"/>
            <a:ext cx="308610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05271" y="5009605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残酸抑制；CD 尚待验证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22792" y="4918165"/>
            <a:ext cx="3040380" cy="549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14232" y="5009605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时间敏感；Pro 不适用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" y="5490318"/>
            <a:ext cx="189738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5581758"/>
            <a:ext cx="1737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243B50"/>
                </a:solidFill>
                <a:latin typeface="Noto Sans CJK SC"/>
              </a:defRPr>
            </a:pPr>
            <a:r>
              <a:t>本研究角色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4872" y="5490318"/>
            <a:ext cx="308610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96312" y="5581758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已有方法基线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13831" y="5490318"/>
            <a:ext cx="308610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05271" y="5581758"/>
            <a:ext cx="2926079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稳定性与覆盖面参照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22792" y="5490318"/>
            <a:ext cx="3040380" cy="549293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14232" y="5581758"/>
            <a:ext cx="2880360" cy="46242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0">
                <a:solidFill>
                  <a:srgbClr val="243B50"/>
                </a:solidFill>
                <a:latin typeface="Noto Sans CJK SC"/>
              </a:defRPr>
            </a:pPr>
            <a:r>
              <a:t>快速高灵敏候选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与其他衍生化试剂比较：为什么暂不优先？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不优先是针对当前“非手性衍生化 + HPLC–UV/CD”目标，而非否定其他方法的分析价值。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[1–2]；取舍为本课题设计判断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057400"/>
            <a:ext cx="189738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48840"/>
            <a:ext cx="17373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2057400"/>
            <a:ext cx="363474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2148840"/>
            <a:ext cx="3474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有价值的特点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2057400"/>
            <a:ext cx="560070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148840"/>
            <a:ext cx="54406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本轮定位与取舍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2724912"/>
            <a:ext cx="189738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816352"/>
            <a:ext cx="17373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4872" y="2724912"/>
            <a:ext cx="36347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2816352"/>
            <a:ext cx="3474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非手性；有 UHPLC–CD 文献线索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2724912"/>
            <a:ext cx="560070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816352"/>
            <a:ext cx="54406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有力备选；CD导向时应保留，不能说它不适合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3392424"/>
            <a:ext cx="189738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483864"/>
            <a:ext cx="17373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FMOC-Cl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04872" y="3392424"/>
            <a:ext cx="36347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3483864"/>
            <a:ext cx="3474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伯胺与仲胺；UV / FLD 应用成熟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2472" y="3392424"/>
            <a:ext cx="560070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3483864"/>
            <a:ext cx="54406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可作OPA的仲胺补充；本轮先控制方法数量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" y="4059935"/>
            <a:ext cx="189738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151375"/>
            <a:ext cx="17373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Dansyl-Cl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04872" y="4059935"/>
            <a:ext cx="36347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6312" y="4151375"/>
            <a:ext cx="3474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稳定、强UV / 荧光；可用于MS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2472" y="4059935"/>
            <a:ext cx="560070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151375"/>
            <a:ext cx="54406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侧反应、试剂峰与CD可解释性需评价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4727448"/>
            <a:ext cx="189738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818888"/>
            <a:ext cx="17373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Dabsyl-Cl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04872" y="4727448"/>
            <a:ext cx="36347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6312" y="4818888"/>
            <a:ext cx="3474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可见区吸收；适于比色 / UV检测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2472" y="4727448"/>
            <a:ext cx="560070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4818888"/>
            <a:ext cx="54406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本项目缺乏直接CD验证依据，暂后置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5394960"/>
            <a:ext cx="189738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486400"/>
            <a:ext cx="17373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NITC / FITC 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04872" y="5394960"/>
            <a:ext cx="36347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6312" y="5486400"/>
            <a:ext cx="3474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可引入其他强吸收或荧光基团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2472" y="5394960"/>
            <a:ext cx="560070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53912" y="5486400"/>
            <a:ext cx="54406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属于可扩展候选；需额外开发目标体系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与手性衍生化及其他分离路线比较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先决定依靠“手性分离”还是“CD响应”获取构型信息，再选择试剂和仪器。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[1–2]；分析路线比较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057400"/>
            <a:ext cx="249174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48840"/>
            <a:ext cx="2331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路线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2057400"/>
            <a:ext cx="400050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148840"/>
            <a:ext cx="38404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如何获得手性信息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22592" y="2057400"/>
            <a:ext cx="4640579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148840"/>
            <a:ext cx="44805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与本课题的关系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2724912"/>
            <a:ext cx="24917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816352"/>
            <a:ext cx="2331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FDAA / FDLA（Marfey）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99232" y="2724912"/>
            <a:ext cx="400050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816352"/>
            <a:ext cx="38404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手性试剂形成非对映异构体，RP-LC分离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2724912"/>
            <a:ext cx="4640579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816352"/>
            <a:ext cx="44805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适合独立构型确认；试剂手性参与CD信号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3392424"/>
            <a:ext cx="24917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483864"/>
            <a:ext cx="2331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GITC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99232" y="3392424"/>
            <a:ext cx="400050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3483864"/>
            <a:ext cx="38404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手性糖基衍生化，形成非对映异构体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2592" y="3392424"/>
            <a:ext cx="4640579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3483864"/>
            <a:ext cx="44805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可用于手性分析；不作为非手性CD主线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" y="4059935"/>
            <a:ext cx="24917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151375"/>
            <a:ext cx="2331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OPA + NAC / IBLC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99232" y="4059935"/>
            <a:ext cx="400050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0672" y="4151375"/>
            <a:ext cx="38404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手性硫醇使产物成为非对映异构体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2" y="4059935"/>
            <a:ext cx="4640579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4151375"/>
            <a:ext cx="44805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不同于本课题非手性硫醇体系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4727448"/>
            <a:ext cx="24917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818888"/>
            <a:ext cx="2331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手性 LC / GC–MS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727448"/>
            <a:ext cx="400050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0672" y="4818888"/>
            <a:ext cx="38404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手性固定相或手性衍生化实现拆分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22592" y="4727448"/>
            <a:ext cx="4640579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4032" y="4818888"/>
            <a:ext cx="44805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可作正交验证；GC另需考虑挥发性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5394960"/>
            <a:ext cx="24917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486400"/>
            <a:ext cx="23317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CZE / MEKC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9232" y="5394960"/>
            <a:ext cx="400050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90672" y="5486400"/>
            <a:ext cx="384048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添加手性选择剂实现对映体分离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22592" y="5394960"/>
            <a:ext cx="4640579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4032" y="5486400"/>
            <a:ext cx="44805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仪器与分离路线不同，暂不作为主线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三种方法的选择理由，可以概括为三个互补问题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共同基础：不引入额外手性试剂因素；差异重点：已有基础、产物稳定性与反应效率。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[1–4]；选择依据总结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PITC / 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现有方法能否延伸？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沿用现有定量工作，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评估同一 PTC 体系能否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提供可靠 CD 信息。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AQC / 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稳定性是否改善结果？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检验更稳定的产物是否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改善批间与等待进样误差，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并评价更宽的氨基覆盖。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OPA / 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快速路线可否测手性？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在短反应时间下评价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UV / FLD / CD 响应、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时间稳定性与 ee 校准。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选择三种是为了得到有解释力的比较，不是预先宣称其中某一种一定最好。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公平比较的前提：把水解影响与衍生化影响拆开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酸水解可能引起消旋、降解或释放不完全；只比较最终色谱图容易把前处理问题误归因于试剂。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[3–4]；建议的实验分层设计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A / 标准品层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先证明反应可比较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Phe、Leu、Lys 的 D/L 标准。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统一摩尔浓度与进样负载，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各方法分别优化检测波长。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B / 水解控制层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定位消旋与回收损失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标准品分别经 / 不经水解。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配水解空白、基质加标；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检查回收与表观 ee 偏移。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C / 真实样品层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再比较实际适用性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同一批水解液分装三组。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三种衍生化分别独立制备，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评价基质、稳定性与重复性。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原资料的 6 mol/L HCl、150 ℃、1 h 是现有实验条件，不直接等同于已验证通用条件。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以统一评价指标，决定谁进入后续样品研究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以下为拟开展验证项目；附件未提供足够原始数据，不能在此列出虚构的回收率或检出限。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[4] 线性、准确度、精密度与ee设计；本页为验证建议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定量性能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组成比例可信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选择性、校准范围与残差；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回收率、制备重复性；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各氨基酸响应因子与定量限。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手性性能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构型与 ee 可信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D/L 镜像及外消旋抵消；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ee 校准、浓度依赖；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近消旋和高纯度端误差。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实际操作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日常分析可执行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衍生物随时间的稳定性；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反应 pH、温度、计时耐受；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试剂空白、成本与处理负担。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建议每法至少 3 份独立制备；接受标准应在验证前依据研究用途确定。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ee 的测量：把净 CD 信号与总浓度对应起来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适用于同一氨基酸的 D / L 共洗脱，且只有该对映体对贡献目标峰响应的情形。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[4] 对映体混合液设计；校准原理示意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6766560" cy="1005840"/>
          </a:xfrm>
          <a:prstGeom prst="round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9152"/>
            <a:ext cx="63093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500" b="1">
                <a:solidFill>
                  <a:srgbClr val="FFFFFF"/>
                </a:solidFill>
                <a:latin typeface="Noto Sans CJK SC"/>
              </a:defRPr>
            </a:pPr>
            <a:r>
              <a:t>eeD = (cD − cL) / (cD + cL) ×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38144"/>
            <a:ext cx="6583680" cy="2240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固定总浓度：配制 −100% 至 +100% ee 梯度。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用 R = CD峰面积 / UV峰面积 建立经验校准。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保持 ee 不变改变浓度，检验比值是否稳定。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高纯度样品需另行验证少量对映体定量能力。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103120"/>
            <a:ext cx="4041648" cy="3913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386584"/>
            <a:ext cx="34747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087F8C"/>
                </a:solidFill>
                <a:latin typeface="Noto Sans CJK SC"/>
              </a:defRPr>
            </a:pPr>
            <a:r>
              <a:t>关键限制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081528"/>
            <a:ext cx="3474720" cy="2651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CD 接近零既可能为外消旋，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也可能是低浓度或无有效信号。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需同步确认 UV 总量、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900" b="0">
                <a:solidFill>
                  <a:srgbClr val="243B50"/>
                </a:solidFill>
                <a:latin typeface="Noto Sans CJK SC"/>
              </a:defRPr>
            </a:pPr>
            <a:r>
              <a:t>峰身份、空白与信噪比。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结合现有进展，下一步优先补齐哪些证据？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附件能够支持方法选择和实验设计，但不足以证明三种方法均已完成性能验证。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[3] 第11–14页；[4]；证据缺口分析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补上 PTC 的手性证据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记录已有条件，验证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D/L 对照、衍生物身份与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样品峰干扰；不借用PTH结论。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先解决反应状态不明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测最终 pH，做标准品阳性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对照及水解基质加标。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确认 UV / FLD 后再评价 CD。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规范时间与混合液设计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锁定对甲苯硫酚体系。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补齐稳定性、Lys产物与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ee配液复核，再做真实样品。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现阶段最合理结论：三种方法值得比较；最终方法仍需通过同一评价框架筛选。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结论：PITC、AQC、OPA 构成有依据的比较组合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选择依据不是“这三种都已证明最优”，而是三者能回答不同的研究问题。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[1–4]；本次汇报结论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2121408"/>
            <a:ext cx="3599688" cy="731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已有基础 + 可衔接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以现有方法为基线，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评价组成定量向 CD 手性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研究延伸的可行性。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5488" y="2121408"/>
            <a:ext cx="3599688" cy="73152"/>
          </a:xfrm>
          <a:prstGeom prst="rect">
            <a:avLst/>
          </a:prstGeom>
          <a:solidFill>
            <a:srgbClr val="D69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6656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稳定产物 + 广覆盖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作为稳定定量参照，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检验保存与批量分析优势；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CD 路线保留验证门槛。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6344" y="2121408"/>
            <a:ext cx="3599688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6344" y="2121408"/>
            <a:ext cx="3599688" cy="731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7512" y="2368296"/>
            <a:ext cx="31973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300" b="1">
                <a:solidFill>
                  <a:srgbClr val="087F8C"/>
                </a:solidFill>
                <a:latin typeface="Noto Sans CJK SC"/>
              </a:defRPr>
            </a:pPr>
            <a:r>
              <a:t>OPA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7512" y="2852928"/>
            <a:ext cx="3197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300" b="1">
                <a:solidFill>
                  <a:srgbClr val="142B43"/>
                </a:solidFill>
                <a:latin typeface="Noto Sans CJK SC"/>
              </a:defRPr>
            </a:pPr>
            <a:r>
              <a:t>快速反应 + 强响应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512" y="3593592"/>
            <a:ext cx="3197352" cy="1746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以非手性硫醇控制来源，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评价高效率下的手性分析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800" b="0">
                <a:solidFill>
                  <a:srgbClr val="243B50"/>
                </a:solidFill>
                <a:latin typeface="Noto Sans CJK SC"/>
              </a:defRPr>
            </a:pPr>
            <a:r>
              <a:t>及 ee 测量能力。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5669280"/>
            <a:ext cx="11201400" cy="438912"/>
          </a:xfrm>
          <a:prstGeom prst="rect">
            <a:avLst/>
          </a:prstGeom>
          <a:solidFill>
            <a:srgbClr val="E4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108813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若三者 CD 表现不能满足目标，应启用 NBD-F 备选或转用手性分离进行确认。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附录｜使用原始资料前，应先核对的记录问题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这些差异不会否定方法选择，但会影响重复实验与验证结果的可信度。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[1–4] 原文交叉核对；仅列与本研究直接相关的问题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2057400"/>
            <a:ext cx="203454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48840"/>
            <a:ext cx="187451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资料位置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2057400"/>
            <a:ext cx="454914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148840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发现的问题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4032" y="2057400"/>
            <a:ext cx="4549140" cy="644652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148840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处理建议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2724912"/>
            <a:ext cx="20345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816352"/>
            <a:ext cx="187451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[4] 色谱条件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2032" y="2724912"/>
            <a:ext cx="45491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816352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柱温记为“505 ℃”；检测器字段不完整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4032" y="2724912"/>
            <a:ext cx="45491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816352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向原记录核实，不自行推定为50 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3392424"/>
            <a:ext cx="20345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483864"/>
            <a:ext cx="187451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[4] 准确度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2032" y="3392424"/>
            <a:ext cx="45491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3483864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正文120%称样为6 mg；表格为3.6 mg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4032" y="3392424"/>
            <a:ext cx="45491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3483864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以确认后的方案统一称样量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" y="4059935"/>
            <a:ext cx="20345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4151375"/>
            <a:ext cx="187451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[4] 同ee不同浓度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4059935"/>
            <a:ext cx="45491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3472" y="4151375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多组配液体积与标称 +80% ee 不符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4032" y="4059935"/>
            <a:ext cx="45491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5472" y="4151375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按(cD−cL)/(cD+cL)重算后配制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4727448"/>
            <a:ext cx="20345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818888"/>
            <a:ext cx="187451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[2] OPA示例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42032" y="4727448"/>
            <a:ext cx="45491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3472" y="4818888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16.5 mg Phe / 5 mL标为0.02 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4032" y="4727448"/>
            <a:ext cx="4549140" cy="6446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818888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按MW165.19计算约为20 mM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5394960"/>
            <a:ext cx="20345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486400"/>
            <a:ext cx="187451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[1–2] 试剂分类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42032" y="5394960"/>
            <a:ext cx="45491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33472" y="5486400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AQC被与FMOC-Cl归为氯甲酸酯反应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14032" y="5394960"/>
            <a:ext cx="45491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05472" y="5486400"/>
            <a:ext cx="438912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区分AQC活性试剂与最终脲衍生物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1556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AMINO ACID ANALYSIS  /  方法选择与实验设计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0140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2900" b="1">
                <a:solidFill>
                  <a:srgbClr val="142B43"/>
                </a:solidFill>
                <a:latin typeface="Noto Sans CJK SC"/>
              </a:defRPr>
            </a:pPr>
            <a:r>
              <a:t>资料来源与证据说明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35608"/>
            <a:ext cx="110642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0">
                <a:solidFill>
                  <a:srgbClr val="617589"/>
                </a:solidFill>
                <a:latin typeface="Noto Sans CJK SC"/>
              </a:defRPr>
            </a:pPr>
            <a:r>
              <a:t>主要依据用户上传资料；外部文献题名来自附件，本次未能联网核验全文。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327648"/>
            <a:ext cx="11201400" cy="10972"/>
          </a:xfrm>
          <a:prstGeom prst="rect">
            <a:avLst/>
          </a:prstGeom>
          <a:solidFill>
            <a:srgbClr val="D5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6455664"/>
            <a:ext cx="106984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000" b="0">
                <a:solidFill>
                  <a:srgbClr val="617589"/>
                </a:solidFill>
                <a:latin typeface="Noto Sans CJK SC"/>
              </a:defRPr>
            </a:pPr>
            <a:r>
              <a:t>来源编号与各页页脚、演讲者备注对应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5486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10972800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243B50"/>
                </a:solidFill>
                <a:latin typeface="Noto Sans CJK SC"/>
              </a:defRPr>
            </a:pPr>
            <a:r>
              <a:t>[1]《衍生化表格.docx》：试剂类别、优缺点及候选比较。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243B50"/>
                </a:solidFill>
                <a:latin typeface="Noto Sans CJK SC"/>
              </a:defRPr>
            </a:pPr>
            <a:r>
              <a:t>[2]《衍生化汇总(1).docx》：PITC–PTH、NBD-F、OPA、AQC及其他方法汇总。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243B50"/>
                </a:solidFill>
                <a:latin typeface="Noto Sans CJK SC"/>
              </a:defRPr>
            </a:pPr>
            <a:r>
              <a:t>[3]《2026年10月汇报2-.pptx》：已有条件、三法比较、AQC异常及研究目标。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 b="0">
                <a:solidFill>
                  <a:srgbClr val="243B50"/>
                </a:solidFill>
                <a:latin typeface="Noto Sans CJK SC"/>
              </a:defRPr>
            </a:pPr>
            <a:r>
              <a:t>[4]《化学药品标准物质HPLC法含量验证实验记录.doc》：OPA–对甲苯硫酚体系与验证设计。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4069080"/>
            <a:ext cx="11155680" cy="1956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224528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附件引用的重点文献线索（不作为已核验的定量证据）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681728"/>
            <a:ext cx="10652760" cy="11887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200" b="0">
                <a:solidFill>
                  <a:srgbClr val="243B50"/>
                </a:solidFill>
                <a:latin typeface="Noto Sans CJK SC"/>
              </a:defRPr>
            </a:pPr>
            <a:r>
              <a:t>• Determination of sequence and absolute configuration of peptide amino acids by HPLC–MS/CD-based detection of liberated N-terminus phenylthiohydantoin amino acids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200" b="0">
                <a:solidFill>
                  <a:srgbClr val="243B50"/>
                </a:solidFill>
                <a:latin typeface="Noto Sans CJK SC"/>
              </a:defRPr>
            </a:pPr>
            <a:r>
              <a:t>• High-throughput comprehensive analysis of d- and l-amino acids using ultra-high performance liquid chromatography with a circular dichroism (CD) detector and its application to food samples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200" b="0">
                <a:solidFill>
                  <a:srgbClr val="243B50"/>
                </a:solidFill>
                <a:latin typeface="Noto Sans CJK SC"/>
              </a:defRPr>
            </a:pPr>
            <a:r>
              <a:t>•《超高效液相色谱法测定特殊医学用途婴儿配方食品中的19种游离氨基酸和牛磺酸》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