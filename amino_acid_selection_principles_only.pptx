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3"/>
  </p:notesMasterIdLst>
  <p:sldIdLst>
    <p:sldId id="36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4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0F858-5A8C-46F9-9D7B-06ACCACED253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D835F-F6BE-4282-94CE-31CB0B36F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761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选择原则与实验计划，三条候选沿用本课题PITC、AQC、OPA，不代表三者均已有HPLC-CD方法。左图取自上一页同内容的方法-试剂图，作示意缩略图；上一页保留完整尺寸。01/02是文献与化学合理性的初筛标准，03/04是下一步实验复筛，均不能提前写成已验证结果。</a:t>
            </a:r>
          </a:p>
          <a:p>
            <a:r>
              <a:t>01：非手性试剂不另引固定手性中心，但并不自动保证水解和衍生过程不消旋，构型保持需由实验控制和验证。02：存在UV发色团不保证获得足够CD信号，CD波长、强度、背景及稳定性均需确认。</a:t>
            </a:r>
          </a:p>
          <a:p>
            <a:r>
              <a:t>三候选：PITC指本课题常规PTC衍生化基线；与文献[25]PTH环化/转化路线不同，不套用PTH的CD判据。AQC仅作为稳定定量参照候选，其手性LC文献[11]使用手性分离，不证明其在线CD响应。OPA需明确为非手性硫醇体系；不能援引OPA+手性硫醇的非对映体分离来证明非手性CD路线。</a:t>
            </a:r>
          </a:p>
          <a:p>
            <a:r>
              <a:t>优势1：[26]公开摘要明确：无需在柱上分离光学异构体即可用g-factor求%D，并得到较简单色谱图；5.5min只属于该NBD-F/UHPLC方法，不外推到三候选。优势2：[26]同时研究UV/CD检测；UV含量与净CD响应互补是对此设计的归纳，需校准且排除共洗脱、反应效率差和消旋。优势3：[25]标准PTH衍生物在270nm附近呈相反CD响应，有肽及肽水解液应用；不是D/L与CD正负号的通用对应规则。</a:t>
            </a:r>
          </a:p>
          <a:p>
            <a:r>
              <a:t>03：拟配D/L对照与混合比例，验证镜像、外消旋抵消、ee校准及不同浓度下的响应；这些仍未完成。04：针对Phe/Leu/Lys真实水解液，拟验证回收、基质干扰、稳定性、多位点产物及水解/衍生构型保持；水解后组成与净ee通常不能定位重复残基的具体构型。</a:t>
            </a:r>
          </a:p>
          <a:p>
            <a:r>
              <a:t>[11] Comprehensive Online Reversed-Phase × Chiral Two-Dimensional Liquid Chromatography-Mass Spectrometry with Data-Independent Sequential Window Acquisition of All Theoretical Fragment-Ion Spectra-Acquisition for Untargeted Enantioselective Amino Acid Analysis.. DOI 10.1021/acs.analchem.2c03042. 核查层级：公开摘要与书目。证据位置：摘要：AQC、chiral tandem column、two peptide hydrolysate samples及oxytocin段。</a:t>
            </a:r>
          </a:p>
          <a:p>
            <a:r>
              <a:t>[25] Determination of sequence and absolute configuration of peptide amino acids by HPLC-MS/CD-based detection of liberated N-terminus phenylthiohydantoin amino acids.. DOI 10.1038/s41598-022-14205-x. 核查层级：全文＋摘要。证据位置：已读全文：Introduction、Results and discussion、Methods；摘要末句acid hydrolysates。</a:t>
            </a:r>
          </a:p>
          <a:p>
            <a:r>
              <a:t>[26] High-throughput comprehensive analysis of D- and L-amino acids using ultra-high performance liquid chromatography with a circular dichroism (CD) detector and its application to food samples.. DOI 10.1016/j.jchromb.2011.07.025. 核查层级：公开摘要与书目。证据位置：摘要：NBD-F was selected；does not require separation；food samples段。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426668"/>
            <a:ext cx="6477000" cy="9844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602447"/>
            <a:ext cx="5334000" cy="117365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61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2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24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309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371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43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49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09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72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28" y="2951141"/>
            <a:ext cx="6477000" cy="912132"/>
          </a:xfrm>
        </p:spPr>
        <p:txBody>
          <a:bodyPr anchor="t"/>
          <a:lstStyle>
            <a:lvl1pPr algn="l">
              <a:defRPr sz="267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928" y="1946520"/>
            <a:ext cx="6477000" cy="1004621"/>
          </a:xfrm>
        </p:spPr>
        <p:txBody>
          <a:bodyPr anchor="b"/>
          <a:lstStyle>
            <a:lvl1pPr marL="0" indent="0">
              <a:buNone/>
              <a:defRPr sz="1339">
                <a:solidFill>
                  <a:schemeClr val="tx1">
                    <a:tint val="75000"/>
                  </a:schemeClr>
                </a:solidFill>
              </a:defRPr>
            </a:lvl1pPr>
            <a:lvl2pPr marL="306187" indent="0">
              <a:buNone/>
              <a:defRPr sz="1205">
                <a:solidFill>
                  <a:schemeClr val="tx1">
                    <a:tint val="75000"/>
                  </a:schemeClr>
                </a:solidFill>
              </a:defRPr>
            </a:lvl2pPr>
            <a:lvl3pPr marL="612374" indent="0">
              <a:buNone/>
              <a:defRPr sz="1072">
                <a:solidFill>
                  <a:schemeClr val="tx1">
                    <a:tint val="75000"/>
                  </a:schemeClr>
                </a:solidFill>
              </a:defRPr>
            </a:lvl3pPr>
            <a:lvl4pPr marL="918561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4pPr>
            <a:lvl5pPr marL="1224747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5pPr>
            <a:lvl6pPr marL="1530934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6pPr>
            <a:lvl7pPr marL="1837121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7pPr>
            <a:lvl8pPr marL="2143308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8pPr>
            <a:lvl9pPr marL="2449495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49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071596"/>
            <a:ext cx="3365500" cy="3030873"/>
          </a:xfrm>
        </p:spPr>
        <p:txBody>
          <a:bodyPr/>
          <a:lstStyle>
            <a:lvl1pPr>
              <a:defRPr sz="1875"/>
            </a:lvl1pPr>
            <a:lvl2pPr>
              <a:defRPr sz="1607"/>
            </a:lvl2pPr>
            <a:lvl3pPr>
              <a:defRPr sz="1339"/>
            </a:lvl3pPr>
            <a:lvl4pPr>
              <a:defRPr sz="1205"/>
            </a:lvl4pPr>
            <a:lvl5pPr>
              <a:defRPr sz="1205"/>
            </a:lvl5pPr>
            <a:lvl6pPr>
              <a:defRPr sz="1205"/>
            </a:lvl6pPr>
            <a:lvl7pPr>
              <a:defRPr sz="1205"/>
            </a:lvl7pPr>
            <a:lvl8pPr>
              <a:defRPr sz="1205"/>
            </a:lvl8pPr>
            <a:lvl9pPr>
              <a:defRPr sz="1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3500" y="1071596"/>
            <a:ext cx="3365500" cy="3030873"/>
          </a:xfrm>
        </p:spPr>
        <p:txBody>
          <a:bodyPr/>
          <a:lstStyle>
            <a:lvl1pPr>
              <a:defRPr sz="1875"/>
            </a:lvl1pPr>
            <a:lvl2pPr>
              <a:defRPr sz="1607"/>
            </a:lvl2pPr>
            <a:lvl3pPr>
              <a:defRPr sz="1339"/>
            </a:lvl3pPr>
            <a:lvl4pPr>
              <a:defRPr sz="1205"/>
            </a:lvl4pPr>
            <a:lvl5pPr>
              <a:defRPr sz="1205"/>
            </a:lvl5pPr>
            <a:lvl6pPr>
              <a:defRPr sz="1205"/>
            </a:lvl6pPr>
            <a:lvl7pPr>
              <a:defRPr sz="1205"/>
            </a:lvl7pPr>
            <a:lvl8pPr>
              <a:defRPr sz="1205"/>
            </a:lvl8pPr>
            <a:lvl9pPr>
              <a:defRPr sz="1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28009"/>
            <a:ext cx="3366823" cy="428425"/>
          </a:xfrm>
        </p:spPr>
        <p:txBody>
          <a:bodyPr anchor="b"/>
          <a:lstStyle>
            <a:lvl1pPr marL="0" indent="0">
              <a:buNone/>
              <a:defRPr sz="1607" b="1"/>
            </a:lvl1pPr>
            <a:lvl2pPr marL="306187" indent="0">
              <a:buNone/>
              <a:defRPr sz="1339" b="1"/>
            </a:lvl2pPr>
            <a:lvl3pPr marL="612374" indent="0">
              <a:buNone/>
              <a:defRPr sz="1205" b="1"/>
            </a:lvl3pPr>
            <a:lvl4pPr marL="918561" indent="0">
              <a:buNone/>
              <a:defRPr sz="1072" b="1"/>
            </a:lvl4pPr>
            <a:lvl5pPr marL="1224747" indent="0">
              <a:buNone/>
              <a:defRPr sz="1072" b="1"/>
            </a:lvl5pPr>
            <a:lvl6pPr marL="1530934" indent="0">
              <a:buNone/>
              <a:defRPr sz="1072" b="1"/>
            </a:lvl6pPr>
            <a:lvl7pPr marL="1837121" indent="0">
              <a:buNone/>
              <a:defRPr sz="1072" b="1"/>
            </a:lvl7pPr>
            <a:lvl8pPr marL="2143308" indent="0">
              <a:buNone/>
              <a:defRPr sz="1072" b="1"/>
            </a:lvl8pPr>
            <a:lvl9pPr marL="2449495" indent="0">
              <a:buNone/>
              <a:defRPr sz="10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1456434"/>
            <a:ext cx="3366823" cy="2646034"/>
          </a:xfrm>
        </p:spPr>
        <p:txBody>
          <a:bodyPr/>
          <a:lstStyle>
            <a:lvl1pPr>
              <a:defRPr sz="1607"/>
            </a:lvl1pPr>
            <a:lvl2pPr>
              <a:defRPr sz="1339"/>
            </a:lvl2pPr>
            <a:lvl3pPr>
              <a:defRPr sz="1205"/>
            </a:lvl3pPr>
            <a:lvl4pPr>
              <a:defRPr sz="1072"/>
            </a:lvl4pPr>
            <a:lvl5pPr>
              <a:defRPr sz="1072"/>
            </a:lvl5pPr>
            <a:lvl6pPr>
              <a:defRPr sz="1072"/>
            </a:lvl6pPr>
            <a:lvl7pPr>
              <a:defRPr sz="1072"/>
            </a:lvl7pPr>
            <a:lvl8pPr>
              <a:defRPr sz="1072"/>
            </a:lvl8pPr>
            <a:lvl9pPr>
              <a:defRPr sz="10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70855" y="1028009"/>
            <a:ext cx="3368146" cy="428425"/>
          </a:xfrm>
        </p:spPr>
        <p:txBody>
          <a:bodyPr anchor="b"/>
          <a:lstStyle>
            <a:lvl1pPr marL="0" indent="0">
              <a:buNone/>
              <a:defRPr sz="1607" b="1"/>
            </a:lvl1pPr>
            <a:lvl2pPr marL="306187" indent="0">
              <a:buNone/>
              <a:defRPr sz="1339" b="1"/>
            </a:lvl2pPr>
            <a:lvl3pPr marL="612374" indent="0">
              <a:buNone/>
              <a:defRPr sz="1205" b="1"/>
            </a:lvl3pPr>
            <a:lvl4pPr marL="918561" indent="0">
              <a:buNone/>
              <a:defRPr sz="1072" b="1"/>
            </a:lvl4pPr>
            <a:lvl5pPr marL="1224747" indent="0">
              <a:buNone/>
              <a:defRPr sz="1072" b="1"/>
            </a:lvl5pPr>
            <a:lvl6pPr marL="1530934" indent="0">
              <a:buNone/>
              <a:defRPr sz="1072" b="1"/>
            </a:lvl6pPr>
            <a:lvl7pPr marL="1837121" indent="0">
              <a:buNone/>
              <a:defRPr sz="1072" b="1"/>
            </a:lvl7pPr>
            <a:lvl8pPr marL="2143308" indent="0">
              <a:buNone/>
              <a:defRPr sz="1072" b="1"/>
            </a:lvl8pPr>
            <a:lvl9pPr marL="2449495" indent="0">
              <a:buNone/>
              <a:defRPr sz="10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70855" y="1456434"/>
            <a:ext cx="3368146" cy="2646034"/>
          </a:xfrm>
        </p:spPr>
        <p:txBody>
          <a:bodyPr/>
          <a:lstStyle>
            <a:lvl1pPr>
              <a:defRPr sz="1607"/>
            </a:lvl1pPr>
            <a:lvl2pPr>
              <a:defRPr sz="1339"/>
            </a:lvl2pPr>
            <a:lvl3pPr>
              <a:defRPr sz="1205"/>
            </a:lvl3pPr>
            <a:lvl4pPr>
              <a:defRPr sz="1072"/>
            </a:lvl4pPr>
            <a:lvl5pPr>
              <a:defRPr sz="1072"/>
            </a:lvl5pPr>
            <a:lvl6pPr>
              <a:defRPr sz="1072"/>
            </a:lvl6pPr>
            <a:lvl7pPr>
              <a:defRPr sz="1072"/>
            </a:lvl7pPr>
            <a:lvl8pPr>
              <a:defRPr sz="1072"/>
            </a:lvl8pPr>
            <a:lvl9pPr>
              <a:defRPr sz="10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50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3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2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2851"/>
            <a:ext cx="2506928" cy="778183"/>
          </a:xfrm>
        </p:spPr>
        <p:txBody>
          <a:bodyPr anchor="b"/>
          <a:lstStyle>
            <a:lvl1pPr algn="l">
              <a:defRPr sz="133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9208" y="182852"/>
            <a:ext cx="4259792" cy="3919617"/>
          </a:xfrm>
        </p:spPr>
        <p:txBody>
          <a:bodyPr/>
          <a:lstStyle>
            <a:lvl1pPr>
              <a:defRPr sz="2143"/>
            </a:lvl1pPr>
            <a:lvl2pPr>
              <a:defRPr sz="1875"/>
            </a:lvl2pPr>
            <a:lvl3pPr>
              <a:defRPr sz="1607"/>
            </a:lvl3pPr>
            <a:lvl4pPr>
              <a:defRPr sz="1339"/>
            </a:lvl4pPr>
            <a:lvl5pPr>
              <a:defRPr sz="1339"/>
            </a:lvl5pPr>
            <a:lvl6pPr>
              <a:defRPr sz="1339"/>
            </a:lvl6pPr>
            <a:lvl7pPr>
              <a:defRPr sz="1339"/>
            </a:lvl7pPr>
            <a:lvl8pPr>
              <a:defRPr sz="1339"/>
            </a:lvl8pPr>
            <a:lvl9pPr>
              <a:defRPr sz="13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61035"/>
            <a:ext cx="2506928" cy="3141434"/>
          </a:xfrm>
        </p:spPr>
        <p:txBody>
          <a:bodyPr/>
          <a:lstStyle>
            <a:lvl1pPr marL="0" indent="0">
              <a:buNone/>
              <a:defRPr sz="938"/>
            </a:lvl1pPr>
            <a:lvl2pPr marL="306187" indent="0">
              <a:buNone/>
              <a:defRPr sz="804"/>
            </a:lvl2pPr>
            <a:lvl3pPr marL="612374" indent="0">
              <a:buNone/>
              <a:defRPr sz="670"/>
            </a:lvl3pPr>
            <a:lvl4pPr marL="918561" indent="0">
              <a:buNone/>
              <a:defRPr sz="603"/>
            </a:lvl4pPr>
            <a:lvl5pPr marL="1224747" indent="0">
              <a:buNone/>
              <a:defRPr sz="603"/>
            </a:lvl5pPr>
            <a:lvl6pPr marL="1530934" indent="0">
              <a:buNone/>
              <a:defRPr sz="603"/>
            </a:lvl6pPr>
            <a:lvl7pPr marL="1837121" indent="0">
              <a:buNone/>
              <a:defRPr sz="603"/>
            </a:lvl7pPr>
            <a:lvl8pPr marL="2143308" indent="0">
              <a:buNone/>
              <a:defRPr sz="603"/>
            </a:lvl8pPr>
            <a:lvl9pPr marL="2449495" indent="0">
              <a:buNone/>
              <a:defRPr sz="6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71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3573" y="3214787"/>
            <a:ext cx="4572000" cy="379524"/>
          </a:xfrm>
        </p:spPr>
        <p:txBody>
          <a:bodyPr anchor="b"/>
          <a:lstStyle>
            <a:lvl1pPr algn="l">
              <a:defRPr sz="133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93573" y="410353"/>
            <a:ext cx="4572000" cy="2755532"/>
          </a:xfrm>
        </p:spPr>
        <p:txBody>
          <a:bodyPr/>
          <a:lstStyle>
            <a:lvl1pPr marL="0" indent="0">
              <a:buNone/>
              <a:defRPr sz="2143"/>
            </a:lvl1pPr>
            <a:lvl2pPr marL="306187" indent="0">
              <a:buNone/>
              <a:defRPr sz="1875"/>
            </a:lvl2pPr>
            <a:lvl3pPr marL="612374" indent="0">
              <a:buNone/>
              <a:defRPr sz="1607"/>
            </a:lvl3pPr>
            <a:lvl4pPr marL="918561" indent="0">
              <a:buNone/>
              <a:defRPr sz="1339"/>
            </a:lvl4pPr>
            <a:lvl5pPr marL="1224747" indent="0">
              <a:buNone/>
              <a:defRPr sz="1339"/>
            </a:lvl5pPr>
            <a:lvl6pPr marL="1530934" indent="0">
              <a:buNone/>
              <a:defRPr sz="1339"/>
            </a:lvl6pPr>
            <a:lvl7pPr marL="1837121" indent="0">
              <a:buNone/>
              <a:defRPr sz="1339"/>
            </a:lvl7pPr>
            <a:lvl8pPr marL="2143308" indent="0">
              <a:buNone/>
              <a:defRPr sz="1339"/>
            </a:lvl8pPr>
            <a:lvl9pPr marL="2449495" indent="0">
              <a:buNone/>
              <a:defRPr sz="133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3573" y="3594311"/>
            <a:ext cx="4572000" cy="538987"/>
          </a:xfrm>
        </p:spPr>
        <p:txBody>
          <a:bodyPr/>
          <a:lstStyle>
            <a:lvl1pPr marL="0" indent="0">
              <a:buNone/>
              <a:defRPr sz="938"/>
            </a:lvl1pPr>
            <a:lvl2pPr marL="306187" indent="0">
              <a:buNone/>
              <a:defRPr sz="804"/>
            </a:lvl2pPr>
            <a:lvl3pPr marL="612374" indent="0">
              <a:buNone/>
              <a:defRPr sz="670"/>
            </a:lvl3pPr>
            <a:lvl4pPr marL="918561" indent="0">
              <a:buNone/>
              <a:defRPr sz="603"/>
            </a:lvl4pPr>
            <a:lvl5pPr marL="1224747" indent="0">
              <a:buNone/>
              <a:defRPr sz="603"/>
            </a:lvl5pPr>
            <a:lvl6pPr marL="1530934" indent="0">
              <a:buNone/>
              <a:defRPr sz="603"/>
            </a:lvl6pPr>
            <a:lvl7pPr marL="1837121" indent="0">
              <a:buNone/>
              <a:defRPr sz="603"/>
            </a:lvl7pPr>
            <a:lvl8pPr marL="2143308" indent="0">
              <a:buNone/>
              <a:defRPr sz="603"/>
            </a:lvl8pPr>
            <a:lvl9pPr marL="2449495" indent="0">
              <a:buNone/>
              <a:defRPr sz="6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0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83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24500" y="183916"/>
            <a:ext cx="1714500" cy="39185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83916"/>
            <a:ext cx="5016500" cy="39185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73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183915"/>
            <a:ext cx="6858000" cy="765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71596"/>
            <a:ext cx="6858000" cy="303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1000" y="4256616"/>
            <a:ext cx="1778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3500" y="4256616"/>
            <a:ext cx="2413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61000" y="4256616"/>
            <a:ext cx="1778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306187" rtl="0" eaLnBrk="1" latinLnBrk="0" hangingPunct="1">
        <a:spcBef>
          <a:spcPct val="0"/>
        </a:spcBef>
        <a:buNone/>
        <a:defRPr sz="29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9640" indent="-229640" algn="l" defTabSz="306187" rtl="0" eaLnBrk="1" latinLnBrk="0" hangingPunct="1">
        <a:spcBef>
          <a:spcPct val="20000"/>
        </a:spcBef>
        <a:buFont typeface="Arial" panose="020B0604020202020204"/>
        <a:buChar char="•"/>
        <a:defRPr sz="2143" kern="1200">
          <a:solidFill>
            <a:schemeClr val="tx1"/>
          </a:solidFill>
          <a:latin typeface="+mn-lt"/>
          <a:ea typeface="+mn-ea"/>
          <a:cs typeface="+mn-cs"/>
        </a:defRPr>
      </a:lvl1pPr>
      <a:lvl2pPr marL="497554" indent="-191367" algn="l" defTabSz="306187" rtl="0" eaLnBrk="1" latinLnBrk="0" hangingPunct="1">
        <a:spcBef>
          <a:spcPct val="20000"/>
        </a:spcBef>
        <a:buFont typeface="Arial" panose="020B0604020202020204"/>
        <a:buChar char="–"/>
        <a:defRPr sz="1875" kern="1200">
          <a:solidFill>
            <a:schemeClr val="tx1"/>
          </a:solidFill>
          <a:latin typeface="+mn-lt"/>
          <a:ea typeface="+mn-ea"/>
          <a:cs typeface="+mn-cs"/>
        </a:defRPr>
      </a:lvl2pPr>
      <a:lvl3pPr marL="765467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607" kern="1200">
          <a:solidFill>
            <a:schemeClr val="tx1"/>
          </a:solidFill>
          <a:latin typeface="+mn-lt"/>
          <a:ea typeface="+mn-ea"/>
          <a:cs typeface="+mn-cs"/>
        </a:defRPr>
      </a:lvl3pPr>
      <a:lvl4pPr marL="1071654" indent="-153093" algn="l" defTabSz="306187" rtl="0" eaLnBrk="1" latinLnBrk="0" hangingPunct="1">
        <a:spcBef>
          <a:spcPct val="20000"/>
        </a:spcBef>
        <a:buFont typeface="Arial" panose="020B0604020202020204"/>
        <a:buChar char="–"/>
        <a:defRPr sz="1339" kern="1200">
          <a:solidFill>
            <a:schemeClr val="tx1"/>
          </a:solidFill>
          <a:latin typeface="+mn-lt"/>
          <a:ea typeface="+mn-ea"/>
          <a:cs typeface="+mn-cs"/>
        </a:defRPr>
      </a:lvl4pPr>
      <a:lvl5pPr marL="1377841" indent="-153093" algn="l" defTabSz="306187" rtl="0" eaLnBrk="1" latinLnBrk="0" hangingPunct="1">
        <a:spcBef>
          <a:spcPct val="20000"/>
        </a:spcBef>
        <a:buFont typeface="Arial" panose="020B0604020202020204"/>
        <a:buChar char="»"/>
        <a:defRPr sz="1339" kern="1200">
          <a:solidFill>
            <a:schemeClr val="tx1"/>
          </a:solidFill>
          <a:latin typeface="+mn-lt"/>
          <a:ea typeface="+mn-ea"/>
          <a:cs typeface="+mn-cs"/>
        </a:defRPr>
      </a:lvl5pPr>
      <a:lvl6pPr marL="1684028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6pPr>
      <a:lvl7pPr marL="1990214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7pPr>
      <a:lvl8pPr marL="2296401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8pPr>
      <a:lvl9pPr marL="2602588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1pPr>
      <a:lvl2pPr marL="306187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2pPr>
      <a:lvl3pPr marL="612374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3pPr>
      <a:lvl4pPr marL="918561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224747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530934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837121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143308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449495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612880" cy="49377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2600" b="1">
                <a:solidFill>
                  <a:srgbClr val="172F49"/>
                </a:solidFill>
                <a:latin typeface="Noto Sans CJK SC"/>
              </a:defRPr>
            </a:pPr>
            <a:r>
              <a:t>选择原则：文献初筛 → 三条候选路线 → 实验复筛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868680"/>
            <a:ext cx="411480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t>已有分析方法与衍生化试剂</a:t>
            </a:r>
          </a:p>
        </p:txBody>
      </p:sp>
      <p:pic>
        <p:nvPicPr>
          <p:cNvPr id="4" name="Picture 3" descr="selection_overview_in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463040"/>
            <a:ext cx="4242816" cy="361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2336" y="5321808"/>
            <a:ext cx="3886200" cy="31089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617389"/>
                </a:solidFill>
                <a:latin typeface="Noto Sans CJK SC"/>
              </a:defRPr>
            </a:pPr>
            <a:r>
              <a:t>左图为方法概览，完整细节见上一页</a:t>
            </a:r>
          </a:p>
        </p:txBody>
      </p:sp>
      <p:sp>
        <p:nvSpPr>
          <p:cNvPr id="6" name="Right Brace 5"/>
          <p:cNvSpPr/>
          <p:nvPr/>
        </p:nvSpPr>
        <p:spPr>
          <a:xfrm>
            <a:off x="4562856" y="1463040"/>
            <a:ext cx="256032" cy="3639312"/>
          </a:xfrm>
          <a:prstGeom prst="rightBrace">
            <a:avLst/>
          </a:prstGeom>
          <a:noFill/>
          <a:ln w="25400">
            <a:solidFill>
              <a:srgbClr val="148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65192" y="932688"/>
            <a:ext cx="1572768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800" b="1">
                <a:solidFill>
                  <a:srgbClr val="148477"/>
                </a:solidFill>
                <a:latin typeface="Noto Sans CJK SC"/>
              </a:defRPr>
            </a:pPr>
            <a:r>
              <a:t>文献初筛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01184" y="1399032"/>
            <a:ext cx="1691640" cy="1536192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10912" y="1536192"/>
            <a:ext cx="1472184" cy="29260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t>01 构型保持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0912" y="1856231"/>
            <a:ext cx="1472184" cy="46634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非手性标签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控制消旋风险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2350008"/>
            <a:ext cx="1472184" cy="29260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48477"/>
                </a:solidFill>
                <a:latin typeface="Noto Sans CJK SC"/>
              </a:defRPr>
            </a:pPr>
            <a:r>
              <a:t>02 UV/CD可测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2688336"/>
            <a:ext cx="1472184" cy="23774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适宜发色团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83480" y="3136392"/>
            <a:ext cx="1207008" cy="310896"/>
          </a:xfrm>
          <a:prstGeom prst="rightArrow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3557016"/>
            <a:ext cx="1600200" cy="5486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500" b="0">
                <a:solidFill>
                  <a:srgbClr val="148477"/>
                </a:solidFill>
                <a:latin typeface="Noto Sans CJK SC"/>
              </a:defRPr>
            </a:pPr>
            <a:r>
              <a:t>依据 01＋02</a:t>
            </a:r>
          </a:p>
          <a:p>
            <a:pPr algn="ctr">
              <a:spcAft>
                <a:spcPts val="300"/>
              </a:spcAft>
              <a:defRPr sz="1500" b="0">
                <a:solidFill>
                  <a:srgbClr val="148477"/>
                </a:solidFill>
                <a:latin typeface="Noto Sans CJK SC"/>
              </a:defRPr>
            </a:pPr>
            <a:r>
              <a:t>形成候选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932688"/>
            <a:ext cx="1984248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800" b="1">
                <a:solidFill>
                  <a:srgbClr val="172F49"/>
                </a:solidFill>
                <a:latin typeface="Noto Sans CJK SC"/>
              </a:defRPr>
            </a:pPr>
            <a:r>
              <a:t>三条候选思路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30568" y="1481328"/>
            <a:ext cx="194767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0296" y="1572768"/>
            <a:ext cx="1728216" cy="32918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2474B5"/>
                </a:solidFill>
                <a:latin typeface="Noto Sans CJK SC"/>
              </a:defRPr>
            </a:pPr>
            <a:r>
              <a:t>PITC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975104"/>
            <a:ext cx="1801368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已有PTC法作基线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30568" y="2551176"/>
            <a:ext cx="194767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81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0296" y="2642616"/>
            <a:ext cx="1728216" cy="32918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C18129"/>
                </a:solidFill>
                <a:latin typeface="Noto Sans CJK SC"/>
              </a:defRPr>
            </a:pPr>
            <a:r>
              <a:t>AQC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044952"/>
            <a:ext cx="1801368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作为稳定定量参照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30568" y="3621024"/>
            <a:ext cx="194767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0296" y="3712463"/>
            <a:ext cx="1728216" cy="32918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7B61A8"/>
                </a:solidFill>
                <a:latin typeface="Noto Sans CJK SC"/>
              </a:defRPr>
            </a:pPr>
            <a:r>
              <a:t>OPA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114800"/>
            <a:ext cx="1801368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非手性硫醇・快反应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8856" y="4626864"/>
            <a:ext cx="192024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100" b="0">
                <a:solidFill>
                  <a:srgbClr val="617389"/>
                </a:solidFill>
                <a:latin typeface="Noto Sans CJK SC"/>
              </a:defRPr>
            </a:pPr>
            <a:r>
              <a:t>均为待实验评价的候选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7112" y="2459736"/>
            <a:ext cx="859536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600" b="1">
                <a:solidFill>
                  <a:srgbClr val="C18129"/>
                </a:solidFill>
                <a:latin typeface="Noto Sans CJK SC"/>
              </a:defRPr>
            </a:pPr>
            <a:r>
              <a:t>03＋04</a:t>
            </a:r>
          </a:p>
          <a:p>
            <a:pPr algn="ctr">
              <a:spcAft>
                <a:spcPts val="300"/>
              </a:spcAft>
              <a:defRPr sz="1600" b="1">
                <a:solidFill>
                  <a:srgbClr val="C18129"/>
                </a:solidFill>
                <a:latin typeface="Noto Sans CJK SC"/>
              </a:defRPr>
            </a:pPr>
            <a:r>
              <a:t>实验复筛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915400" y="3136392"/>
            <a:ext cx="850392" cy="310896"/>
          </a:xfrm>
          <a:prstGeom prst="rightArrow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8672" y="932688"/>
            <a:ext cx="192024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800" b="1">
                <a:solidFill>
                  <a:srgbClr val="C18129"/>
                </a:solidFill>
                <a:latin typeface="Noto Sans CJK SC"/>
              </a:defRPr>
            </a:pPr>
            <a:r>
              <a:t>接下来验证什么？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66960" y="1481328"/>
            <a:ext cx="1901952" cy="1517904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76688" y="1609344"/>
            <a:ext cx="1682496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C18129"/>
                </a:solidFill>
                <a:latin typeface="Noto Sans CJK SC"/>
              </a:defRPr>
            </a:pPr>
            <a:r>
              <a:t>03 D/L定量关系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76688" y="2148840"/>
            <a:ext cx="1682496" cy="71323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镜像响应与抵消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CD/UV—ee校准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浓度适用范围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66960" y="3218688"/>
            <a:ext cx="1901952" cy="1737360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76688" y="3355848"/>
            <a:ext cx="1682496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C18129"/>
                </a:solidFill>
                <a:latin typeface="Noto Sans CJK SC"/>
              </a:defRPr>
            </a:pPr>
            <a:r>
              <a:t>04 实际样品适用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76688" y="3895344"/>
            <a:ext cx="1682496" cy="9144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Phe、Leu、Lys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水解/衍生构型保持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回收、稳定性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Lys多位点反应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10328" y="5120640"/>
            <a:ext cx="6958584" cy="1024128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47488" y="5221224"/>
            <a:ext cx="6647688" cy="28346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t>HPLC–CD＋非手性衍生化的优势（已发表体系）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5559552"/>
            <a:ext cx="6647688" cy="49377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无需拆分D/L即可求比例 [26]；UV含量与CD手性信息互补 [26]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可建立D/L衍生物相反CD响应的判据 [25]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364224"/>
            <a:ext cx="11457432" cy="28346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617389"/>
                </a:solidFill>
                <a:latin typeface="Noto Sans CJK SC"/>
              </a:defRPr>
            </a:pPr>
            <a:r>
              <a:t>优势依据：NBD-F体系[26]、PTH体系[25]；不代表AQC、OPA或常规PTC已获得同等CD性能。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2346</Words>
  <Application>Microsoft Office PowerPoint</Application>
  <PresentationFormat>宽屏</PresentationFormat>
  <Paragraphs>111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Noto Sans CJK SC</vt:lpstr>
      <vt:lpstr>等线</vt:lpstr>
      <vt:lpstr>Arial</vt:lpstr>
      <vt:lpstr>Calibri</vt:lpstr>
      <vt:lpstr>1_Office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婧文 徐</cp:lastModifiedBy>
  <cp:revision>5</cp:revision>
  <dcterms:created xsi:type="dcterms:W3CDTF">2023-08-09T12:44:00Z</dcterms:created>
  <dcterms:modified xsi:type="dcterms:W3CDTF">2026-10-27T11:33:40Z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