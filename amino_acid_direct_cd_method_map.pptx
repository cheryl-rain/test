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3"/>
  </p:notesMasterIdLst>
  <p:sldIdLst>
    <p:sldId id="363" r:id="rId2"/>
  </p:sldIdLst>
  <p:sldSz cx="12192000" cy="8229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0F858-5A8C-46F9-9D7B-06ACCACED253}" type="datetimeFigureOut">
              <a:rPr lang="zh-CN" altLang="en-US" smtClean="0"/>
              <a:t>2026/10/27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D835F-F6BE-4282-94CE-31CB0B36F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76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本图为代表性文献实例，不穷尽所有方法。右侧每种试剂不自动适配同一平台的全部路线或检测器。HPLC-CD不是独立色谱分离机制，而是HPLC与CD检测联用，为展示目的单列。</a:t>
            </a:r>
          </a:p>
          <a:p>
            <a:r>
              <a:t>HPLC：手性固定相[1,5,8–11]；手性衍生化[2–4,6–7]。HPLC荧光支持另见补充文献D1，DOI 10.1016/j.jchromb.2006.07.022。</a:t>
            </a:r>
          </a:p>
          <a:p>
            <a:r>
              <a:t>GC：非手性氯甲酸酯衍生物配手性柱[12–14]；氯甲酸乙酯＋手性醇后用非手性柱[15]。</a:t>
            </a:r>
          </a:p>
          <a:p>
            <a:r>
              <a:t>CE：溶液中的手性选择剂不是固定相；CZE与MEKC路线[16–24]。CE-MS补充文献D2，DOI 10.1002/elps.201600015。</a:t>
            </a:r>
          </a:p>
          <a:p>
            <a:r>
              <a:t>HPLC-CD：PITC是试剂，PTH是经Edman路线生成的产物[25]，不能替代常规PTC的CD证据。NBD-F衍生化在线CD见[26]。</a:t>
            </a:r>
          </a:p>
          <a:p>
            <a:r>
              <a:t>Trp色氨酸、Phe苯丙氨酸是待测物，已移到试剂容器外的未衍生化实例说明。[27]为手性CROWNPAK CR(+)＋在线CD分析Trp，样品为标准及酶反应液；[28]实际在线CD分析Phe采用非手性HSS T3并用于猪胰岛素水解液，该文手性柱仅另用于D-Phe标准纯度检查。</a:t>
            </a:r>
          </a:p>
          <a:p>
            <a:r>
              <a:t>非手性试剂不保证不消旋；非手性分离不拆分同种氨基酸D/L时，净CD/总UV定量需要单独校准。</a:t>
            </a:r>
          </a:p>
          <a:p>
            <a:r>
              <a:t>常规OPA＋硫醇反应主要适于伯胺，不覆盖Pro等仲胺。AQC与FMOC-Cl合并为功能性“氨基酰化类”，不表示AQC是氯甲酸酯或产物为氨基甲酸酯。NDA也需依原方法使用共反应物，图中文字为试剂名称缩写，并非完整配方。</a:t>
            </a:r>
          </a:p>
          <a:p>
            <a:r>
              <a:t>范围限制性文献[34–35]：不支持将所有硅烷化、酰化/酯化GC路线断言不可行；本图仅保留已核查的具体路线。</a:t>
            </a:r>
          </a:p>
          <a:p>
            <a:r>
              <a:t>新增单纯CD行：共价标记后比色皿直接CD/UV，无色谱分离。[36]OPA+p-TT直接CD/UV及ee校准；[37]Sanger/FDNB；[39]4-氯-3-硝基香豆素共轭加成/消除；[40]动态萘基–香豆素醛探针3为外消旋且可动态异构化，不等同严格非手性；[38]芳基氟探针仅摘要确认，因此不臆造结构名称。[41]Br-Coumarin仅补充文献，不在主图。不是全面穷尽列表，不将超分子非共价配位探针列作衍生化试剂。</a:t>
            </a:r>
          </a:p>
          <a:p>
            <a:r>
              <a:t>纠正上一条对DiCys的解释：[7]明确为N,N-dimethyl-L-cysteine，N,N-二甲基-L-半胱氨酸，本身具有游离巯基，无需还原；不是N,N′-二乙酰胱氨酸。</a:t>
            </a:r>
          </a:p>
          <a:p>
            <a:r>
              <a:t>为新增一行且保留已有字号，本版画布由13.333×7.5加高至13.333×9英寸，其余页保持字号与相对布局并居中。</a:t>
            </a:r>
          </a:p>
          <a:p>
            <a:r>
              <a:t>[36] A rapid and sensitive method for chiroptical sensing of α-amino acids &lt;i&gt;via&lt;/i&gt; click-like labeling with &lt;i&gt;o&lt;/i&gt;-phthalaldehyde and &lt;i&gt;p&lt;/i&gt;-toluenethiol. DOI 10.1039/d0sc05749e. 全文；Fig.1–3、Table1与脚注14；1分钟/12小时稳定性为文中具体条件，不泛化到全部OPA体系。 伯胺α氨基酸，Pro不反应，Cys有特殊产物，Lys存在多位点产物。Leu/Lys等有ee相关数据。单一AA标准体系，不是完整蛋白水解液逐组分分析。</a:t>
            </a:r>
          </a:p>
          <a:p>
            <a:r>
              <a:t>[37] Repurposing the Sanger Reagent for Optical Sensing of the Concentration and Enantiomeric Ratio of Chiral Amines, Amino Alcohols, and Amino Acids. DOI 10.1002/chir.70062. 全文；Fig.3氨基酸范围；Fig.4–5反应跟踪和定量示例，定量主例为1-苯乙胺，不能把其精度当成每种AA结果。 氨基酸及谷胱甘肽有CD响应实例；本文混合测量并非HPLC-CD。</a:t>
            </a:r>
          </a:p>
          <a:p>
            <a:r>
              <a:t>[38] Quantitative Chiroptical Sensing of Free Amino Acids, Biothiols, Amines, and Amino Alcohols with an Aryl Fluoride Probe. DOI 10.1021/jacs.9b07588. 公开摘要与书目；未读取原文结构/完整条件，不凭摘要猜测系统名称。 19种标准氨基酸及Asp、Pro、Met、Cys、Ala等定量示例；混合物验证不等于任意蛋白水解液均适用。</a:t>
            </a:r>
          </a:p>
          <a:p>
            <a:r>
              <a:t>[39] Click chemistry enables quantitative chiroptical sensing of chiral compounds in protic media and complex mixtures. DOI 10.1038/s41467-018-07695-9. 全文；Results/Chiroptical click chemistry sensing；Fig.1与Supplementary Figures29–69。 包含Asp、Thr、Cys等氨基酸及其他胺/醇；复杂混合物主验证为不对称反应液，不是多种AA水解液。</a:t>
            </a:r>
          </a:p>
          <a:p>
            <a:r>
              <a:t>[40] A Racemic Naphthyl-Coumarin-Based Probe for Quantitative Enantiomeric Excess Analysis of Amino Acids and Enantioselective Sensing of Amines and Amino Alcohols. DOI 10.1002/open.202200088. 全文；Fig.2–4、Scheme2、Quantitative Enantiomeric Excess Analysis。 Val/Phe等标准品构型与ee；甲醇/KOH体系，约5–6小时；外消旋动态轴手性探针，不能称为严格非手性试剂。</a:t>
            </a:r>
          </a:p>
          <a:p>
            <a:r>
              <a:t>[41] A bifunctional coumarin-based CD probe for chiral analysis of amino acids in aqueous solution. DOI 10.1016/j.saa.2024.125654. 公开摘要与书目；尚未核实结构和完整配方，仅列入补充检索表，不进入主图反应类别。 摘要称THF/水1:4中16种AA，Cys/Pro/Phe的浓度与ee示例。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500" y="1426668"/>
            <a:ext cx="6477000" cy="98442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602447"/>
            <a:ext cx="5334000" cy="117365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61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2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85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24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309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37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43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494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72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28" y="2951141"/>
            <a:ext cx="6477000" cy="912132"/>
          </a:xfrm>
        </p:spPr>
        <p:txBody>
          <a:bodyPr anchor="t"/>
          <a:lstStyle>
            <a:lvl1pPr algn="l">
              <a:defRPr sz="267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928" y="1946520"/>
            <a:ext cx="6477000" cy="1004621"/>
          </a:xfrm>
        </p:spPr>
        <p:txBody>
          <a:bodyPr anchor="b"/>
          <a:lstStyle>
            <a:lvl1pPr marL="0" indent="0">
              <a:buNone/>
              <a:defRPr sz="1339">
                <a:solidFill>
                  <a:schemeClr val="tx1">
                    <a:tint val="75000"/>
                  </a:schemeClr>
                </a:solidFill>
              </a:defRPr>
            </a:lvl1pPr>
            <a:lvl2pPr marL="306187" indent="0">
              <a:buNone/>
              <a:defRPr sz="1205">
                <a:solidFill>
                  <a:schemeClr val="tx1">
                    <a:tint val="75000"/>
                  </a:schemeClr>
                </a:solidFill>
              </a:defRPr>
            </a:lvl2pPr>
            <a:lvl3pPr marL="612374" indent="0">
              <a:buNone/>
              <a:defRPr sz="1072">
                <a:solidFill>
                  <a:schemeClr val="tx1">
                    <a:tint val="75000"/>
                  </a:schemeClr>
                </a:solidFill>
              </a:defRPr>
            </a:lvl3pPr>
            <a:lvl4pPr marL="91856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4pPr>
            <a:lvl5pPr marL="1224747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5pPr>
            <a:lvl6pPr marL="1530934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6pPr>
            <a:lvl7pPr marL="1837121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7pPr>
            <a:lvl8pPr marL="2143308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8pPr>
            <a:lvl9pPr marL="2449495" indent="0">
              <a:buNone/>
              <a:defRPr sz="9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4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3500" y="1071596"/>
            <a:ext cx="3365500" cy="3030873"/>
          </a:xfrm>
        </p:spPr>
        <p:txBody>
          <a:bodyPr/>
          <a:lstStyle>
            <a:lvl1pPr>
              <a:defRPr sz="1875"/>
            </a:lvl1pPr>
            <a:lvl2pPr>
              <a:defRPr sz="1607"/>
            </a:lvl2pPr>
            <a:lvl3pPr>
              <a:defRPr sz="1339"/>
            </a:lvl3pPr>
            <a:lvl4pPr>
              <a:defRPr sz="1205"/>
            </a:lvl4pPr>
            <a:lvl5pPr>
              <a:defRPr sz="1205"/>
            </a:lvl5pPr>
            <a:lvl6pPr>
              <a:defRPr sz="1205"/>
            </a:lvl6pPr>
            <a:lvl7pPr>
              <a:defRPr sz="1205"/>
            </a:lvl7pPr>
            <a:lvl8pPr>
              <a:defRPr sz="1205"/>
            </a:lvl8pPr>
            <a:lvl9pPr>
              <a:defRPr sz="12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0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28009"/>
            <a:ext cx="3366823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000" y="1456434"/>
            <a:ext cx="3366823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70855" y="1028009"/>
            <a:ext cx="3368146" cy="428425"/>
          </a:xfrm>
        </p:spPr>
        <p:txBody>
          <a:bodyPr anchor="b"/>
          <a:lstStyle>
            <a:lvl1pPr marL="0" indent="0">
              <a:buNone/>
              <a:defRPr sz="1607" b="1"/>
            </a:lvl1pPr>
            <a:lvl2pPr marL="306187" indent="0">
              <a:buNone/>
              <a:defRPr sz="1339" b="1"/>
            </a:lvl2pPr>
            <a:lvl3pPr marL="612374" indent="0">
              <a:buNone/>
              <a:defRPr sz="1205" b="1"/>
            </a:lvl3pPr>
            <a:lvl4pPr marL="918561" indent="0">
              <a:buNone/>
              <a:defRPr sz="1072" b="1"/>
            </a:lvl4pPr>
            <a:lvl5pPr marL="1224747" indent="0">
              <a:buNone/>
              <a:defRPr sz="1072" b="1"/>
            </a:lvl5pPr>
            <a:lvl6pPr marL="1530934" indent="0">
              <a:buNone/>
              <a:defRPr sz="1072" b="1"/>
            </a:lvl6pPr>
            <a:lvl7pPr marL="1837121" indent="0">
              <a:buNone/>
              <a:defRPr sz="1072" b="1"/>
            </a:lvl7pPr>
            <a:lvl8pPr marL="2143308" indent="0">
              <a:buNone/>
              <a:defRPr sz="1072" b="1"/>
            </a:lvl8pPr>
            <a:lvl9pPr marL="2449495" indent="0">
              <a:buNone/>
              <a:defRPr sz="107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70855" y="1456434"/>
            <a:ext cx="3368146" cy="2646034"/>
          </a:xfrm>
        </p:spPr>
        <p:txBody>
          <a:bodyPr/>
          <a:lstStyle>
            <a:lvl1pPr>
              <a:defRPr sz="1607"/>
            </a:lvl1pPr>
            <a:lvl2pPr>
              <a:defRPr sz="1339"/>
            </a:lvl2pPr>
            <a:lvl3pPr>
              <a:defRPr sz="1205"/>
            </a:lvl3pPr>
            <a:lvl4pPr>
              <a:defRPr sz="1072"/>
            </a:lvl4pPr>
            <a:lvl5pPr>
              <a:defRPr sz="1072"/>
            </a:lvl5pPr>
            <a:lvl6pPr>
              <a:defRPr sz="1072"/>
            </a:lvl6pPr>
            <a:lvl7pPr>
              <a:defRPr sz="1072"/>
            </a:lvl7pPr>
            <a:lvl8pPr>
              <a:defRPr sz="1072"/>
            </a:lvl8pPr>
            <a:lvl9pPr>
              <a:defRPr sz="10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50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3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28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82851"/>
            <a:ext cx="2506928" cy="778183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9208" y="182852"/>
            <a:ext cx="4259792" cy="3919617"/>
          </a:xfrm>
        </p:spPr>
        <p:txBody>
          <a:bodyPr/>
          <a:lstStyle>
            <a:lvl1pPr>
              <a:defRPr sz="2143"/>
            </a:lvl1pPr>
            <a:lvl2pPr>
              <a:defRPr sz="1875"/>
            </a:lvl2pPr>
            <a:lvl3pPr>
              <a:defRPr sz="1607"/>
            </a:lvl3pPr>
            <a:lvl4pPr>
              <a:defRPr sz="1339"/>
            </a:lvl4pPr>
            <a:lvl5pPr>
              <a:defRPr sz="1339"/>
            </a:lvl5pPr>
            <a:lvl6pPr>
              <a:defRPr sz="1339"/>
            </a:lvl6pPr>
            <a:lvl7pPr>
              <a:defRPr sz="1339"/>
            </a:lvl7pPr>
            <a:lvl8pPr>
              <a:defRPr sz="1339"/>
            </a:lvl8pPr>
            <a:lvl9pPr>
              <a:defRPr sz="13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61035"/>
            <a:ext cx="2506928" cy="3141434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6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3573" y="3214787"/>
            <a:ext cx="4572000" cy="379524"/>
          </a:xfrm>
        </p:spPr>
        <p:txBody>
          <a:bodyPr anchor="b"/>
          <a:lstStyle>
            <a:lvl1pPr algn="l">
              <a:defRPr sz="133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93573" y="410353"/>
            <a:ext cx="4572000" cy="2755532"/>
          </a:xfrm>
        </p:spPr>
        <p:txBody>
          <a:bodyPr/>
          <a:lstStyle>
            <a:lvl1pPr marL="0" indent="0">
              <a:buNone/>
              <a:defRPr sz="2143"/>
            </a:lvl1pPr>
            <a:lvl2pPr marL="306187" indent="0">
              <a:buNone/>
              <a:defRPr sz="1875"/>
            </a:lvl2pPr>
            <a:lvl3pPr marL="612374" indent="0">
              <a:buNone/>
              <a:defRPr sz="1607"/>
            </a:lvl3pPr>
            <a:lvl4pPr marL="918561" indent="0">
              <a:buNone/>
              <a:defRPr sz="1339"/>
            </a:lvl4pPr>
            <a:lvl5pPr marL="1224747" indent="0">
              <a:buNone/>
              <a:defRPr sz="1339"/>
            </a:lvl5pPr>
            <a:lvl6pPr marL="1530934" indent="0">
              <a:buNone/>
              <a:defRPr sz="1339"/>
            </a:lvl6pPr>
            <a:lvl7pPr marL="1837121" indent="0">
              <a:buNone/>
              <a:defRPr sz="1339"/>
            </a:lvl7pPr>
            <a:lvl8pPr marL="2143308" indent="0">
              <a:buNone/>
              <a:defRPr sz="1339"/>
            </a:lvl8pPr>
            <a:lvl9pPr marL="2449495" indent="0">
              <a:buNone/>
              <a:defRPr sz="133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93573" y="3594311"/>
            <a:ext cx="4572000" cy="538987"/>
          </a:xfrm>
        </p:spPr>
        <p:txBody>
          <a:bodyPr/>
          <a:lstStyle>
            <a:lvl1pPr marL="0" indent="0">
              <a:buNone/>
              <a:defRPr sz="938"/>
            </a:lvl1pPr>
            <a:lvl2pPr marL="306187" indent="0">
              <a:buNone/>
              <a:defRPr sz="804"/>
            </a:lvl2pPr>
            <a:lvl3pPr marL="612374" indent="0">
              <a:buNone/>
              <a:defRPr sz="670"/>
            </a:lvl3pPr>
            <a:lvl4pPr marL="918561" indent="0">
              <a:buNone/>
              <a:defRPr sz="603"/>
            </a:lvl4pPr>
            <a:lvl5pPr marL="1224747" indent="0">
              <a:buNone/>
              <a:defRPr sz="603"/>
            </a:lvl5pPr>
            <a:lvl6pPr marL="1530934" indent="0">
              <a:buNone/>
              <a:defRPr sz="603"/>
            </a:lvl6pPr>
            <a:lvl7pPr marL="1837121" indent="0">
              <a:buNone/>
              <a:defRPr sz="603"/>
            </a:lvl7pPr>
            <a:lvl8pPr marL="2143308" indent="0">
              <a:buNone/>
              <a:defRPr sz="603"/>
            </a:lvl8pPr>
            <a:lvl9pPr marL="2449495" indent="0">
              <a:buNone/>
              <a:defRPr sz="6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0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8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24500" y="183916"/>
            <a:ext cx="1714500" cy="39185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83916"/>
            <a:ext cx="5016500" cy="39185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073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183915"/>
            <a:ext cx="6858000" cy="76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071596"/>
            <a:ext cx="6858000" cy="303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3500" y="4256616"/>
            <a:ext cx="2413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1000" y="4256616"/>
            <a:ext cx="1778000" cy="244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9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06187" rtl="0" eaLnBrk="1" latinLnBrk="0" hangingPunct="1">
        <a:spcBef>
          <a:spcPct val="0"/>
        </a:spcBef>
        <a:buNone/>
        <a:defRPr sz="29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9640" indent="-229640" algn="l" defTabSz="306187" rtl="0" eaLnBrk="1" latinLnBrk="0" hangingPunct="1">
        <a:spcBef>
          <a:spcPct val="20000"/>
        </a:spcBef>
        <a:buFont typeface="Arial" panose="020B0604020202020204"/>
        <a:buChar char="•"/>
        <a:defRPr sz="2143" kern="1200">
          <a:solidFill>
            <a:schemeClr val="tx1"/>
          </a:solidFill>
          <a:latin typeface="+mn-lt"/>
          <a:ea typeface="+mn-ea"/>
          <a:cs typeface="+mn-cs"/>
        </a:defRPr>
      </a:lvl1pPr>
      <a:lvl2pPr marL="497554" indent="-191367" algn="l" defTabSz="306187" rtl="0" eaLnBrk="1" latinLnBrk="0" hangingPunct="1">
        <a:spcBef>
          <a:spcPct val="20000"/>
        </a:spcBef>
        <a:buFont typeface="Arial" panose="020B0604020202020204"/>
        <a:buChar char="–"/>
        <a:defRPr sz="1875" kern="1200">
          <a:solidFill>
            <a:schemeClr val="tx1"/>
          </a:solidFill>
          <a:latin typeface="+mn-lt"/>
          <a:ea typeface="+mn-ea"/>
          <a:cs typeface="+mn-cs"/>
        </a:defRPr>
      </a:lvl2pPr>
      <a:lvl3pPr marL="765467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607" kern="1200">
          <a:solidFill>
            <a:schemeClr val="tx1"/>
          </a:solidFill>
          <a:latin typeface="+mn-lt"/>
          <a:ea typeface="+mn-ea"/>
          <a:cs typeface="+mn-cs"/>
        </a:defRPr>
      </a:lvl3pPr>
      <a:lvl4pPr marL="1071654" indent="-153093" algn="l" defTabSz="306187" rtl="0" eaLnBrk="1" latinLnBrk="0" hangingPunct="1">
        <a:spcBef>
          <a:spcPct val="20000"/>
        </a:spcBef>
        <a:buFont typeface="Arial" panose="020B0604020202020204"/>
        <a:buChar char="–"/>
        <a:defRPr sz="1339" kern="1200">
          <a:solidFill>
            <a:schemeClr val="tx1"/>
          </a:solidFill>
          <a:latin typeface="+mn-lt"/>
          <a:ea typeface="+mn-ea"/>
          <a:cs typeface="+mn-cs"/>
        </a:defRPr>
      </a:lvl4pPr>
      <a:lvl5pPr marL="1377841" indent="-153093" algn="l" defTabSz="306187" rtl="0" eaLnBrk="1" latinLnBrk="0" hangingPunct="1">
        <a:spcBef>
          <a:spcPct val="20000"/>
        </a:spcBef>
        <a:buFont typeface="Arial" panose="020B0604020202020204"/>
        <a:buChar char="»"/>
        <a:defRPr sz="1339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6pPr>
      <a:lvl7pPr marL="1990214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7pPr>
      <a:lvl8pPr marL="2296401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8pPr>
      <a:lvl9pPr marL="2602588" indent="-153093" algn="l" defTabSz="306187" rtl="0" eaLnBrk="1" latinLnBrk="0" hangingPunct="1">
        <a:spcBef>
          <a:spcPct val="20000"/>
        </a:spcBef>
        <a:buFont typeface="Arial" panose="020B0604020202020204"/>
        <a:buChar char="•"/>
        <a:defRPr sz="13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1pPr>
      <a:lvl2pPr marL="30618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2pPr>
      <a:lvl3pPr marL="61237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3pPr>
      <a:lvl4pPr marL="91856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4pPr>
      <a:lvl5pPr marL="1224747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5pPr>
      <a:lvl6pPr marL="1530934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6pPr>
      <a:lvl7pPr marL="1837121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7pPr>
      <a:lvl8pPr marL="2143308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8pPr>
      <a:lvl9pPr marL="2449495" algn="l" defTabSz="306187" rtl="0" eaLnBrk="1" latinLnBrk="0" hangingPunct="1">
        <a:defRPr sz="12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4064" y="183703"/>
            <a:ext cx="9185106" cy="27821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700" b="1">
                <a:solidFill>
                  <a:srgbClr val="172F49"/>
                </a:solidFill>
                <a:latin typeface="Noto Sans CJK SC"/>
              </a:defRPr>
            </a:pPr>
            <a:r>
              <a:rPr kumimoji="0" sz="1808" b="1" i="0" u="none" strike="noStrike" kern="1200" cap="none" spc="0" normalizeH="0" baseline="0" noProof="0">
                <a:ln>
                  <a:noFill/>
                </a:ln>
                <a:solidFill>
                  <a:srgbClr val="172F4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氨基酸手性分析：有文献依据的方法—试剂对应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3714" y="673875"/>
            <a:ext cx="1233098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1738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分析方法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78069" y="690930"/>
            <a:ext cx="4053812" cy="30777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l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000" b="1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衍生化试剂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61738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3738" y="1040979"/>
            <a:ext cx="2130945" cy="1377766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42" y="1366049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 / UPLC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355" y="1845602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高效液相色谱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749241" y="1040979"/>
            <a:ext cx="6429574" cy="1377766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853339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83956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2474B5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77832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[0</a:t>
            </a:r>
            <a:r>
              <a: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宋体" panose="02010600030101010101" pitchFamily="2" charset="-122"/>
                <a:cs typeface="+mn-cs"/>
              </a:rPr>
              <a:t>1]</a:t>
            </a:r>
            <a:endParaRPr kumimoji="0" sz="1300" b="0" i="0" u="none" strike="noStrike" kern="1200" cap="none" spc="0" normalizeH="0" baseline="0" noProof="0" dirty="0">
              <a:ln>
                <a:noFill/>
              </a:ln>
              <a:solidFill>
                <a:srgbClr val="233A50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GITC [02]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2311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42928" y="1224681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6804" y="1585962"/>
            <a:ext cx="1130380" cy="65146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FDAA [02,03]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FDLA [04]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[05]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1282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01899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5776" y="1585962"/>
            <a:ext cx="1130380" cy="619144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OPA＋NAC / IBLC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OPA＋DiCys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[02,06,07]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0254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60871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4748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[08]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Dabsyl-Cl [09]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89226" y="1138953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919843" y="1224681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2474B5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13720" y="1585962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[10]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AQC [11]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738" y="2547123"/>
            <a:ext cx="2130945" cy="111446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2726" y="2766224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342" y="323154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气相色谱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749241" y="2528966"/>
            <a:ext cx="6429574" cy="111446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85333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08265" y="2627882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氯甲酸酯类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26819" y="2860291"/>
            <a:ext cx="2920864" cy="697627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氯甲酸甲酯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[12]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五氟丙基氯甲酸酯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七氟丁基氯甲酸酯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[14]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0769" y="2626940"/>
            <a:ext cx="3067825" cy="91851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074249" y="2682051"/>
            <a:ext cx="2920864" cy="2308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500" b="1">
                <a:solidFill>
                  <a:srgbClr val="C18129"/>
                </a:solidFill>
                <a:latin typeface="Noto Sans CJK SC"/>
              </a:defRPr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C18129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氯甲酸酯＋手性醇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C18129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074249" y="2963728"/>
            <a:ext cx="2920864" cy="45653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氯甲酸乙酯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233A50"/>
                </a:solidFill>
                <a:latin typeface="Noto Sans CJK SC"/>
              </a:defRPr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＋(S)-(+)-3-甲基-2-丁醇 [15]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3738" y="3753647"/>
            <a:ext cx="2130945" cy="1377766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74355" y="40615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504" y="4553388"/>
            <a:ext cx="2161561" cy="492443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600" b="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毛细管电泳</a:t>
            </a:r>
            <a:br/>
            <a:r>
              <a:t>（CZE / MEKC）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49241" y="3753647"/>
            <a:ext cx="6429574" cy="1377766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4853339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83956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异硫氰酸酯类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7832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FITC [16]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(R)-NCS [17]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12311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142928" y="3937349"/>
            <a:ext cx="1118133" cy="400110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芳香亲核取代类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36804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NBD-F [18]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DTAF [19]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71282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01899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芳香二醛类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95776" y="4216462"/>
            <a:ext cx="1130380" cy="808426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OPA＋ME [20]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 err="1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OPA＋手性硫醇</a:t>
            </a: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 [21]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230" b="0">
                <a:solidFill>
                  <a:srgbClr val="233A50"/>
                </a:solidFill>
                <a:latin typeface="Noto Sans CJK SC"/>
              </a:defRPr>
            </a:pPr>
            <a:r>
              <a:rPr kumimoji="0" sz="1230" b="0" i="0" u="none" strike="noStrike" kern="1200" cap="none" spc="0" normalizeH="0" baseline="0" noProof="0" dirty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NDA [22]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630254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660871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磺酰氯类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54748" y="4298630"/>
            <a:ext cx="1130380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Dansyl-Cl [16]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9226" y="3851621"/>
            <a:ext cx="1179367" cy="1181817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19843" y="3937349"/>
            <a:ext cx="1118133" cy="200055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7B61A8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氨基酰化类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13720" y="4298630"/>
            <a:ext cx="1130380" cy="425758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FMOC-Cl [23]</a:t>
            </a:r>
          </a:p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300" b="0">
                <a:solidFill>
                  <a:srgbClr val="233A50"/>
                </a:solidFill>
                <a:latin typeface="Noto Sans CJK SC"/>
              </a:defRPr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233A50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FLEC [24]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3738" y="5449824"/>
            <a:ext cx="2130945" cy="1005840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2118" y="5504688"/>
            <a:ext cx="1971736" cy="369332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HPLC–CD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7624" y="5934456"/>
            <a:ext cx="2020723" cy="246221"/>
          </a:xfrm>
          <a:prstGeom prst="rect">
            <a:avLst/>
          </a:prstGeom>
          <a:noFill/>
        </p:spPr>
        <p:txBody>
          <a:bodyPr wrap="square" lIns="15309" tIns="0" rIns="15309" bIns="0">
            <a:spAutoFit/>
          </a:bodyPr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1"/>
              </a:spcAft>
              <a:buClrTx/>
              <a:buSzTx/>
              <a:buFontTx/>
              <a:buNone/>
              <a:tabLst/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液相色谱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–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CJK SC"/>
                <a:ea typeface="+mn-ea"/>
                <a:cs typeface="+mn-cs"/>
              </a:rPr>
              <a:t>圆二色检测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CJK SC"/>
              <a:ea typeface="+mn-ea"/>
              <a:cs typeface="+mn-cs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4749241" y="5449824"/>
            <a:ext cx="6429574" cy="1005840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6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485546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92040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异硫氰酸酯类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92040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PITC → PTH [25]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10144" y="5541264"/>
            <a:ext cx="3054096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19" y="560527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40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芳香亲核取代类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19" y="5925312"/>
            <a:ext cx="298094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5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NBD-F [26]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8640" y="6547104"/>
            <a:ext cx="10972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300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未衍生化实例（非试剂）：色氨酸Trp＋手性柱[27]；苯丙氨酸Phe＋非手性柱[28]。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2688336" y="1728216"/>
            <a:ext cx="2057400" cy="0"/>
          </a:xfrm>
          <a:prstGeom prst="line">
            <a:avLst/>
          </a:prstGeom>
          <a:ln w="254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734056" y="1069848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2474B5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②手性衍生化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34056" y="1810512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2474B5"/>
                </a:solidFill>
                <a:latin typeface="Noto Sans CJK SC"/>
              </a:defRPr>
            </a:pPr>
            <a:r>
              <a:rPr>
                <a:solidFill/>
              </a:rPr>
              <a:t>UV · 荧光 · MS/MS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688336" y="3090672"/>
            <a:ext cx="2057400" cy="0"/>
          </a:xfrm>
          <a:prstGeom prst="line">
            <a:avLst/>
          </a:prstGeom>
          <a:ln w="254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734056" y="243230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C18129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②手性衍生化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34056" y="317296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C18129"/>
                </a:solidFill>
                <a:latin typeface="Noto Sans CJK SC"/>
              </a:defRPr>
            </a:pPr>
            <a:r>
              <a:rPr>
                <a:solidFill/>
              </a:rPr>
              <a:t>FID · MS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688336" y="4443984"/>
            <a:ext cx="2057400" cy="0"/>
          </a:xfrm>
          <a:prstGeom prst="line">
            <a:avLst/>
          </a:prstGeom>
          <a:ln w="254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2734056" y="3785616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7B61A8"/>
                </a:solidFill>
                <a:latin typeface="Noto Sans CJK SC"/>
              </a:defRPr>
            </a:pPr>
            <a:r>
              <a:rPr>
                <a:solidFill/>
              </a:rPr>
              <a:t>①手性选择剂</a:t>
            </a:r>
            <a:br/>
            <a:r>
              <a:t>②手性衍生化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34056" y="4526280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7B61A8"/>
                </a:solidFill>
                <a:latin typeface="Noto Sans CJK SC"/>
              </a:defRPr>
            </a:pPr>
            <a:r>
              <a:rPr>
                <a:solidFill/>
              </a:rPr>
              <a:t>UV · 荧光 · MS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2688336" y="5925312"/>
            <a:ext cx="2057400" cy="0"/>
          </a:xfrm>
          <a:prstGeom prst="line">
            <a:avLst/>
          </a:prstGeom>
          <a:ln w="254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734056" y="5266944"/>
            <a:ext cx="1965960" cy="5760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800" b="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①手性固定相</a:t>
            </a:r>
            <a:br/>
            <a:r>
              <a:t>②非手性分离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34056" y="6007608"/>
            <a:ext cx="19659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5000"/>
              </a:lnSpc>
              <a:defRPr sz="1600" b="0">
                <a:solidFill>
                  <a:srgbClr val="148477"/>
                </a:solidFill>
                <a:latin typeface="Noto Sans CJK SC"/>
              </a:defRPr>
            </a:pPr>
            <a:r>
              <a:rPr>
                <a:solidFill/>
              </a:rPr>
              <a:t>CD · UV · MS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39496" y="6967728"/>
            <a:ext cx="2130552" cy="914400"/>
          </a:xfrm>
          <a:prstGeom prst="roundRect">
            <a:avLst/>
          </a:prstGeom>
          <a:solidFill>
            <a:srgbClr val="AA4F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1792" y="7040880"/>
            <a:ext cx="1965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250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CD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4360" y="7424927"/>
            <a:ext cx="202082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500">
                <a:solidFill>
                  <a:srgbClr val="FFFFFF"/>
                </a:solidFill>
                <a:latin typeface="Noto Sans CJK SC"/>
              </a:defRPr>
            </a:pPr>
            <a:r>
              <a:rPr>
                <a:solidFill/>
              </a:rPr>
              <a:t>直接圆二色光谱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688336" y="7424927"/>
            <a:ext cx="2057400" cy="0"/>
          </a:xfrm>
          <a:prstGeom prst="line">
            <a:avLst/>
          </a:prstGeom>
          <a:ln w="25400">
            <a:solidFill>
              <a:srgbClr val="AA4F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734056" y="703173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50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共价标记后直接测定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34056" y="751636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60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CD · UV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745736" y="6967728"/>
            <a:ext cx="6428232" cy="914400"/>
          </a:xfrm>
          <a:prstGeom prst="roundRect">
            <a:avLst/>
          </a:prstGeom>
          <a:solidFill>
            <a:srgbClr val="F7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846320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69180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芳香二醛类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69180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OPA＋p-TT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[36]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428232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51092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芳香亲核取代类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51092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FDNB [37]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芳基氟探针 [38]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010144" y="7040880"/>
            <a:ext cx="1508760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033004" y="7095744"/>
            <a:ext cx="146303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共轭加成–消除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33004" y="7370064"/>
            <a:ext cx="1463039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4-氯-3-硝基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香豆素 [39]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9592056" y="7040880"/>
            <a:ext cx="1481328" cy="7680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14916" y="7095744"/>
            <a:ext cx="143560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250">
                <a:solidFill>
                  <a:srgbClr val="AA4F79"/>
                </a:solidFill>
                <a:latin typeface="Noto Sans CJK SC"/>
              </a:defRPr>
            </a:pPr>
            <a:r>
              <a:rPr>
                <a:solidFill/>
              </a:rPr>
              <a:t>醛胺缩合类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4916" y="7370064"/>
            <a:ext cx="1435608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萘基–香豆素</a:t>
            </a:r>
          </a:p>
          <a:p>
            <a:pPr algn="ctr">
              <a:lnSpc>
                <a:spcPct val="103000"/>
              </a:lnSpc>
              <a:defRPr sz="1300">
                <a:solidFill>
                  <a:srgbClr val="233A50"/>
                </a:solidFill>
                <a:latin typeface="Noto Sans CJK SC"/>
              </a:defRPr>
            </a:pPr>
            <a:r>
              <a:rPr>
                <a:solidFill/>
              </a:rPr>
              <a:t>醛探针3 [40]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7784" y="7982712"/>
            <a:ext cx="11018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3000"/>
              </a:lnSpc>
              <a:defRPr sz="1100">
                <a:solidFill>
                  <a:srgbClr val="617389"/>
                </a:solidFill>
                <a:latin typeface="Noto Sans CJK SC"/>
              </a:defRPr>
            </a:pPr>
            <a:r>
              <a:rPr>
                <a:solidFill/>
              </a:rPr>
              <a:t>p-TT＝对甲苯硫酚；单纯CD不分离混合物，完整水解液逐种氨基酸的ee需先分离或验证选择性。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2346</Words>
  <Application>Microsoft Office PowerPoint</Application>
  <PresentationFormat>宽屏</PresentationFormat>
  <Paragraphs>111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Noto Sans CJK SC</vt:lpstr>
      <vt:lpstr>等线</vt:lpstr>
      <vt:lpstr>Arial</vt:lpstr>
      <vt:lpstr>Calibri</vt:lpstr>
      <vt:lpstr>1_Office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婧文 徐</cp:lastModifiedBy>
  <cp:revision>5</cp:revision>
  <dcterms:created xsi:type="dcterms:W3CDTF">2023-08-09T12:44:00Z</dcterms:created>
  <dcterms:modified xsi:type="dcterms:W3CDTF">2026-10-27T11:33:40Z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